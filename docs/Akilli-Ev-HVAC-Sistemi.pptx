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lexandria Bold" charset="1" panose="00000000000000000000"/>
      <p:regular r:id="rId20"/>
    </p:embeddedFont>
    <p:embeddedFont>
      <p:font typeface="Arimo" charset="1" panose="020B0604020202020204"/>
      <p:regular r:id="rId21"/>
    </p:embeddedFont>
    <p:embeddedFont>
      <p:font typeface="Arimo Bold" charset="1" panose="020B0704020202020204"/>
      <p:regular r:id="rId23"/>
    </p:embeddedFont>
    <p:embeddedFont>
      <p:font typeface="Consolas" charset="1" panose="020B0609020204030204"/>
      <p:regular r:id="rId29"/>
    </p:embeddedFont>
    <p:embeddedFont>
      <p:font typeface="Alexandria Light"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fonts/font31.fntdata" Type="http://schemas.openxmlformats.org/officeDocument/2006/relationships/font"/><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19.png" Type="http://schemas.openxmlformats.org/officeDocument/2006/relationships/image"/><Relationship Id="rId12" Target="../media/image20.sv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2" Target="../notesSlides/notesSlide7.xml" Type="http://schemas.openxmlformats.org/officeDocument/2006/relationships/notesSlide"/><Relationship Id="rId3" Target="../media/image4.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05890" y="1226496"/>
            <a:ext cx="8983856" cy="909933"/>
          </a:xfrm>
          <a:prstGeom prst="rect">
            <a:avLst/>
          </a:prstGeom>
        </p:spPr>
        <p:txBody>
          <a:bodyPr anchor="t" rtlCol="false" tIns="0" lIns="0" bIns="0" rIns="0">
            <a:spAutoFit/>
          </a:bodyPr>
          <a:lstStyle/>
          <a:p>
            <a:pPr algn="l">
              <a:lnSpc>
                <a:spcPts val="6988"/>
              </a:lnSpc>
            </a:pPr>
            <a:r>
              <a:rPr lang="en-US" sz="5599" b="true">
                <a:solidFill>
                  <a:srgbClr val="1F1E1E"/>
                </a:solidFill>
                <a:latin typeface="Alexandria Bold"/>
                <a:ea typeface="Alexandria Bold"/>
                <a:cs typeface="Alexandria Bold"/>
                <a:sym typeface="Alexandria Bold"/>
              </a:rPr>
              <a:t>Akıllı Ev HVAC Sistemi</a:t>
            </a:r>
          </a:p>
        </p:txBody>
      </p:sp>
      <p:sp>
        <p:nvSpPr>
          <p:cNvPr name="TextBox 9" id="9"/>
          <p:cNvSpPr txBox="true"/>
          <p:nvPr/>
        </p:nvSpPr>
        <p:spPr>
          <a:xfrm rot="0">
            <a:off x="7805890" y="2244623"/>
            <a:ext cx="10057362" cy="445294"/>
          </a:xfrm>
          <a:prstGeom prst="rect">
            <a:avLst/>
          </a:prstGeom>
        </p:spPr>
        <p:txBody>
          <a:bodyPr anchor="t" rtlCol="false" tIns="0" lIns="0" bIns="0" rIns="0">
            <a:spAutoFit/>
          </a:bodyPr>
          <a:lstStyle/>
          <a:p>
            <a:pPr algn="l">
              <a:lnSpc>
                <a:spcPts val="3494"/>
              </a:lnSpc>
            </a:pPr>
            <a:r>
              <a:rPr lang="en-US" sz="2799" b="true">
                <a:solidFill>
                  <a:srgbClr val="1F1E1E"/>
                </a:solidFill>
                <a:latin typeface="Alexandria Bold"/>
                <a:ea typeface="Alexandria Bold"/>
                <a:cs typeface="Alexandria Bold"/>
                <a:sym typeface="Alexandria Bold"/>
              </a:rPr>
              <a:t>Bulanık Mantık Tabanlı İklimlendirme Kontrolcüsü</a:t>
            </a:r>
          </a:p>
        </p:txBody>
      </p:sp>
      <p:sp>
        <p:nvSpPr>
          <p:cNvPr name="TextBox 10" id="10"/>
          <p:cNvSpPr txBox="true"/>
          <p:nvPr/>
        </p:nvSpPr>
        <p:spPr>
          <a:xfrm rot="0">
            <a:off x="7805890" y="3010348"/>
            <a:ext cx="9534230" cy="2252663"/>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Modern iklimlendirme sistemlerinde enerji verimliliği ve insan konforunu maksimize etmeyi hedefleyen, Mamdani tipi çıkarım motoruna sahip akıllı bir bulanık mantık projesi. Bu sunumda, projenin matematiksel altyapısı, yazılım mimarisi ve test sonuçları detaylı olarak incelenecektir.</a:t>
            </a:r>
          </a:p>
        </p:txBody>
      </p:sp>
      <p:grpSp>
        <p:nvGrpSpPr>
          <p:cNvPr name="Group 11" id="11"/>
          <p:cNvGrpSpPr/>
          <p:nvPr/>
        </p:nvGrpSpPr>
        <p:grpSpPr>
          <a:xfrm rot="0">
            <a:off x="7801127" y="5562895"/>
            <a:ext cx="4641209" cy="1611068"/>
            <a:chOff x="0" y="0"/>
            <a:chExt cx="6188278" cy="2148091"/>
          </a:xfrm>
        </p:grpSpPr>
        <p:sp>
          <p:nvSpPr>
            <p:cNvPr name="Freeform 12" id="12"/>
            <p:cNvSpPr/>
            <p:nvPr/>
          </p:nvSpPr>
          <p:spPr>
            <a:xfrm flipH="false" flipV="false" rot="0">
              <a:off x="6350" y="6350"/>
              <a:ext cx="6175629" cy="2135378"/>
            </a:xfrm>
            <a:custGeom>
              <a:avLst/>
              <a:gdLst/>
              <a:ahLst/>
              <a:cxnLst/>
              <a:rect r="r" b="b" t="t" l="l"/>
              <a:pathLst>
                <a:path h="2135378" w="6175629">
                  <a:moveTo>
                    <a:pt x="0" y="151638"/>
                  </a:moveTo>
                  <a:cubicBezTo>
                    <a:pt x="0" y="67945"/>
                    <a:pt x="68199" y="0"/>
                    <a:pt x="152273" y="0"/>
                  </a:cubicBezTo>
                  <a:lnTo>
                    <a:pt x="6023356" y="0"/>
                  </a:lnTo>
                  <a:cubicBezTo>
                    <a:pt x="6107430" y="0"/>
                    <a:pt x="6175629" y="67945"/>
                    <a:pt x="6175629" y="151638"/>
                  </a:cubicBezTo>
                  <a:lnTo>
                    <a:pt x="6175629" y="1983740"/>
                  </a:lnTo>
                  <a:cubicBezTo>
                    <a:pt x="6175629" y="2067560"/>
                    <a:pt x="6107430" y="2135378"/>
                    <a:pt x="6023356" y="2135378"/>
                  </a:cubicBezTo>
                  <a:lnTo>
                    <a:pt x="152273" y="2135378"/>
                  </a:lnTo>
                  <a:cubicBezTo>
                    <a:pt x="68199" y="2135378"/>
                    <a:pt x="0" y="2067433"/>
                    <a:pt x="0" y="1983740"/>
                  </a:cubicBezTo>
                  <a:close/>
                </a:path>
              </a:pathLst>
            </a:custGeom>
            <a:solidFill>
              <a:srgbClr val="D5DCF6"/>
            </a:solidFill>
          </p:spPr>
        </p:sp>
        <p:sp>
          <p:nvSpPr>
            <p:cNvPr name="Freeform 13" id="13"/>
            <p:cNvSpPr/>
            <p:nvPr/>
          </p:nvSpPr>
          <p:spPr>
            <a:xfrm flipH="false" flipV="false" rot="0">
              <a:off x="0" y="0"/>
              <a:ext cx="6188329" cy="2148078"/>
            </a:xfrm>
            <a:custGeom>
              <a:avLst/>
              <a:gdLst/>
              <a:ahLst/>
              <a:cxnLst/>
              <a:rect r="r" b="b" t="t" l="l"/>
              <a:pathLst>
                <a:path h="2148078" w="6188329">
                  <a:moveTo>
                    <a:pt x="0" y="157988"/>
                  </a:moveTo>
                  <a:cubicBezTo>
                    <a:pt x="0" y="70739"/>
                    <a:pt x="70993" y="0"/>
                    <a:pt x="158623" y="0"/>
                  </a:cubicBezTo>
                  <a:lnTo>
                    <a:pt x="6029706" y="0"/>
                  </a:lnTo>
                  <a:lnTo>
                    <a:pt x="6029706" y="6350"/>
                  </a:lnTo>
                  <a:lnTo>
                    <a:pt x="6029706" y="0"/>
                  </a:lnTo>
                  <a:cubicBezTo>
                    <a:pt x="6117209" y="0"/>
                    <a:pt x="6188329" y="70739"/>
                    <a:pt x="6188329" y="157988"/>
                  </a:cubicBezTo>
                  <a:lnTo>
                    <a:pt x="6181979" y="157988"/>
                  </a:lnTo>
                  <a:lnTo>
                    <a:pt x="6188329" y="157988"/>
                  </a:lnTo>
                  <a:lnTo>
                    <a:pt x="6188329" y="1990090"/>
                  </a:lnTo>
                  <a:lnTo>
                    <a:pt x="6181979" y="1990090"/>
                  </a:lnTo>
                  <a:lnTo>
                    <a:pt x="6188329" y="1990090"/>
                  </a:lnTo>
                  <a:cubicBezTo>
                    <a:pt x="6188329" y="2077339"/>
                    <a:pt x="6117336" y="2148078"/>
                    <a:pt x="6029706" y="2148078"/>
                  </a:cubicBezTo>
                  <a:lnTo>
                    <a:pt x="6029706" y="2141728"/>
                  </a:lnTo>
                  <a:lnTo>
                    <a:pt x="6029706" y="2148078"/>
                  </a:lnTo>
                  <a:lnTo>
                    <a:pt x="158623" y="2148078"/>
                  </a:lnTo>
                  <a:lnTo>
                    <a:pt x="158623" y="2141728"/>
                  </a:lnTo>
                  <a:lnTo>
                    <a:pt x="158623" y="2148078"/>
                  </a:lnTo>
                  <a:cubicBezTo>
                    <a:pt x="70993" y="2148078"/>
                    <a:pt x="0" y="2077339"/>
                    <a:pt x="0" y="1990090"/>
                  </a:cubicBezTo>
                  <a:lnTo>
                    <a:pt x="0" y="157988"/>
                  </a:lnTo>
                  <a:lnTo>
                    <a:pt x="6350" y="157988"/>
                  </a:lnTo>
                  <a:lnTo>
                    <a:pt x="0" y="157988"/>
                  </a:lnTo>
                  <a:moveTo>
                    <a:pt x="12700" y="157988"/>
                  </a:moveTo>
                  <a:lnTo>
                    <a:pt x="12700" y="1990090"/>
                  </a:lnTo>
                  <a:lnTo>
                    <a:pt x="6350" y="1990090"/>
                  </a:lnTo>
                  <a:lnTo>
                    <a:pt x="12700" y="1990090"/>
                  </a:lnTo>
                  <a:cubicBezTo>
                    <a:pt x="12700" y="2070354"/>
                    <a:pt x="77978" y="2135378"/>
                    <a:pt x="158623" y="2135378"/>
                  </a:cubicBezTo>
                  <a:lnTo>
                    <a:pt x="6029706" y="2135378"/>
                  </a:lnTo>
                  <a:cubicBezTo>
                    <a:pt x="6110351" y="2135378"/>
                    <a:pt x="6175629" y="2070354"/>
                    <a:pt x="6175629" y="1990090"/>
                  </a:cubicBezTo>
                  <a:lnTo>
                    <a:pt x="6175629" y="157988"/>
                  </a:lnTo>
                  <a:cubicBezTo>
                    <a:pt x="6175629" y="77724"/>
                    <a:pt x="6110224" y="12700"/>
                    <a:pt x="6029706" y="12700"/>
                  </a:cubicBezTo>
                  <a:lnTo>
                    <a:pt x="158623" y="12700"/>
                  </a:lnTo>
                  <a:lnTo>
                    <a:pt x="158623" y="6350"/>
                  </a:lnTo>
                  <a:lnTo>
                    <a:pt x="158623" y="12700"/>
                  </a:lnTo>
                  <a:cubicBezTo>
                    <a:pt x="77978" y="12700"/>
                    <a:pt x="12700" y="77724"/>
                    <a:pt x="12700" y="157988"/>
                  </a:cubicBezTo>
                  <a:close/>
                </a:path>
              </a:pathLst>
            </a:custGeom>
            <a:solidFill>
              <a:srgbClr val="BBC2DC"/>
            </a:solidFill>
          </p:spPr>
        </p:sp>
      </p:grpSp>
      <p:sp>
        <p:nvSpPr>
          <p:cNvPr name="TextBox 14" id="14"/>
          <p:cNvSpPr txBox="true"/>
          <p:nvPr/>
        </p:nvSpPr>
        <p:spPr>
          <a:xfrm rot="0">
            <a:off x="8086134" y="5847902"/>
            <a:ext cx="4477788" cy="445294"/>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Hazırlayan</a:t>
            </a:r>
          </a:p>
        </p:txBody>
      </p:sp>
      <p:sp>
        <p:nvSpPr>
          <p:cNvPr name="TextBox 15" id="15"/>
          <p:cNvSpPr txBox="true"/>
          <p:nvPr/>
        </p:nvSpPr>
        <p:spPr>
          <a:xfrm rot="0">
            <a:off x="8086134" y="6369844"/>
            <a:ext cx="4985595" cy="519113"/>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Furkan Fatih Çiftçi</a:t>
            </a:r>
          </a:p>
        </p:txBody>
      </p:sp>
      <p:grpSp>
        <p:nvGrpSpPr>
          <p:cNvPr name="Group 16" id="16"/>
          <p:cNvGrpSpPr/>
          <p:nvPr/>
        </p:nvGrpSpPr>
        <p:grpSpPr>
          <a:xfrm rot="0">
            <a:off x="12703521" y="5562895"/>
            <a:ext cx="4641352" cy="1611068"/>
            <a:chOff x="0" y="0"/>
            <a:chExt cx="6188469" cy="2148091"/>
          </a:xfrm>
        </p:grpSpPr>
        <p:sp>
          <p:nvSpPr>
            <p:cNvPr name="Freeform 17" id="17"/>
            <p:cNvSpPr/>
            <p:nvPr/>
          </p:nvSpPr>
          <p:spPr>
            <a:xfrm flipH="false" flipV="false" rot="0">
              <a:off x="6350" y="6350"/>
              <a:ext cx="6175756" cy="2135378"/>
            </a:xfrm>
            <a:custGeom>
              <a:avLst/>
              <a:gdLst/>
              <a:ahLst/>
              <a:cxnLst/>
              <a:rect r="r" b="b" t="t" l="l"/>
              <a:pathLst>
                <a:path h="2135378" w="6175756">
                  <a:moveTo>
                    <a:pt x="0" y="151638"/>
                  </a:moveTo>
                  <a:cubicBezTo>
                    <a:pt x="0" y="67945"/>
                    <a:pt x="68199" y="0"/>
                    <a:pt x="152273" y="0"/>
                  </a:cubicBezTo>
                  <a:lnTo>
                    <a:pt x="6023483" y="0"/>
                  </a:lnTo>
                  <a:cubicBezTo>
                    <a:pt x="6107557" y="0"/>
                    <a:pt x="6175756" y="67945"/>
                    <a:pt x="6175756" y="151638"/>
                  </a:cubicBezTo>
                  <a:lnTo>
                    <a:pt x="6175756" y="1983740"/>
                  </a:lnTo>
                  <a:cubicBezTo>
                    <a:pt x="6175756" y="2067560"/>
                    <a:pt x="6107557" y="2135378"/>
                    <a:pt x="6023483" y="2135378"/>
                  </a:cubicBezTo>
                  <a:lnTo>
                    <a:pt x="152273" y="2135378"/>
                  </a:lnTo>
                  <a:cubicBezTo>
                    <a:pt x="68199" y="2135378"/>
                    <a:pt x="0" y="2067433"/>
                    <a:pt x="0" y="1983740"/>
                  </a:cubicBezTo>
                  <a:close/>
                </a:path>
              </a:pathLst>
            </a:custGeom>
            <a:solidFill>
              <a:srgbClr val="D5DCF6"/>
            </a:solidFill>
          </p:spPr>
        </p:sp>
        <p:sp>
          <p:nvSpPr>
            <p:cNvPr name="Freeform 18" id="18"/>
            <p:cNvSpPr/>
            <p:nvPr/>
          </p:nvSpPr>
          <p:spPr>
            <a:xfrm flipH="false" flipV="false" rot="0">
              <a:off x="0" y="0"/>
              <a:ext cx="6188456" cy="2148078"/>
            </a:xfrm>
            <a:custGeom>
              <a:avLst/>
              <a:gdLst/>
              <a:ahLst/>
              <a:cxnLst/>
              <a:rect r="r" b="b" t="t" l="l"/>
              <a:pathLst>
                <a:path h="2148078" w="6188456">
                  <a:moveTo>
                    <a:pt x="0" y="157988"/>
                  </a:moveTo>
                  <a:cubicBezTo>
                    <a:pt x="0" y="70739"/>
                    <a:pt x="70993" y="0"/>
                    <a:pt x="158623" y="0"/>
                  </a:cubicBezTo>
                  <a:lnTo>
                    <a:pt x="6029833" y="0"/>
                  </a:lnTo>
                  <a:lnTo>
                    <a:pt x="6029833" y="6350"/>
                  </a:lnTo>
                  <a:lnTo>
                    <a:pt x="6029833" y="0"/>
                  </a:lnTo>
                  <a:cubicBezTo>
                    <a:pt x="6117336" y="0"/>
                    <a:pt x="6188456" y="70739"/>
                    <a:pt x="6188456" y="157988"/>
                  </a:cubicBezTo>
                  <a:lnTo>
                    <a:pt x="6182106" y="157988"/>
                  </a:lnTo>
                  <a:lnTo>
                    <a:pt x="6188456" y="157988"/>
                  </a:lnTo>
                  <a:lnTo>
                    <a:pt x="6188456" y="1990090"/>
                  </a:lnTo>
                  <a:lnTo>
                    <a:pt x="6182106" y="1990090"/>
                  </a:lnTo>
                  <a:lnTo>
                    <a:pt x="6188456" y="1990090"/>
                  </a:lnTo>
                  <a:cubicBezTo>
                    <a:pt x="6188456" y="2077339"/>
                    <a:pt x="6117463" y="2148078"/>
                    <a:pt x="6029833" y="2148078"/>
                  </a:cubicBezTo>
                  <a:lnTo>
                    <a:pt x="6029833" y="2141728"/>
                  </a:lnTo>
                  <a:lnTo>
                    <a:pt x="6029833" y="2148078"/>
                  </a:lnTo>
                  <a:lnTo>
                    <a:pt x="158623" y="2148078"/>
                  </a:lnTo>
                  <a:lnTo>
                    <a:pt x="158623" y="2141728"/>
                  </a:lnTo>
                  <a:lnTo>
                    <a:pt x="158623" y="2148078"/>
                  </a:lnTo>
                  <a:cubicBezTo>
                    <a:pt x="70993" y="2148078"/>
                    <a:pt x="0" y="2077339"/>
                    <a:pt x="0" y="1990090"/>
                  </a:cubicBezTo>
                  <a:lnTo>
                    <a:pt x="0" y="157988"/>
                  </a:lnTo>
                  <a:lnTo>
                    <a:pt x="6350" y="157988"/>
                  </a:lnTo>
                  <a:lnTo>
                    <a:pt x="0" y="157988"/>
                  </a:lnTo>
                  <a:moveTo>
                    <a:pt x="12700" y="157988"/>
                  </a:moveTo>
                  <a:lnTo>
                    <a:pt x="12700" y="1990090"/>
                  </a:lnTo>
                  <a:lnTo>
                    <a:pt x="6350" y="1990090"/>
                  </a:lnTo>
                  <a:lnTo>
                    <a:pt x="12700" y="1990090"/>
                  </a:lnTo>
                  <a:cubicBezTo>
                    <a:pt x="12700" y="2070354"/>
                    <a:pt x="77978" y="2135378"/>
                    <a:pt x="158623" y="2135378"/>
                  </a:cubicBezTo>
                  <a:lnTo>
                    <a:pt x="6029833" y="2135378"/>
                  </a:lnTo>
                  <a:cubicBezTo>
                    <a:pt x="6110478" y="2135378"/>
                    <a:pt x="6175756" y="2070354"/>
                    <a:pt x="6175756" y="1990090"/>
                  </a:cubicBezTo>
                  <a:lnTo>
                    <a:pt x="6175756" y="157988"/>
                  </a:lnTo>
                  <a:cubicBezTo>
                    <a:pt x="6175756" y="77724"/>
                    <a:pt x="6110478" y="12700"/>
                    <a:pt x="6029833" y="12700"/>
                  </a:cubicBezTo>
                  <a:lnTo>
                    <a:pt x="158623" y="12700"/>
                  </a:lnTo>
                  <a:lnTo>
                    <a:pt x="158623" y="6350"/>
                  </a:lnTo>
                  <a:lnTo>
                    <a:pt x="158623" y="12700"/>
                  </a:lnTo>
                  <a:cubicBezTo>
                    <a:pt x="77978" y="12700"/>
                    <a:pt x="12700" y="77724"/>
                    <a:pt x="12700" y="157988"/>
                  </a:cubicBezTo>
                  <a:close/>
                </a:path>
              </a:pathLst>
            </a:custGeom>
            <a:solidFill>
              <a:srgbClr val="BBC2DC"/>
            </a:solidFill>
          </p:spPr>
        </p:sp>
      </p:grpSp>
      <p:sp>
        <p:nvSpPr>
          <p:cNvPr name="TextBox 19" id="19"/>
          <p:cNvSpPr txBox="true"/>
          <p:nvPr/>
        </p:nvSpPr>
        <p:spPr>
          <a:xfrm rot="0">
            <a:off x="12988528" y="5847902"/>
            <a:ext cx="4477788" cy="445294"/>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Öğrenci No</a:t>
            </a:r>
          </a:p>
        </p:txBody>
      </p:sp>
      <p:sp>
        <p:nvSpPr>
          <p:cNvPr name="TextBox 20" id="20"/>
          <p:cNvSpPr txBox="true"/>
          <p:nvPr/>
        </p:nvSpPr>
        <p:spPr>
          <a:xfrm rot="0">
            <a:off x="12988528" y="6369844"/>
            <a:ext cx="4985737" cy="519113"/>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22430070037</a:t>
            </a:r>
          </a:p>
        </p:txBody>
      </p:sp>
      <p:grpSp>
        <p:nvGrpSpPr>
          <p:cNvPr name="Group 21" id="21"/>
          <p:cNvGrpSpPr/>
          <p:nvPr/>
        </p:nvGrpSpPr>
        <p:grpSpPr>
          <a:xfrm rot="0">
            <a:off x="7801127" y="7435158"/>
            <a:ext cx="9543755" cy="1611068"/>
            <a:chOff x="0" y="0"/>
            <a:chExt cx="12725006" cy="2148091"/>
          </a:xfrm>
        </p:grpSpPr>
        <p:sp>
          <p:nvSpPr>
            <p:cNvPr name="Freeform 22" id="22"/>
            <p:cNvSpPr/>
            <p:nvPr/>
          </p:nvSpPr>
          <p:spPr>
            <a:xfrm flipH="false" flipV="false" rot="0">
              <a:off x="6350" y="6350"/>
              <a:ext cx="12712319" cy="2135378"/>
            </a:xfrm>
            <a:custGeom>
              <a:avLst/>
              <a:gdLst/>
              <a:ahLst/>
              <a:cxnLst/>
              <a:rect r="r" b="b" t="t" l="l"/>
              <a:pathLst>
                <a:path h="2135378" w="12712319">
                  <a:moveTo>
                    <a:pt x="0" y="151638"/>
                  </a:moveTo>
                  <a:cubicBezTo>
                    <a:pt x="0" y="67945"/>
                    <a:pt x="68199" y="0"/>
                    <a:pt x="152400" y="0"/>
                  </a:cubicBezTo>
                  <a:lnTo>
                    <a:pt x="12559919" y="0"/>
                  </a:lnTo>
                  <a:cubicBezTo>
                    <a:pt x="12644120" y="0"/>
                    <a:pt x="12712319" y="67945"/>
                    <a:pt x="12712319" y="151638"/>
                  </a:cubicBezTo>
                  <a:lnTo>
                    <a:pt x="12712319" y="1983740"/>
                  </a:lnTo>
                  <a:cubicBezTo>
                    <a:pt x="12712319" y="2067560"/>
                    <a:pt x="12644120" y="2135378"/>
                    <a:pt x="12559919" y="2135378"/>
                  </a:cubicBezTo>
                  <a:lnTo>
                    <a:pt x="152400" y="2135378"/>
                  </a:lnTo>
                  <a:cubicBezTo>
                    <a:pt x="68199" y="2135378"/>
                    <a:pt x="0" y="2067433"/>
                    <a:pt x="0" y="1983740"/>
                  </a:cubicBezTo>
                  <a:close/>
                </a:path>
              </a:pathLst>
            </a:custGeom>
            <a:solidFill>
              <a:srgbClr val="D5DCF6"/>
            </a:solidFill>
          </p:spPr>
        </p:sp>
        <p:sp>
          <p:nvSpPr>
            <p:cNvPr name="Freeform 23" id="23"/>
            <p:cNvSpPr/>
            <p:nvPr/>
          </p:nvSpPr>
          <p:spPr>
            <a:xfrm flipH="false" flipV="false" rot="0">
              <a:off x="0" y="0"/>
              <a:ext cx="12725019" cy="2148078"/>
            </a:xfrm>
            <a:custGeom>
              <a:avLst/>
              <a:gdLst/>
              <a:ahLst/>
              <a:cxnLst/>
              <a:rect r="r" b="b" t="t" l="l"/>
              <a:pathLst>
                <a:path h="2148078" w="12725019">
                  <a:moveTo>
                    <a:pt x="0" y="157988"/>
                  </a:moveTo>
                  <a:cubicBezTo>
                    <a:pt x="0" y="70739"/>
                    <a:pt x="71120" y="0"/>
                    <a:pt x="158750" y="0"/>
                  </a:cubicBezTo>
                  <a:lnTo>
                    <a:pt x="12566269" y="0"/>
                  </a:lnTo>
                  <a:lnTo>
                    <a:pt x="12566269" y="6350"/>
                  </a:lnTo>
                  <a:lnTo>
                    <a:pt x="12566269" y="0"/>
                  </a:lnTo>
                  <a:cubicBezTo>
                    <a:pt x="12653899" y="0"/>
                    <a:pt x="12725019" y="70739"/>
                    <a:pt x="12725019" y="157988"/>
                  </a:cubicBezTo>
                  <a:lnTo>
                    <a:pt x="12718669" y="157988"/>
                  </a:lnTo>
                  <a:lnTo>
                    <a:pt x="12725019" y="157988"/>
                  </a:lnTo>
                  <a:lnTo>
                    <a:pt x="12725019" y="1990090"/>
                  </a:lnTo>
                  <a:lnTo>
                    <a:pt x="12718669" y="1990090"/>
                  </a:lnTo>
                  <a:lnTo>
                    <a:pt x="12725019" y="1990090"/>
                  </a:lnTo>
                  <a:cubicBezTo>
                    <a:pt x="12725019" y="2077339"/>
                    <a:pt x="12653899" y="2148078"/>
                    <a:pt x="12566269" y="2148078"/>
                  </a:cubicBezTo>
                  <a:lnTo>
                    <a:pt x="12566269" y="2141728"/>
                  </a:lnTo>
                  <a:lnTo>
                    <a:pt x="12566269" y="2148078"/>
                  </a:lnTo>
                  <a:lnTo>
                    <a:pt x="158750" y="2148078"/>
                  </a:lnTo>
                  <a:lnTo>
                    <a:pt x="158750" y="2141728"/>
                  </a:lnTo>
                  <a:lnTo>
                    <a:pt x="158750" y="2148078"/>
                  </a:lnTo>
                  <a:cubicBezTo>
                    <a:pt x="71120" y="2148078"/>
                    <a:pt x="0" y="2077339"/>
                    <a:pt x="0" y="1990090"/>
                  </a:cubicBezTo>
                  <a:lnTo>
                    <a:pt x="0" y="157988"/>
                  </a:lnTo>
                  <a:lnTo>
                    <a:pt x="6350" y="157988"/>
                  </a:lnTo>
                  <a:lnTo>
                    <a:pt x="0" y="157988"/>
                  </a:lnTo>
                  <a:moveTo>
                    <a:pt x="12700" y="157988"/>
                  </a:moveTo>
                  <a:lnTo>
                    <a:pt x="12700" y="1990090"/>
                  </a:lnTo>
                  <a:lnTo>
                    <a:pt x="6350" y="1990090"/>
                  </a:lnTo>
                  <a:lnTo>
                    <a:pt x="12700" y="1990090"/>
                  </a:lnTo>
                  <a:cubicBezTo>
                    <a:pt x="12700" y="2070354"/>
                    <a:pt x="78105" y="2135378"/>
                    <a:pt x="158750" y="2135378"/>
                  </a:cubicBezTo>
                  <a:lnTo>
                    <a:pt x="12566269" y="2135378"/>
                  </a:lnTo>
                  <a:cubicBezTo>
                    <a:pt x="12646913" y="2135378"/>
                    <a:pt x="12712319" y="2070354"/>
                    <a:pt x="12712319" y="1990090"/>
                  </a:cubicBezTo>
                  <a:lnTo>
                    <a:pt x="12712319" y="157988"/>
                  </a:lnTo>
                  <a:cubicBezTo>
                    <a:pt x="12712319" y="77724"/>
                    <a:pt x="12646913" y="12700"/>
                    <a:pt x="12566269" y="12700"/>
                  </a:cubicBezTo>
                  <a:lnTo>
                    <a:pt x="158750" y="12700"/>
                  </a:lnTo>
                  <a:lnTo>
                    <a:pt x="158750" y="6350"/>
                  </a:lnTo>
                  <a:lnTo>
                    <a:pt x="158750" y="12700"/>
                  </a:lnTo>
                  <a:cubicBezTo>
                    <a:pt x="78105" y="12700"/>
                    <a:pt x="12700" y="77724"/>
                    <a:pt x="12700" y="157988"/>
                  </a:cubicBezTo>
                  <a:close/>
                </a:path>
              </a:pathLst>
            </a:custGeom>
            <a:solidFill>
              <a:srgbClr val="BBC2DC"/>
            </a:solidFill>
          </p:spPr>
        </p:sp>
      </p:grpSp>
      <p:sp>
        <p:nvSpPr>
          <p:cNvPr name="TextBox 24" id="24"/>
          <p:cNvSpPr txBox="true"/>
          <p:nvPr/>
        </p:nvSpPr>
        <p:spPr>
          <a:xfrm rot="0">
            <a:off x="8086134" y="7720165"/>
            <a:ext cx="4477788" cy="445294"/>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Bölüm</a:t>
            </a:r>
          </a:p>
        </p:txBody>
      </p:sp>
      <p:sp>
        <p:nvSpPr>
          <p:cNvPr name="TextBox 25" id="25"/>
          <p:cNvSpPr txBox="true"/>
          <p:nvPr/>
        </p:nvSpPr>
        <p:spPr>
          <a:xfrm rot="0">
            <a:off x="8086134" y="8242097"/>
            <a:ext cx="9888141" cy="519113"/>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Bilişim Sistemleri ve Teknolojileri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858888" y="742502"/>
            <a:ext cx="9281074" cy="826446"/>
          </a:xfrm>
          <a:prstGeom prst="rect">
            <a:avLst/>
          </a:prstGeom>
        </p:spPr>
        <p:txBody>
          <a:bodyPr anchor="t" rtlCol="false" tIns="0" lIns="0" bIns="0" rIns="0">
            <a:spAutoFit/>
          </a:bodyPr>
          <a:lstStyle/>
          <a:p>
            <a:pPr algn="l">
              <a:lnSpc>
                <a:spcPts val="6239"/>
              </a:lnSpc>
            </a:pPr>
            <a:r>
              <a:rPr lang="en-US" sz="4999" b="true">
                <a:solidFill>
                  <a:srgbClr val="1F1E1E"/>
                </a:solidFill>
                <a:latin typeface="Alexandria Bold"/>
                <a:ea typeface="Alexandria Bold"/>
                <a:cs typeface="Alexandria Bold"/>
                <a:sym typeface="Alexandria Bold"/>
              </a:rPr>
              <a:t>1. Giriş ve Problem Tanımı</a:t>
            </a:r>
          </a:p>
        </p:txBody>
      </p:sp>
      <p:sp>
        <p:nvSpPr>
          <p:cNvPr name="TextBox 7" id="7"/>
          <p:cNvSpPr txBox="true"/>
          <p:nvPr/>
        </p:nvSpPr>
        <p:spPr>
          <a:xfrm rot="0">
            <a:off x="858888" y="1947120"/>
            <a:ext cx="16570223" cy="814988"/>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Günümüzde akıllı ev teknolojileri hızla gelişirken, Isıtma, Havalandırma ve Klima (HVAC) sistemleri, evlerin yıllık enerji tüketiminin </a:t>
            </a:r>
            <a:r>
              <a:rPr lang="en-US" sz="1900" b="true">
                <a:solidFill>
                  <a:srgbClr val="3B3535"/>
                </a:solidFill>
                <a:latin typeface="Arimo Bold"/>
                <a:ea typeface="Arimo Bold"/>
                <a:cs typeface="Arimo Bold"/>
                <a:sym typeface="Arimo Bold"/>
              </a:rPr>
              <a:t>%40 ile %60'ı</a:t>
            </a:r>
            <a:r>
              <a:rPr lang="en-US" sz="1900">
                <a:solidFill>
                  <a:srgbClr val="3B3535"/>
                </a:solidFill>
                <a:latin typeface="Arimo"/>
                <a:ea typeface="Arimo"/>
                <a:cs typeface="Arimo"/>
                <a:sym typeface="Arimo"/>
              </a:rPr>
              <a:t> gibi çok büyük bir bölümünü oluşturmaktadır.</a:t>
            </a:r>
          </a:p>
        </p:txBody>
      </p:sp>
      <p:grpSp>
        <p:nvGrpSpPr>
          <p:cNvPr name="Group 8" id="8"/>
          <p:cNvGrpSpPr/>
          <p:nvPr/>
        </p:nvGrpSpPr>
        <p:grpSpPr>
          <a:xfrm rot="0">
            <a:off x="682228" y="3012281"/>
            <a:ext cx="8339138" cy="6513014"/>
            <a:chOff x="0" y="0"/>
            <a:chExt cx="11118850" cy="8684019"/>
          </a:xfrm>
        </p:grpSpPr>
        <p:sp>
          <p:nvSpPr>
            <p:cNvPr name="Freeform 9" id="9"/>
            <p:cNvSpPr/>
            <p:nvPr/>
          </p:nvSpPr>
          <p:spPr>
            <a:xfrm flipH="false" flipV="false" rot="0">
              <a:off x="0" y="0"/>
              <a:ext cx="11118850" cy="8684006"/>
            </a:xfrm>
            <a:custGeom>
              <a:avLst/>
              <a:gdLst/>
              <a:ahLst/>
              <a:cxnLst/>
              <a:rect r="r" b="b" t="t" l="l"/>
              <a:pathLst>
                <a:path h="8684006" w="11118850">
                  <a:moveTo>
                    <a:pt x="0" y="235585"/>
                  </a:moveTo>
                  <a:cubicBezTo>
                    <a:pt x="0" y="105537"/>
                    <a:pt x="105537" y="0"/>
                    <a:pt x="235585" y="0"/>
                  </a:cubicBezTo>
                  <a:lnTo>
                    <a:pt x="10883265" y="0"/>
                  </a:lnTo>
                  <a:cubicBezTo>
                    <a:pt x="11013440" y="0"/>
                    <a:pt x="11118850" y="105537"/>
                    <a:pt x="11118850" y="235585"/>
                  </a:cubicBezTo>
                  <a:lnTo>
                    <a:pt x="11118850" y="8448421"/>
                  </a:lnTo>
                  <a:cubicBezTo>
                    <a:pt x="11118850" y="8578596"/>
                    <a:pt x="11013313" y="8684006"/>
                    <a:pt x="10883265" y="8684006"/>
                  </a:cubicBezTo>
                  <a:lnTo>
                    <a:pt x="235585" y="8684006"/>
                  </a:lnTo>
                  <a:cubicBezTo>
                    <a:pt x="105537" y="8684006"/>
                    <a:pt x="0" y="8578596"/>
                    <a:pt x="0" y="8448421"/>
                  </a:cubicBezTo>
                  <a:close/>
                </a:path>
              </a:pathLst>
            </a:custGeom>
            <a:solidFill>
              <a:srgbClr val="1A2D7A"/>
            </a:solidFill>
          </p:spPr>
        </p:sp>
      </p:grpSp>
      <p:sp>
        <p:nvSpPr>
          <p:cNvPr name="TextBox 10" id="10"/>
          <p:cNvSpPr txBox="true"/>
          <p:nvPr/>
        </p:nvSpPr>
        <p:spPr>
          <a:xfrm rot="0">
            <a:off x="927649" y="3225108"/>
            <a:ext cx="5822452" cy="413147"/>
          </a:xfrm>
          <a:prstGeom prst="rect">
            <a:avLst/>
          </a:prstGeom>
        </p:spPr>
        <p:txBody>
          <a:bodyPr anchor="t" rtlCol="false" tIns="0" lIns="0" bIns="0" rIns="0">
            <a:spAutoFit/>
          </a:bodyPr>
          <a:lstStyle/>
          <a:p>
            <a:pPr algn="l">
              <a:lnSpc>
                <a:spcPts val="3119"/>
              </a:lnSpc>
            </a:pPr>
            <a:r>
              <a:rPr lang="en-US" sz="2499" b="true">
                <a:solidFill>
                  <a:srgbClr val="FFFFFF"/>
                </a:solidFill>
                <a:latin typeface="Alexandria Bold"/>
                <a:ea typeface="Alexandria Bold"/>
                <a:cs typeface="Alexandria Bold"/>
                <a:sym typeface="Alexandria Bold"/>
              </a:rPr>
              <a:t>Klasik Kontrolcülerin Limitleri</a:t>
            </a:r>
          </a:p>
        </p:txBody>
      </p:sp>
      <p:sp>
        <p:nvSpPr>
          <p:cNvPr name="Freeform 11" id="11" descr="preencoded.png"/>
          <p:cNvSpPr/>
          <p:nvPr/>
        </p:nvSpPr>
        <p:spPr>
          <a:xfrm flipH="false" flipV="false" rot="0">
            <a:off x="1019623" y="3896020"/>
            <a:ext cx="368056" cy="368056"/>
          </a:xfrm>
          <a:custGeom>
            <a:avLst/>
            <a:gdLst/>
            <a:ahLst/>
            <a:cxnLst/>
            <a:rect r="r" b="b" t="t" l="l"/>
            <a:pathLst>
              <a:path h="368056" w="368056">
                <a:moveTo>
                  <a:pt x="0" y="0"/>
                </a:moveTo>
                <a:lnTo>
                  <a:pt x="368055" y="0"/>
                </a:lnTo>
                <a:lnTo>
                  <a:pt x="368055" y="368056"/>
                </a:lnTo>
                <a:lnTo>
                  <a:pt x="0" y="368056"/>
                </a:lnTo>
                <a:lnTo>
                  <a:pt x="0" y="0"/>
                </a:lnTo>
                <a:close/>
              </a:path>
            </a:pathLst>
          </a:custGeom>
          <a:blipFill>
            <a:blip r:embed="rId3">
              <a:extLst>
                <a:ext uri="{96DAC541-7B7A-43D3-8B79-37D633B846F1}">
                  <asvg:svgBlip xmlns:asvg="http://schemas.microsoft.com/office/drawing/2016/SVG/main" r:embed="rId4"/>
                </a:ext>
              </a:extLst>
            </a:blip>
            <a:stretch>
              <a:fillRect l="-8974" t="0" r="-8972" b="0"/>
            </a:stretch>
          </a:blipFill>
        </p:spPr>
      </p:sp>
      <p:sp>
        <p:nvSpPr>
          <p:cNvPr name="TextBox 12" id="12"/>
          <p:cNvSpPr txBox="true"/>
          <p:nvPr/>
        </p:nvSpPr>
        <p:spPr>
          <a:xfrm rot="0">
            <a:off x="1725216" y="3878904"/>
            <a:ext cx="4927997" cy="413147"/>
          </a:xfrm>
          <a:prstGeom prst="rect">
            <a:avLst/>
          </a:prstGeom>
        </p:spPr>
        <p:txBody>
          <a:bodyPr anchor="t" rtlCol="false" tIns="0" lIns="0" bIns="0" rIns="0">
            <a:spAutoFit/>
          </a:bodyPr>
          <a:lstStyle/>
          <a:p>
            <a:pPr algn="l">
              <a:lnSpc>
                <a:spcPts val="3119"/>
              </a:lnSpc>
            </a:pPr>
            <a:r>
              <a:rPr lang="en-US" sz="2499" b="true">
                <a:solidFill>
                  <a:srgbClr val="FFFFFF"/>
                </a:solidFill>
                <a:latin typeface="Alexandria Bold"/>
                <a:ea typeface="Alexandria Bold"/>
                <a:cs typeface="Alexandria Bold"/>
                <a:sym typeface="Alexandria Bold"/>
              </a:rPr>
              <a:t>Tek Değişken Bağımlılığı</a:t>
            </a:r>
          </a:p>
        </p:txBody>
      </p:sp>
      <p:sp>
        <p:nvSpPr>
          <p:cNvPr name="TextBox 13" id="13"/>
          <p:cNvSpPr txBox="true"/>
          <p:nvPr/>
        </p:nvSpPr>
        <p:spPr>
          <a:xfrm rot="0">
            <a:off x="1725216" y="4447727"/>
            <a:ext cx="7050729" cy="814988"/>
          </a:xfrm>
          <a:prstGeom prst="rect">
            <a:avLst/>
          </a:prstGeom>
        </p:spPr>
        <p:txBody>
          <a:bodyPr anchor="t" rtlCol="false" tIns="0" lIns="0" bIns="0" rIns="0">
            <a:spAutoFit/>
          </a:bodyPr>
          <a:lstStyle/>
          <a:p>
            <a:pPr algn="l">
              <a:lnSpc>
                <a:spcPts val="2895"/>
              </a:lnSpc>
            </a:pPr>
            <a:r>
              <a:rPr lang="en-US" sz="1900">
                <a:solidFill>
                  <a:srgbClr val="FFFFFF"/>
                </a:solidFill>
                <a:latin typeface="Arimo"/>
                <a:ea typeface="Arimo"/>
                <a:cs typeface="Arimo"/>
                <a:sym typeface="Arimo"/>
              </a:rPr>
              <a:t>Geleneksel klimalar genellikle sadece ortamın sıcaklık değerini referans alır.</a:t>
            </a:r>
          </a:p>
        </p:txBody>
      </p:sp>
      <p:sp>
        <p:nvSpPr>
          <p:cNvPr name="Freeform 14" id="14" descr="preencoded.png"/>
          <p:cNvSpPr/>
          <p:nvPr/>
        </p:nvSpPr>
        <p:spPr>
          <a:xfrm flipH="false" flipV="false" rot="0">
            <a:off x="1019623" y="5715152"/>
            <a:ext cx="368056" cy="368056"/>
          </a:xfrm>
          <a:custGeom>
            <a:avLst/>
            <a:gdLst/>
            <a:ahLst/>
            <a:cxnLst/>
            <a:rect r="r" b="b" t="t" l="l"/>
            <a:pathLst>
              <a:path h="368056" w="368056">
                <a:moveTo>
                  <a:pt x="0" y="0"/>
                </a:moveTo>
                <a:lnTo>
                  <a:pt x="368055" y="0"/>
                </a:lnTo>
                <a:lnTo>
                  <a:pt x="368055" y="368056"/>
                </a:lnTo>
                <a:lnTo>
                  <a:pt x="0" y="368056"/>
                </a:lnTo>
                <a:lnTo>
                  <a:pt x="0" y="0"/>
                </a:lnTo>
                <a:close/>
              </a:path>
            </a:pathLst>
          </a:custGeom>
          <a:blipFill>
            <a:blip r:embed="rId3">
              <a:extLst>
                <a:ext uri="{96DAC541-7B7A-43D3-8B79-37D633B846F1}">
                  <asvg:svgBlip xmlns:asvg="http://schemas.microsoft.com/office/drawing/2016/SVG/main" r:embed="rId4"/>
                </a:ext>
              </a:extLst>
            </a:blip>
            <a:stretch>
              <a:fillRect l="-8974" t="0" r="-8972" b="0"/>
            </a:stretch>
          </a:blipFill>
        </p:spPr>
      </p:sp>
      <p:sp>
        <p:nvSpPr>
          <p:cNvPr name="TextBox 15" id="15"/>
          <p:cNvSpPr txBox="true"/>
          <p:nvPr/>
        </p:nvSpPr>
        <p:spPr>
          <a:xfrm rot="0">
            <a:off x="1725216" y="5698036"/>
            <a:ext cx="7047157" cy="413147"/>
          </a:xfrm>
          <a:prstGeom prst="rect">
            <a:avLst/>
          </a:prstGeom>
        </p:spPr>
        <p:txBody>
          <a:bodyPr anchor="t" rtlCol="false" tIns="0" lIns="0" bIns="0" rIns="0">
            <a:spAutoFit/>
          </a:bodyPr>
          <a:lstStyle/>
          <a:p>
            <a:pPr algn="l">
              <a:lnSpc>
                <a:spcPts val="3119"/>
              </a:lnSpc>
            </a:pPr>
            <a:r>
              <a:rPr lang="en-US" sz="2499" b="true">
                <a:solidFill>
                  <a:srgbClr val="FFFFFF"/>
                </a:solidFill>
                <a:latin typeface="Alexandria Bold"/>
                <a:ea typeface="Alexandria Bold"/>
                <a:cs typeface="Alexandria Bold"/>
                <a:sym typeface="Alexandria Bold"/>
              </a:rPr>
              <a:t>Konforun Çok Boyutluluğunun İhmali</a:t>
            </a:r>
          </a:p>
        </p:txBody>
      </p:sp>
      <p:sp>
        <p:nvSpPr>
          <p:cNvPr name="TextBox 16" id="16"/>
          <p:cNvSpPr txBox="true"/>
          <p:nvPr/>
        </p:nvSpPr>
        <p:spPr>
          <a:xfrm rot="0">
            <a:off x="1725216" y="6266859"/>
            <a:ext cx="7050729" cy="1189139"/>
          </a:xfrm>
          <a:prstGeom prst="rect">
            <a:avLst/>
          </a:prstGeom>
        </p:spPr>
        <p:txBody>
          <a:bodyPr anchor="t" rtlCol="false" tIns="0" lIns="0" bIns="0" rIns="0">
            <a:spAutoFit/>
          </a:bodyPr>
          <a:lstStyle/>
          <a:p>
            <a:pPr algn="l">
              <a:lnSpc>
                <a:spcPts val="2895"/>
              </a:lnSpc>
            </a:pPr>
            <a:r>
              <a:rPr lang="en-US" sz="1900">
                <a:solidFill>
                  <a:srgbClr val="FFFFFF"/>
                </a:solidFill>
                <a:latin typeface="Arimo"/>
                <a:ea typeface="Arimo"/>
                <a:cs typeface="Arimo"/>
                <a:sym typeface="Arimo"/>
              </a:rPr>
              <a:t>İnsan konforu yalnızca sıcaklığa bağlı değildir; nem oranı, kişi sayısı ve günün saati konfor algısını doğrudan değiştirir.</a:t>
            </a:r>
          </a:p>
        </p:txBody>
      </p:sp>
      <p:sp>
        <p:nvSpPr>
          <p:cNvPr name="Freeform 17" id="17" descr="preencoded.png"/>
          <p:cNvSpPr/>
          <p:nvPr/>
        </p:nvSpPr>
        <p:spPr>
          <a:xfrm flipH="false" flipV="false" rot="0">
            <a:off x="1019623" y="7908427"/>
            <a:ext cx="368056" cy="368056"/>
          </a:xfrm>
          <a:custGeom>
            <a:avLst/>
            <a:gdLst/>
            <a:ahLst/>
            <a:cxnLst/>
            <a:rect r="r" b="b" t="t" l="l"/>
            <a:pathLst>
              <a:path h="368056" w="368056">
                <a:moveTo>
                  <a:pt x="0" y="0"/>
                </a:moveTo>
                <a:lnTo>
                  <a:pt x="368055" y="0"/>
                </a:lnTo>
                <a:lnTo>
                  <a:pt x="368055" y="368055"/>
                </a:lnTo>
                <a:lnTo>
                  <a:pt x="0" y="368055"/>
                </a:lnTo>
                <a:lnTo>
                  <a:pt x="0" y="0"/>
                </a:lnTo>
                <a:close/>
              </a:path>
            </a:pathLst>
          </a:custGeom>
          <a:blipFill>
            <a:blip r:embed="rId3">
              <a:extLst>
                <a:ext uri="{96DAC541-7B7A-43D3-8B79-37D633B846F1}">
                  <asvg:svgBlip xmlns:asvg="http://schemas.microsoft.com/office/drawing/2016/SVG/main" r:embed="rId4"/>
                </a:ext>
              </a:extLst>
            </a:blip>
            <a:stretch>
              <a:fillRect l="-8974" t="0" r="-8972" b="0"/>
            </a:stretch>
          </a:blipFill>
        </p:spPr>
      </p:sp>
      <p:sp>
        <p:nvSpPr>
          <p:cNvPr name="TextBox 18" id="18"/>
          <p:cNvSpPr txBox="true"/>
          <p:nvPr/>
        </p:nvSpPr>
        <p:spPr>
          <a:xfrm rot="0">
            <a:off x="1725216" y="7891310"/>
            <a:ext cx="4143823" cy="413147"/>
          </a:xfrm>
          <a:prstGeom prst="rect">
            <a:avLst/>
          </a:prstGeom>
        </p:spPr>
        <p:txBody>
          <a:bodyPr anchor="t" rtlCol="false" tIns="0" lIns="0" bIns="0" rIns="0">
            <a:spAutoFit/>
          </a:bodyPr>
          <a:lstStyle/>
          <a:p>
            <a:pPr algn="l">
              <a:lnSpc>
                <a:spcPts val="3119"/>
              </a:lnSpc>
            </a:pPr>
            <a:r>
              <a:rPr lang="en-US" sz="2499" b="true">
                <a:solidFill>
                  <a:srgbClr val="FFFFFF"/>
                </a:solidFill>
                <a:latin typeface="Alexandria Bold"/>
                <a:ea typeface="Alexandria Bold"/>
                <a:cs typeface="Alexandria Bold"/>
                <a:sym typeface="Alexandria Bold"/>
              </a:rPr>
              <a:t>Enerji Savurganlığı</a:t>
            </a:r>
          </a:p>
        </p:txBody>
      </p:sp>
      <p:sp>
        <p:nvSpPr>
          <p:cNvPr name="TextBox 19" id="19"/>
          <p:cNvSpPr txBox="true"/>
          <p:nvPr/>
        </p:nvSpPr>
        <p:spPr>
          <a:xfrm rot="0">
            <a:off x="1725216" y="8460134"/>
            <a:ext cx="7050729" cy="814988"/>
          </a:xfrm>
          <a:prstGeom prst="rect">
            <a:avLst/>
          </a:prstGeom>
        </p:spPr>
        <p:txBody>
          <a:bodyPr anchor="t" rtlCol="false" tIns="0" lIns="0" bIns="0" rIns="0">
            <a:spAutoFit/>
          </a:bodyPr>
          <a:lstStyle/>
          <a:p>
            <a:pPr algn="l">
              <a:lnSpc>
                <a:spcPts val="2895"/>
              </a:lnSpc>
            </a:pPr>
            <a:r>
              <a:rPr lang="en-US" sz="1900">
                <a:solidFill>
                  <a:srgbClr val="FFFFFF"/>
                </a:solidFill>
                <a:latin typeface="Arimo"/>
                <a:ea typeface="Arimo"/>
                <a:cs typeface="Arimo"/>
                <a:sym typeface="Arimo"/>
              </a:rPr>
              <a:t>Klasik On/Off mantığı, sert ve sarsıntılı geçişlere yol açarak enerjiyi verimsiz tüketir.</a:t>
            </a:r>
          </a:p>
        </p:txBody>
      </p:sp>
      <p:sp>
        <p:nvSpPr>
          <p:cNvPr name="TextBox 20" id="20"/>
          <p:cNvSpPr txBox="true"/>
          <p:nvPr/>
        </p:nvSpPr>
        <p:spPr>
          <a:xfrm rot="0">
            <a:off x="9452820" y="3225108"/>
            <a:ext cx="7411345" cy="413147"/>
          </a:xfrm>
          <a:prstGeom prst="rect">
            <a:avLst/>
          </a:prstGeom>
        </p:spPr>
        <p:txBody>
          <a:bodyPr anchor="t" rtlCol="false" tIns="0" lIns="0" bIns="0" rIns="0">
            <a:spAutoFit/>
          </a:bodyPr>
          <a:lstStyle/>
          <a:p>
            <a:pPr algn="l">
              <a:lnSpc>
                <a:spcPts val="3119"/>
              </a:lnSpc>
            </a:pPr>
            <a:r>
              <a:rPr lang="en-US" sz="2499" b="true">
                <a:solidFill>
                  <a:srgbClr val="1F1E1E"/>
                </a:solidFill>
                <a:latin typeface="Alexandria Bold"/>
                <a:ea typeface="Alexandria Bold"/>
                <a:cs typeface="Alexandria Bold"/>
                <a:sym typeface="Alexandria Bold"/>
              </a:rPr>
              <a:t>Bulanık Mantık Neden İdeal Çözümdür?</a:t>
            </a:r>
          </a:p>
        </p:txBody>
      </p:sp>
      <p:sp>
        <p:nvSpPr>
          <p:cNvPr name="TextBox 21" id="21"/>
          <p:cNvSpPr txBox="true"/>
          <p:nvPr/>
        </p:nvSpPr>
        <p:spPr>
          <a:xfrm rot="0">
            <a:off x="9452820" y="3793931"/>
            <a:ext cx="7985817" cy="1189139"/>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İnsanların konfor algısı kesin (crisp) değil, </a:t>
            </a:r>
            <a:r>
              <a:rPr lang="en-US" sz="1900" b="true">
                <a:solidFill>
                  <a:srgbClr val="3B3535"/>
                </a:solidFill>
                <a:latin typeface="Arimo Bold"/>
                <a:ea typeface="Arimo Bold"/>
                <a:cs typeface="Arimo Bold"/>
                <a:sym typeface="Arimo Bold"/>
              </a:rPr>
              <a:t>bulanık (fuzzy)</a:t>
            </a:r>
            <a:r>
              <a:rPr lang="en-US" sz="1900">
                <a:solidFill>
                  <a:srgbClr val="3B3535"/>
                </a:solidFill>
                <a:latin typeface="Arimo"/>
                <a:ea typeface="Arimo"/>
                <a:cs typeface="Arimo"/>
                <a:sym typeface="Arimo"/>
              </a:rPr>
              <a:t> bir yapıdadır. Bir insan "oda 24.5 derece oldu fanı %43 yap" demez; "oda biraz ılık ve çok kalabalık, fanı iyice aç" der.</a:t>
            </a:r>
          </a:p>
        </p:txBody>
      </p:sp>
      <p:sp>
        <p:nvSpPr>
          <p:cNvPr name="TextBox 22" id="22"/>
          <p:cNvSpPr txBox="true"/>
          <p:nvPr/>
        </p:nvSpPr>
        <p:spPr>
          <a:xfrm rot="0">
            <a:off x="9820866" y="5166570"/>
            <a:ext cx="7617771" cy="1563291"/>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Bulanık Mantık (Fuzzy Logic), tam olarak bu insan tecrübesini ve dilsel ifadeleri matematiksel modellere dökerek akıllı, yumuşak geçişli ve çok değişkenli bir karar mekanizması oluşturmamızı sağlar.</a:t>
            </a:r>
          </a:p>
        </p:txBody>
      </p:sp>
      <p:grpSp>
        <p:nvGrpSpPr>
          <p:cNvPr name="Group 23" id="23"/>
          <p:cNvGrpSpPr/>
          <p:nvPr/>
        </p:nvGrpSpPr>
        <p:grpSpPr>
          <a:xfrm rot="0">
            <a:off x="9452820" y="5233245"/>
            <a:ext cx="28575" cy="1496616"/>
            <a:chOff x="0" y="0"/>
            <a:chExt cx="38100" cy="1995488"/>
          </a:xfrm>
        </p:grpSpPr>
        <p:sp>
          <p:nvSpPr>
            <p:cNvPr name="Freeform 24" id="24"/>
            <p:cNvSpPr/>
            <p:nvPr/>
          </p:nvSpPr>
          <p:spPr>
            <a:xfrm flipH="false" flipV="false" rot="0">
              <a:off x="0" y="0"/>
              <a:ext cx="38100" cy="1995551"/>
            </a:xfrm>
            <a:custGeom>
              <a:avLst/>
              <a:gdLst/>
              <a:ahLst/>
              <a:cxnLst/>
              <a:rect r="r" b="b" t="t" l="l"/>
              <a:pathLst>
                <a:path h="1995551" w="38100">
                  <a:moveTo>
                    <a:pt x="0" y="0"/>
                  </a:moveTo>
                  <a:lnTo>
                    <a:pt x="38100" y="0"/>
                  </a:lnTo>
                  <a:lnTo>
                    <a:pt x="38100" y="1995551"/>
                  </a:lnTo>
                  <a:lnTo>
                    <a:pt x="0" y="1995551"/>
                  </a:lnTo>
                  <a:close/>
                </a:path>
              </a:pathLst>
            </a:custGeom>
            <a:solidFill>
              <a:srgbClr val="1A2D7A"/>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2382145" y="583854"/>
            <a:ext cx="12354220" cy="631479"/>
          </a:xfrm>
          <a:prstGeom prst="rect">
            <a:avLst/>
          </a:prstGeom>
        </p:spPr>
        <p:txBody>
          <a:bodyPr anchor="t" rtlCol="false" tIns="0" lIns="0" bIns="0" rIns="0">
            <a:spAutoFit/>
          </a:bodyPr>
          <a:lstStyle/>
          <a:p>
            <a:pPr algn="l">
              <a:lnSpc>
                <a:spcPts val="4742"/>
              </a:lnSpc>
            </a:pPr>
            <a:r>
              <a:rPr lang="en-US" sz="3800" b="true">
                <a:solidFill>
                  <a:srgbClr val="1F1E1E"/>
                </a:solidFill>
                <a:latin typeface="Alexandria Bold"/>
                <a:ea typeface="Alexandria Bold"/>
                <a:cs typeface="Alexandria Bold"/>
                <a:sym typeface="Alexandria Bold"/>
              </a:rPr>
              <a:t>2. Sistem Tasarımı: Algılayıcılar ve Değişkenler</a:t>
            </a:r>
          </a:p>
        </p:txBody>
      </p:sp>
      <p:sp>
        <p:nvSpPr>
          <p:cNvPr name="TextBox 7" id="7"/>
          <p:cNvSpPr txBox="true"/>
          <p:nvPr/>
        </p:nvSpPr>
        <p:spPr>
          <a:xfrm rot="0">
            <a:off x="2382145" y="1433217"/>
            <a:ext cx="13523566" cy="540544"/>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Bulanık mantık sistemimiz, ortamın anlık durumunu en iyi şekilde analiz edebilmek için </a:t>
            </a:r>
            <a:r>
              <a:rPr lang="en-US" sz="1399" b="true">
                <a:solidFill>
                  <a:srgbClr val="3B3535"/>
                </a:solidFill>
                <a:latin typeface="Arimo Bold"/>
                <a:ea typeface="Arimo Bold"/>
                <a:cs typeface="Arimo Bold"/>
                <a:sym typeface="Arimo Bold"/>
              </a:rPr>
              <a:t>5 farklı giriş parametresi</a:t>
            </a:r>
            <a:r>
              <a:rPr lang="en-US" sz="1399">
                <a:solidFill>
                  <a:srgbClr val="3B3535"/>
                </a:solidFill>
                <a:latin typeface="Arimo"/>
                <a:ea typeface="Arimo"/>
                <a:cs typeface="Arimo"/>
                <a:sym typeface="Arimo"/>
              </a:rPr>
              <a:t> kullanır ve </a:t>
            </a:r>
            <a:r>
              <a:rPr lang="en-US" sz="1399" b="true">
                <a:solidFill>
                  <a:srgbClr val="3B3535"/>
                </a:solidFill>
                <a:latin typeface="Arimo Bold"/>
                <a:ea typeface="Arimo Bold"/>
                <a:cs typeface="Arimo Bold"/>
                <a:sym typeface="Arimo Bold"/>
              </a:rPr>
              <a:t>2 farklı çıkış parametresini</a:t>
            </a:r>
            <a:r>
              <a:rPr lang="en-US" sz="1399">
                <a:solidFill>
                  <a:srgbClr val="3B3535"/>
                </a:solidFill>
                <a:latin typeface="Arimo"/>
                <a:ea typeface="Arimo"/>
                <a:cs typeface="Arimo"/>
                <a:sym typeface="Arimo"/>
              </a:rPr>
              <a:t> kontrol eder. Her bir değişken, insan algısına uygun dilsel terimlere (linguistic terms) bölünmüştür.</a:t>
            </a:r>
          </a:p>
        </p:txBody>
      </p:sp>
      <p:grpSp>
        <p:nvGrpSpPr>
          <p:cNvPr name="Group 8" id="8"/>
          <p:cNvGrpSpPr/>
          <p:nvPr/>
        </p:nvGrpSpPr>
        <p:grpSpPr>
          <a:xfrm rot="0">
            <a:off x="2372620" y="2842612"/>
            <a:ext cx="4456957" cy="1136152"/>
            <a:chOff x="0" y="0"/>
            <a:chExt cx="5942609" cy="1514869"/>
          </a:xfrm>
        </p:grpSpPr>
        <p:sp>
          <p:nvSpPr>
            <p:cNvPr name="Freeform 9" id="9"/>
            <p:cNvSpPr/>
            <p:nvPr/>
          </p:nvSpPr>
          <p:spPr>
            <a:xfrm flipH="false" flipV="false" rot="0">
              <a:off x="12700" y="12700"/>
              <a:ext cx="5917184" cy="1489456"/>
            </a:xfrm>
            <a:custGeom>
              <a:avLst/>
              <a:gdLst/>
              <a:ahLst/>
              <a:cxnLst/>
              <a:rect r="r" b="b" t="t" l="l"/>
              <a:pathLst>
                <a:path h="1489456" w="5917184">
                  <a:moveTo>
                    <a:pt x="0" y="104267"/>
                  </a:moveTo>
                  <a:cubicBezTo>
                    <a:pt x="0" y="46736"/>
                    <a:pt x="47244" y="0"/>
                    <a:pt x="105537" y="0"/>
                  </a:cubicBezTo>
                  <a:lnTo>
                    <a:pt x="5811647" y="0"/>
                  </a:lnTo>
                  <a:cubicBezTo>
                    <a:pt x="5869940" y="0"/>
                    <a:pt x="5917184" y="46736"/>
                    <a:pt x="5917184" y="104267"/>
                  </a:cubicBezTo>
                  <a:lnTo>
                    <a:pt x="5917184" y="1385189"/>
                  </a:lnTo>
                  <a:cubicBezTo>
                    <a:pt x="5917184" y="1442720"/>
                    <a:pt x="5869940" y="1489456"/>
                    <a:pt x="5811647" y="1489456"/>
                  </a:cubicBezTo>
                  <a:lnTo>
                    <a:pt x="105537" y="1489456"/>
                  </a:lnTo>
                  <a:cubicBezTo>
                    <a:pt x="47244" y="1489456"/>
                    <a:pt x="0" y="1442720"/>
                    <a:pt x="0" y="1385189"/>
                  </a:cubicBezTo>
                  <a:close/>
                </a:path>
              </a:pathLst>
            </a:custGeom>
            <a:solidFill>
              <a:srgbClr val="FFFAFA"/>
            </a:solidFill>
          </p:spPr>
        </p:sp>
        <p:sp>
          <p:nvSpPr>
            <p:cNvPr name="Freeform 10" id="10"/>
            <p:cNvSpPr/>
            <p:nvPr/>
          </p:nvSpPr>
          <p:spPr>
            <a:xfrm flipH="false" flipV="false" rot="0">
              <a:off x="0" y="0"/>
              <a:ext cx="5942584" cy="1514856"/>
            </a:xfrm>
            <a:custGeom>
              <a:avLst/>
              <a:gdLst/>
              <a:ahLst/>
              <a:cxnLst/>
              <a:rect r="r" b="b" t="t" l="l"/>
              <a:pathLst>
                <a:path h="1514856" w="5942584">
                  <a:moveTo>
                    <a:pt x="0" y="116967"/>
                  </a:moveTo>
                  <a:cubicBezTo>
                    <a:pt x="0" y="52197"/>
                    <a:pt x="53086" y="0"/>
                    <a:pt x="118237" y="0"/>
                  </a:cubicBezTo>
                  <a:lnTo>
                    <a:pt x="5824347" y="0"/>
                  </a:lnTo>
                  <a:lnTo>
                    <a:pt x="5824347" y="12700"/>
                  </a:lnTo>
                  <a:lnTo>
                    <a:pt x="5824347" y="0"/>
                  </a:lnTo>
                  <a:cubicBezTo>
                    <a:pt x="5889498" y="0"/>
                    <a:pt x="5942584" y="52197"/>
                    <a:pt x="5942584" y="116967"/>
                  </a:cubicBezTo>
                  <a:lnTo>
                    <a:pt x="5929884" y="116967"/>
                  </a:lnTo>
                  <a:lnTo>
                    <a:pt x="5942584" y="116967"/>
                  </a:lnTo>
                  <a:lnTo>
                    <a:pt x="5942584" y="1397889"/>
                  </a:lnTo>
                  <a:lnTo>
                    <a:pt x="5929884" y="1397889"/>
                  </a:lnTo>
                  <a:lnTo>
                    <a:pt x="5942584" y="1397889"/>
                  </a:lnTo>
                  <a:cubicBezTo>
                    <a:pt x="5942584" y="1462659"/>
                    <a:pt x="5889498" y="1514856"/>
                    <a:pt x="5824347" y="1514856"/>
                  </a:cubicBezTo>
                  <a:lnTo>
                    <a:pt x="5824347" y="1502156"/>
                  </a:lnTo>
                  <a:lnTo>
                    <a:pt x="5824347" y="1514856"/>
                  </a:lnTo>
                  <a:lnTo>
                    <a:pt x="118237" y="1514856"/>
                  </a:lnTo>
                  <a:lnTo>
                    <a:pt x="118237" y="1502156"/>
                  </a:lnTo>
                  <a:lnTo>
                    <a:pt x="118237" y="1514856"/>
                  </a:lnTo>
                  <a:cubicBezTo>
                    <a:pt x="53086" y="1514856"/>
                    <a:pt x="0" y="1462659"/>
                    <a:pt x="0" y="1397889"/>
                  </a:cubicBezTo>
                  <a:lnTo>
                    <a:pt x="0" y="116967"/>
                  </a:lnTo>
                  <a:lnTo>
                    <a:pt x="12700" y="116967"/>
                  </a:lnTo>
                  <a:lnTo>
                    <a:pt x="0" y="116967"/>
                  </a:lnTo>
                  <a:moveTo>
                    <a:pt x="25400" y="116967"/>
                  </a:moveTo>
                  <a:lnTo>
                    <a:pt x="25400" y="1397889"/>
                  </a:lnTo>
                  <a:lnTo>
                    <a:pt x="12700" y="1397889"/>
                  </a:lnTo>
                  <a:lnTo>
                    <a:pt x="25400" y="1397889"/>
                  </a:lnTo>
                  <a:cubicBezTo>
                    <a:pt x="25400" y="1448308"/>
                    <a:pt x="66802" y="1489456"/>
                    <a:pt x="118237" y="1489456"/>
                  </a:cubicBezTo>
                  <a:lnTo>
                    <a:pt x="5824347" y="1489456"/>
                  </a:lnTo>
                  <a:cubicBezTo>
                    <a:pt x="5875782" y="1489456"/>
                    <a:pt x="5917184" y="1448308"/>
                    <a:pt x="5917184" y="1397889"/>
                  </a:cubicBezTo>
                  <a:lnTo>
                    <a:pt x="5917184" y="116967"/>
                  </a:lnTo>
                  <a:cubicBezTo>
                    <a:pt x="5917184" y="66548"/>
                    <a:pt x="5875782" y="25400"/>
                    <a:pt x="5824347" y="25400"/>
                  </a:cubicBezTo>
                  <a:lnTo>
                    <a:pt x="118237" y="25400"/>
                  </a:lnTo>
                  <a:lnTo>
                    <a:pt x="118237" y="12700"/>
                  </a:lnTo>
                  <a:lnTo>
                    <a:pt x="118237" y="25400"/>
                  </a:lnTo>
                  <a:cubicBezTo>
                    <a:pt x="66802" y="25400"/>
                    <a:pt x="25400" y="66548"/>
                    <a:pt x="25400" y="116967"/>
                  </a:cubicBezTo>
                  <a:close/>
                </a:path>
              </a:pathLst>
            </a:custGeom>
            <a:solidFill>
              <a:srgbClr val="BBC2DC"/>
            </a:solidFill>
          </p:spPr>
        </p:sp>
      </p:grpSp>
      <p:grpSp>
        <p:nvGrpSpPr>
          <p:cNvPr name="Group 11" id="11"/>
          <p:cNvGrpSpPr/>
          <p:nvPr/>
        </p:nvGrpSpPr>
        <p:grpSpPr>
          <a:xfrm rot="0">
            <a:off x="2401195" y="2871187"/>
            <a:ext cx="744741" cy="1079002"/>
            <a:chOff x="0" y="0"/>
            <a:chExt cx="992988" cy="1438669"/>
          </a:xfrm>
        </p:grpSpPr>
        <p:sp>
          <p:nvSpPr>
            <p:cNvPr name="Freeform 12" id="12"/>
            <p:cNvSpPr/>
            <p:nvPr/>
          </p:nvSpPr>
          <p:spPr>
            <a:xfrm flipH="false" flipV="false" rot="0">
              <a:off x="0" y="0"/>
              <a:ext cx="993013" cy="1438656"/>
            </a:xfrm>
            <a:custGeom>
              <a:avLst/>
              <a:gdLst/>
              <a:ahLst/>
              <a:cxnLst/>
              <a:rect r="r" b="b" t="t" l="l"/>
              <a:pathLst>
                <a:path h="1438656" w="993013">
                  <a:moveTo>
                    <a:pt x="0" y="73787"/>
                  </a:moveTo>
                  <a:cubicBezTo>
                    <a:pt x="0" y="33020"/>
                    <a:pt x="33020" y="0"/>
                    <a:pt x="73787" y="0"/>
                  </a:cubicBezTo>
                  <a:lnTo>
                    <a:pt x="919226" y="0"/>
                  </a:lnTo>
                  <a:cubicBezTo>
                    <a:pt x="959993" y="0"/>
                    <a:pt x="993013" y="33020"/>
                    <a:pt x="993013" y="73787"/>
                  </a:cubicBezTo>
                  <a:lnTo>
                    <a:pt x="993013" y="1364869"/>
                  </a:lnTo>
                  <a:cubicBezTo>
                    <a:pt x="993013" y="1405636"/>
                    <a:pt x="959993" y="1438656"/>
                    <a:pt x="919226" y="1438656"/>
                  </a:cubicBezTo>
                  <a:lnTo>
                    <a:pt x="73787" y="1438656"/>
                  </a:lnTo>
                  <a:cubicBezTo>
                    <a:pt x="33020" y="1438656"/>
                    <a:pt x="0" y="1405636"/>
                    <a:pt x="0" y="1364869"/>
                  </a:cubicBezTo>
                  <a:close/>
                </a:path>
              </a:pathLst>
            </a:custGeom>
            <a:solidFill>
              <a:srgbClr val="D5DCF6"/>
            </a:solidFill>
          </p:spPr>
        </p:sp>
      </p:grpSp>
      <p:grpSp>
        <p:nvGrpSpPr>
          <p:cNvPr name="Group 13" id="13"/>
          <p:cNvGrpSpPr/>
          <p:nvPr/>
        </p:nvGrpSpPr>
        <p:grpSpPr>
          <a:xfrm rot="0">
            <a:off x="2171995" y="3236119"/>
            <a:ext cx="736406" cy="349006"/>
            <a:chOff x="0" y="0"/>
            <a:chExt cx="981875" cy="465341"/>
          </a:xfrm>
        </p:grpSpPr>
        <p:sp>
          <p:nvSpPr>
            <p:cNvPr name="Freeform 14" id="14"/>
            <p:cNvSpPr/>
            <p:nvPr/>
          </p:nvSpPr>
          <p:spPr>
            <a:xfrm flipH="false" flipV="false" rot="0">
              <a:off x="0" y="0"/>
              <a:ext cx="981869" cy="465336"/>
            </a:xfrm>
            <a:custGeom>
              <a:avLst/>
              <a:gdLst/>
              <a:ahLst/>
              <a:cxnLst/>
              <a:rect r="r" b="b" t="t" l="l"/>
              <a:pathLst>
                <a:path h="465336" w="981869">
                  <a:moveTo>
                    <a:pt x="0" y="0"/>
                  </a:moveTo>
                  <a:lnTo>
                    <a:pt x="981869" y="0"/>
                  </a:lnTo>
                  <a:lnTo>
                    <a:pt x="981869" y="465336"/>
                  </a:lnTo>
                  <a:lnTo>
                    <a:pt x="0" y="465336"/>
                  </a:lnTo>
                  <a:close/>
                </a:path>
              </a:pathLst>
            </a:custGeom>
            <a:blipFill>
              <a:blip r:embed="rId3">
                <a:alphaModFix amt="0"/>
              </a:blip>
              <a:stretch>
                <a:fillRect l="-10807" t="0" r="-10807" b="-1"/>
              </a:stretch>
            </a:blipFill>
          </p:spPr>
        </p:sp>
        <p:sp>
          <p:nvSpPr>
            <p:cNvPr name="TextBox 15" id="15"/>
            <p:cNvSpPr txBox="true"/>
            <p:nvPr/>
          </p:nvSpPr>
          <p:spPr>
            <a:xfrm>
              <a:off x="0" y="0"/>
              <a:ext cx="981875" cy="465341"/>
            </a:xfrm>
            <a:prstGeom prst="rect">
              <a:avLst/>
            </a:prstGeom>
          </p:spPr>
          <p:txBody>
            <a:bodyPr anchor="ctr" rtlCol="false" tIns="0" lIns="0" bIns="0" rIns="0"/>
            <a:lstStyle/>
            <a:p>
              <a:pPr algn="ctr">
                <a:lnSpc>
                  <a:spcPts val="2520"/>
                </a:lnSpc>
              </a:pPr>
              <a:r>
                <a:rPr lang="en-US" sz="2100" b="true">
                  <a:solidFill>
                    <a:srgbClr val="3B3535"/>
                  </a:solidFill>
                  <a:latin typeface="Alexandria Bold"/>
                  <a:ea typeface="Alexandria Bold"/>
                  <a:cs typeface="Alexandria Bold"/>
                  <a:sym typeface="Alexandria Bold"/>
                </a:rPr>
                <a:t>1</a:t>
              </a:r>
            </a:p>
          </p:txBody>
        </p:sp>
      </p:grpSp>
      <p:sp>
        <p:nvSpPr>
          <p:cNvPr name="TextBox 16" id="16"/>
          <p:cNvSpPr txBox="true"/>
          <p:nvPr/>
        </p:nvSpPr>
        <p:spPr>
          <a:xfrm rot="0">
            <a:off x="3273923" y="3047848"/>
            <a:ext cx="3364259"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İç Sıcaklık (0–40 °C)</a:t>
            </a:r>
          </a:p>
        </p:txBody>
      </p:sp>
      <p:sp>
        <p:nvSpPr>
          <p:cNvPr name="TextBox 17" id="17"/>
          <p:cNvSpPr txBox="true"/>
          <p:nvPr/>
        </p:nvSpPr>
        <p:spPr>
          <a:xfrm rot="0">
            <a:off x="3273923" y="3453413"/>
            <a:ext cx="4255294"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Soğuk, Serin, İdeal, Ilık, Sıcak</a:t>
            </a:r>
          </a:p>
        </p:txBody>
      </p:sp>
      <p:grpSp>
        <p:nvGrpSpPr>
          <p:cNvPr name="Group 18" id="18"/>
          <p:cNvGrpSpPr/>
          <p:nvPr/>
        </p:nvGrpSpPr>
        <p:grpSpPr>
          <a:xfrm rot="0">
            <a:off x="2372620" y="4087711"/>
            <a:ext cx="4456957" cy="1136152"/>
            <a:chOff x="0" y="0"/>
            <a:chExt cx="5942609" cy="1514869"/>
          </a:xfrm>
        </p:grpSpPr>
        <p:sp>
          <p:nvSpPr>
            <p:cNvPr name="Freeform 19" id="19"/>
            <p:cNvSpPr/>
            <p:nvPr/>
          </p:nvSpPr>
          <p:spPr>
            <a:xfrm flipH="false" flipV="false" rot="0">
              <a:off x="12700" y="12700"/>
              <a:ext cx="5917184" cy="1489456"/>
            </a:xfrm>
            <a:custGeom>
              <a:avLst/>
              <a:gdLst/>
              <a:ahLst/>
              <a:cxnLst/>
              <a:rect r="r" b="b" t="t" l="l"/>
              <a:pathLst>
                <a:path h="1489456" w="5917184">
                  <a:moveTo>
                    <a:pt x="0" y="104267"/>
                  </a:moveTo>
                  <a:cubicBezTo>
                    <a:pt x="0" y="46736"/>
                    <a:pt x="47244" y="0"/>
                    <a:pt x="105537" y="0"/>
                  </a:cubicBezTo>
                  <a:lnTo>
                    <a:pt x="5811647" y="0"/>
                  </a:lnTo>
                  <a:cubicBezTo>
                    <a:pt x="5869940" y="0"/>
                    <a:pt x="5917184" y="46736"/>
                    <a:pt x="5917184" y="104267"/>
                  </a:cubicBezTo>
                  <a:lnTo>
                    <a:pt x="5917184" y="1385189"/>
                  </a:lnTo>
                  <a:cubicBezTo>
                    <a:pt x="5917184" y="1442720"/>
                    <a:pt x="5869940" y="1489456"/>
                    <a:pt x="5811647" y="1489456"/>
                  </a:cubicBezTo>
                  <a:lnTo>
                    <a:pt x="105537" y="1489456"/>
                  </a:lnTo>
                  <a:cubicBezTo>
                    <a:pt x="47244" y="1489456"/>
                    <a:pt x="0" y="1442720"/>
                    <a:pt x="0" y="1385189"/>
                  </a:cubicBezTo>
                  <a:close/>
                </a:path>
              </a:pathLst>
            </a:custGeom>
            <a:solidFill>
              <a:srgbClr val="FFFAFA"/>
            </a:solidFill>
          </p:spPr>
        </p:sp>
        <p:sp>
          <p:nvSpPr>
            <p:cNvPr name="Freeform 20" id="20"/>
            <p:cNvSpPr/>
            <p:nvPr/>
          </p:nvSpPr>
          <p:spPr>
            <a:xfrm flipH="false" flipV="false" rot="0">
              <a:off x="0" y="0"/>
              <a:ext cx="5942584" cy="1514856"/>
            </a:xfrm>
            <a:custGeom>
              <a:avLst/>
              <a:gdLst/>
              <a:ahLst/>
              <a:cxnLst/>
              <a:rect r="r" b="b" t="t" l="l"/>
              <a:pathLst>
                <a:path h="1514856" w="5942584">
                  <a:moveTo>
                    <a:pt x="0" y="116967"/>
                  </a:moveTo>
                  <a:cubicBezTo>
                    <a:pt x="0" y="52197"/>
                    <a:pt x="53086" y="0"/>
                    <a:pt x="118237" y="0"/>
                  </a:cubicBezTo>
                  <a:lnTo>
                    <a:pt x="5824347" y="0"/>
                  </a:lnTo>
                  <a:lnTo>
                    <a:pt x="5824347" y="12700"/>
                  </a:lnTo>
                  <a:lnTo>
                    <a:pt x="5824347" y="0"/>
                  </a:lnTo>
                  <a:cubicBezTo>
                    <a:pt x="5889498" y="0"/>
                    <a:pt x="5942584" y="52197"/>
                    <a:pt x="5942584" y="116967"/>
                  </a:cubicBezTo>
                  <a:lnTo>
                    <a:pt x="5929884" y="116967"/>
                  </a:lnTo>
                  <a:lnTo>
                    <a:pt x="5942584" y="116967"/>
                  </a:lnTo>
                  <a:lnTo>
                    <a:pt x="5942584" y="1397889"/>
                  </a:lnTo>
                  <a:lnTo>
                    <a:pt x="5929884" y="1397889"/>
                  </a:lnTo>
                  <a:lnTo>
                    <a:pt x="5942584" y="1397889"/>
                  </a:lnTo>
                  <a:cubicBezTo>
                    <a:pt x="5942584" y="1462659"/>
                    <a:pt x="5889498" y="1514856"/>
                    <a:pt x="5824347" y="1514856"/>
                  </a:cubicBezTo>
                  <a:lnTo>
                    <a:pt x="5824347" y="1502156"/>
                  </a:lnTo>
                  <a:lnTo>
                    <a:pt x="5824347" y="1514856"/>
                  </a:lnTo>
                  <a:lnTo>
                    <a:pt x="118237" y="1514856"/>
                  </a:lnTo>
                  <a:lnTo>
                    <a:pt x="118237" y="1502156"/>
                  </a:lnTo>
                  <a:lnTo>
                    <a:pt x="118237" y="1514856"/>
                  </a:lnTo>
                  <a:cubicBezTo>
                    <a:pt x="53086" y="1514856"/>
                    <a:pt x="0" y="1462659"/>
                    <a:pt x="0" y="1397889"/>
                  </a:cubicBezTo>
                  <a:lnTo>
                    <a:pt x="0" y="116967"/>
                  </a:lnTo>
                  <a:lnTo>
                    <a:pt x="12700" y="116967"/>
                  </a:lnTo>
                  <a:lnTo>
                    <a:pt x="0" y="116967"/>
                  </a:lnTo>
                  <a:moveTo>
                    <a:pt x="25400" y="116967"/>
                  </a:moveTo>
                  <a:lnTo>
                    <a:pt x="25400" y="1397889"/>
                  </a:lnTo>
                  <a:lnTo>
                    <a:pt x="12700" y="1397889"/>
                  </a:lnTo>
                  <a:lnTo>
                    <a:pt x="25400" y="1397889"/>
                  </a:lnTo>
                  <a:cubicBezTo>
                    <a:pt x="25400" y="1448308"/>
                    <a:pt x="66802" y="1489456"/>
                    <a:pt x="118237" y="1489456"/>
                  </a:cubicBezTo>
                  <a:lnTo>
                    <a:pt x="5824347" y="1489456"/>
                  </a:lnTo>
                  <a:cubicBezTo>
                    <a:pt x="5875782" y="1489456"/>
                    <a:pt x="5917184" y="1448308"/>
                    <a:pt x="5917184" y="1397889"/>
                  </a:cubicBezTo>
                  <a:lnTo>
                    <a:pt x="5917184" y="116967"/>
                  </a:lnTo>
                  <a:cubicBezTo>
                    <a:pt x="5917184" y="66548"/>
                    <a:pt x="5875782" y="25400"/>
                    <a:pt x="5824347" y="25400"/>
                  </a:cubicBezTo>
                  <a:lnTo>
                    <a:pt x="118237" y="25400"/>
                  </a:lnTo>
                  <a:lnTo>
                    <a:pt x="118237" y="12700"/>
                  </a:lnTo>
                  <a:lnTo>
                    <a:pt x="118237" y="25400"/>
                  </a:lnTo>
                  <a:cubicBezTo>
                    <a:pt x="66802" y="25400"/>
                    <a:pt x="25400" y="66548"/>
                    <a:pt x="25400" y="116967"/>
                  </a:cubicBezTo>
                  <a:close/>
                </a:path>
              </a:pathLst>
            </a:custGeom>
            <a:solidFill>
              <a:srgbClr val="BBC2DC"/>
            </a:solidFill>
          </p:spPr>
        </p:sp>
      </p:grpSp>
      <p:grpSp>
        <p:nvGrpSpPr>
          <p:cNvPr name="Group 21" id="21"/>
          <p:cNvGrpSpPr/>
          <p:nvPr/>
        </p:nvGrpSpPr>
        <p:grpSpPr>
          <a:xfrm rot="0">
            <a:off x="2401195" y="4116286"/>
            <a:ext cx="744741" cy="1079002"/>
            <a:chOff x="0" y="0"/>
            <a:chExt cx="992988" cy="1438669"/>
          </a:xfrm>
        </p:grpSpPr>
        <p:sp>
          <p:nvSpPr>
            <p:cNvPr name="Freeform 22" id="22"/>
            <p:cNvSpPr/>
            <p:nvPr/>
          </p:nvSpPr>
          <p:spPr>
            <a:xfrm flipH="false" flipV="false" rot="0">
              <a:off x="0" y="0"/>
              <a:ext cx="993013" cy="1438656"/>
            </a:xfrm>
            <a:custGeom>
              <a:avLst/>
              <a:gdLst/>
              <a:ahLst/>
              <a:cxnLst/>
              <a:rect r="r" b="b" t="t" l="l"/>
              <a:pathLst>
                <a:path h="1438656" w="993013">
                  <a:moveTo>
                    <a:pt x="0" y="73787"/>
                  </a:moveTo>
                  <a:cubicBezTo>
                    <a:pt x="0" y="33020"/>
                    <a:pt x="33020" y="0"/>
                    <a:pt x="73787" y="0"/>
                  </a:cubicBezTo>
                  <a:lnTo>
                    <a:pt x="919226" y="0"/>
                  </a:lnTo>
                  <a:cubicBezTo>
                    <a:pt x="959993" y="0"/>
                    <a:pt x="993013" y="33020"/>
                    <a:pt x="993013" y="73787"/>
                  </a:cubicBezTo>
                  <a:lnTo>
                    <a:pt x="993013" y="1364869"/>
                  </a:lnTo>
                  <a:cubicBezTo>
                    <a:pt x="993013" y="1405636"/>
                    <a:pt x="959993" y="1438656"/>
                    <a:pt x="919226" y="1438656"/>
                  </a:cubicBezTo>
                  <a:lnTo>
                    <a:pt x="73787" y="1438656"/>
                  </a:lnTo>
                  <a:cubicBezTo>
                    <a:pt x="33020" y="1438656"/>
                    <a:pt x="0" y="1405636"/>
                    <a:pt x="0" y="1364869"/>
                  </a:cubicBezTo>
                  <a:close/>
                </a:path>
              </a:pathLst>
            </a:custGeom>
            <a:solidFill>
              <a:srgbClr val="D5DCF6"/>
            </a:solidFill>
          </p:spPr>
        </p:sp>
      </p:grpSp>
      <p:grpSp>
        <p:nvGrpSpPr>
          <p:cNvPr name="Group 23" id="23"/>
          <p:cNvGrpSpPr/>
          <p:nvPr/>
        </p:nvGrpSpPr>
        <p:grpSpPr>
          <a:xfrm rot="0">
            <a:off x="2171995" y="4481217"/>
            <a:ext cx="736406" cy="349006"/>
            <a:chOff x="0" y="0"/>
            <a:chExt cx="981875" cy="465341"/>
          </a:xfrm>
        </p:grpSpPr>
        <p:sp>
          <p:nvSpPr>
            <p:cNvPr name="Freeform 24" id="24"/>
            <p:cNvSpPr/>
            <p:nvPr/>
          </p:nvSpPr>
          <p:spPr>
            <a:xfrm flipH="false" flipV="false" rot="0">
              <a:off x="0" y="0"/>
              <a:ext cx="981869" cy="465336"/>
            </a:xfrm>
            <a:custGeom>
              <a:avLst/>
              <a:gdLst/>
              <a:ahLst/>
              <a:cxnLst/>
              <a:rect r="r" b="b" t="t" l="l"/>
              <a:pathLst>
                <a:path h="465336" w="981869">
                  <a:moveTo>
                    <a:pt x="0" y="0"/>
                  </a:moveTo>
                  <a:lnTo>
                    <a:pt x="981869" y="0"/>
                  </a:lnTo>
                  <a:lnTo>
                    <a:pt x="981869" y="465336"/>
                  </a:lnTo>
                  <a:lnTo>
                    <a:pt x="0" y="465336"/>
                  </a:lnTo>
                  <a:close/>
                </a:path>
              </a:pathLst>
            </a:custGeom>
            <a:blipFill>
              <a:blip r:embed="rId3">
                <a:alphaModFix amt="0"/>
              </a:blip>
              <a:stretch>
                <a:fillRect l="-10807" t="0" r="-10807" b="-1"/>
              </a:stretch>
            </a:blipFill>
          </p:spPr>
        </p:sp>
        <p:sp>
          <p:nvSpPr>
            <p:cNvPr name="TextBox 25" id="25"/>
            <p:cNvSpPr txBox="true"/>
            <p:nvPr/>
          </p:nvSpPr>
          <p:spPr>
            <a:xfrm>
              <a:off x="0" y="0"/>
              <a:ext cx="981875" cy="465341"/>
            </a:xfrm>
            <a:prstGeom prst="rect">
              <a:avLst/>
            </a:prstGeom>
          </p:spPr>
          <p:txBody>
            <a:bodyPr anchor="ctr" rtlCol="false" tIns="0" lIns="0" bIns="0" rIns="0"/>
            <a:lstStyle/>
            <a:p>
              <a:pPr algn="ctr">
                <a:lnSpc>
                  <a:spcPts val="2520"/>
                </a:lnSpc>
              </a:pPr>
              <a:r>
                <a:rPr lang="en-US" sz="2100" b="true">
                  <a:solidFill>
                    <a:srgbClr val="3B3535"/>
                  </a:solidFill>
                  <a:latin typeface="Alexandria Bold"/>
                  <a:ea typeface="Alexandria Bold"/>
                  <a:cs typeface="Alexandria Bold"/>
                  <a:sym typeface="Alexandria Bold"/>
                </a:rPr>
                <a:t>2</a:t>
              </a:r>
            </a:p>
          </p:txBody>
        </p:sp>
      </p:grpSp>
      <p:sp>
        <p:nvSpPr>
          <p:cNvPr name="TextBox 26" id="26"/>
          <p:cNvSpPr txBox="true"/>
          <p:nvPr/>
        </p:nvSpPr>
        <p:spPr>
          <a:xfrm rot="0">
            <a:off x="3273923" y="4292946"/>
            <a:ext cx="3644208"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Dış Sıcaklık (-10–45 °C)</a:t>
            </a:r>
          </a:p>
        </p:txBody>
      </p:sp>
      <p:sp>
        <p:nvSpPr>
          <p:cNvPr name="TextBox 27" id="27"/>
          <p:cNvSpPr txBox="true"/>
          <p:nvPr/>
        </p:nvSpPr>
        <p:spPr>
          <a:xfrm rot="0">
            <a:off x="3273923" y="4698502"/>
            <a:ext cx="4255294"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Çok Soğuk, Soğuk, Ilıman, Sıcak</a:t>
            </a:r>
          </a:p>
        </p:txBody>
      </p:sp>
      <p:grpSp>
        <p:nvGrpSpPr>
          <p:cNvPr name="Group 28" id="28"/>
          <p:cNvGrpSpPr/>
          <p:nvPr/>
        </p:nvGrpSpPr>
        <p:grpSpPr>
          <a:xfrm rot="0">
            <a:off x="2372620" y="5332809"/>
            <a:ext cx="4456957" cy="1136152"/>
            <a:chOff x="0" y="0"/>
            <a:chExt cx="5942609" cy="1514869"/>
          </a:xfrm>
        </p:grpSpPr>
        <p:sp>
          <p:nvSpPr>
            <p:cNvPr name="Freeform 29" id="29"/>
            <p:cNvSpPr/>
            <p:nvPr/>
          </p:nvSpPr>
          <p:spPr>
            <a:xfrm flipH="false" flipV="false" rot="0">
              <a:off x="12700" y="12700"/>
              <a:ext cx="5917184" cy="1489456"/>
            </a:xfrm>
            <a:custGeom>
              <a:avLst/>
              <a:gdLst/>
              <a:ahLst/>
              <a:cxnLst/>
              <a:rect r="r" b="b" t="t" l="l"/>
              <a:pathLst>
                <a:path h="1489456" w="5917184">
                  <a:moveTo>
                    <a:pt x="0" y="104267"/>
                  </a:moveTo>
                  <a:cubicBezTo>
                    <a:pt x="0" y="46736"/>
                    <a:pt x="47244" y="0"/>
                    <a:pt x="105537" y="0"/>
                  </a:cubicBezTo>
                  <a:lnTo>
                    <a:pt x="5811647" y="0"/>
                  </a:lnTo>
                  <a:cubicBezTo>
                    <a:pt x="5869940" y="0"/>
                    <a:pt x="5917184" y="46736"/>
                    <a:pt x="5917184" y="104267"/>
                  </a:cubicBezTo>
                  <a:lnTo>
                    <a:pt x="5917184" y="1385189"/>
                  </a:lnTo>
                  <a:cubicBezTo>
                    <a:pt x="5917184" y="1442720"/>
                    <a:pt x="5869940" y="1489456"/>
                    <a:pt x="5811647" y="1489456"/>
                  </a:cubicBezTo>
                  <a:lnTo>
                    <a:pt x="105537" y="1489456"/>
                  </a:lnTo>
                  <a:cubicBezTo>
                    <a:pt x="47244" y="1489456"/>
                    <a:pt x="0" y="1442720"/>
                    <a:pt x="0" y="1385189"/>
                  </a:cubicBezTo>
                  <a:close/>
                </a:path>
              </a:pathLst>
            </a:custGeom>
            <a:solidFill>
              <a:srgbClr val="FFFAFA"/>
            </a:solidFill>
          </p:spPr>
        </p:sp>
        <p:sp>
          <p:nvSpPr>
            <p:cNvPr name="Freeform 30" id="30"/>
            <p:cNvSpPr/>
            <p:nvPr/>
          </p:nvSpPr>
          <p:spPr>
            <a:xfrm flipH="false" flipV="false" rot="0">
              <a:off x="0" y="0"/>
              <a:ext cx="5942584" cy="1514856"/>
            </a:xfrm>
            <a:custGeom>
              <a:avLst/>
              <a:gdLst/>
              <a:ahLst/>
              <a:cxnLst/>
              <a:rect r="r" b="b" t="t" l="l"/>
              <a:pathLst>
                <a:path h="1514856" w="5942584">
                  <a:moveTo>
                    <a:pt x="0" y="116967"/>
                  </a:moveTo>
                  <a:cubicBezTo>
                    <a:pt x="0" y="52197"/>
                    <a:pt x="53086" y="0"/>
                    <a:pt x="118237" y="0"/>
                  </a:cubicBezTo>
                  <a:lnTo>
                    <a:pt x="5824347" y="0"/>
                  </a:lnTo>
                  <a:lnTo>
                    <a:pt x="5824347" y="12700"/>
                  </a:lnTo>
                  <a:lnTo>
                    <a:pt x="5824347" y="0"/>
                  </a:lnTo>
                  <a:cubicBezTo>
                    <a:pt x="5889498" y="0"/>
                    <a:pt x="5942584" y="52197"/>
                    <a:pt x="5942584" y="116967"/>
                  </a:cubicBezTo>
                  <a:lnTo>
                    <a:pt x="5929884" y="116967"/>
                  </a:lnTo>
                  <a:lnTo>
                    <a:pt x="5942584" y="116967"/>
                  </a:lnTo>
                  <a:lnTo>
                    <a:pt x="5942584" y="1397889"/>
                  </a:lnTo>
                  <a:lnTo>
                    <a:pt x="5929884" y="1397889"/>
                  </a:lnTo>
                  <a:lnTo>
                    <a:pt x="5942584" y="1397889"/>
                  </a:lnTo>
                  <a:cubicBezTo>
                    <a:pt x="5942584" y="1462659"/>
                    <a:pt x="5889498" y="1514856"/>
                    <a:pt x="5824347" y="1514856"/>
                  </a:cubicBezTo>
                  <a:lnTo>
                    <a:pt x="5824347" y="1502156"/>
                  </a:lnTo>
                  <a:lnTo>
                    <a:pt x="5824347" y="1514856"/>
                  </a:lnTo>
                  <a:lnTo>
                    <a:pt x="118237" y="1514856"/>
                  </a:lnTo>
                  <a:lnTo>
                    <a:pt x="118237" y="1502156"/>
                  </a:lnTo>
                  <a:lnTo>
                    <a:pt x="118237" y="1514856"/>
                  </a:lnTo>
                  <a:cubicBezTo>
                    <a:pt x="53086" y="1514856"/>
                    <a:pt x="0" y="1462659"/>
                    <a:pt x="0" y="1397889"/>
                  </a:cubicBezTo>
                  <a:lnTo>
                    <a:pt x="0" y="116967"/>
                  </a:lnTo>
                  <a:lnTo>
                    <a:pt x="12700" y="116967"/>
                  </a:lnTo>
                  <a:lnTo>
                    <a:pt x="0" y="116967"/>
                  </a:lnTo>
                  <a:moveTo>
                    <a:pt x="25400" y="116967"/>
                  </a:moveTo>
                  <a:lnTo>
                    <a:pt x="25400" y="1397889"/>
                  </a:lnTo>
                  <a:lnTo>
                    <a:pt x="12700" y="1397889"/>
                  </a:lnTo>
                  <a:lnTo>
                    <a:pt x="25400" y="1397889"/>
                  </a:lnTo>
                  <a:cubicBezTo>
                    <a:pt x="25400" y="1448308"/>
                    <a:pt x="66802" y="1489456"/>
                    <a:pt x="118237" y="1489456"/>
                  </a:cubicBezTo>
                  <a:lnTo>
                    <a:pt x="5824347" y="1489456"/>
                  </a:lnTo>
                  <a:cubicBezTo>
                    <a:pt x="5875782" y="1489456"/>
                    <a:pt x="5917184" y="1448308"/>
                    <a:pt x="5917184" y="1397889"/>
                  </a:cubicBezTo>
                  <a:lnTo>
                    <a:pt x="5917184" y="116967"/>
                  </a:lnTo>
                  <a:cubicBezTo>
                    <a:pt x="5917184" y="66548"/>
                    <a:pt x="5875782" y="25400"/>
                    <a:pt x="5824347" y="25400"/>
                  </a:cubicBezTo>
                  <a:lnTo>
                    <a:pt x="118237" y="25400"/>
                  </a:lnTo>
                  <a:lnTo>
                    <a:pt x="118237" y="12700"/>
                  </a:lnTo>
                  <a:lnTo>
                    <a:pt x="118237" y="25400"/>
                  </a:lnTo>
                  <a:cubicBezTo>
                    <a:pt x="66802" y="25400"/>
                    <a:pt x="25400" y="66548"/>
                    <a:pt x="25400" y="116967"/>
                  </a:cubicBezTo>
                  <a:close/>
                </a:path>
              </a:pathLst>
            </a:custGeom>
            <a:solidFill>
              <a:srgbClr val="BBC2DC"/>
            </a:solidFill>
          </p:spPr>
        </p:sp>
      </p:grpSp>
      <p:grpSp>
        <p:nvGrpSpPr>
          <p:cNvPr name="Group 31" id="31"/>
          <p:cNvGrpSpPr/>
          <p:nvPr/>
        </p:nvGrpSpPr>
        <p:grpSpPr>
          <a:xfrm rot="0">
            <a:off x="2401195" y="5361384"/>
            <a:ext cx="744741" cy="1079002"/>
            <a:chOff x="0" y="0"/>
            <a:chExt cx="992988" cy="1438669"/>
          </a:xfrm>
        </p:grpSpPr>
        <p:sp>
          <p:nvSpPr>
            <p:cNvPr name="Freeform 32" id="32"/>
            <p:cNvSpPr/>
            <p:nvPr/>
          </p:nvSpPr>
          <p:spPr>
            <a:xfrm flipH="false" flipV="false" rot="0">
              <a:off x="0" y="0"/>
              <a:ext cx="993013" cy="1438656"/>
            </a:xfrm>
            <a:custGeom>
              <a:avLst/>
              <a:gdLst/>
              <a:ahLst/>
              <a:cxnLst/>
              <a:rect r="r" b="b" t="t" l="l"/>
              <a:pathLst>
                <a:path h="1438656" w="993013">
                  <a:moveTo>
                    <a:pt x="0" y="73787"/>
                  </a:moveTo>
                  <a:cubicBezTo>
                    <a:pt x="0" y="33020"/>
                    <a:pt x="33020" y="0"/>
                    <a:pt x="73787" y="0"/>
                  </a:cubicBezTo>
                  <a:lnTo>
                    <a:pt x="919226" y="0"/>
                  </a:lnTo>
                  <a:cubicBezTo>
                    <a:pt x="959993" y="0"/>
                    <a:pt x="993013" y="33020"/>
                    <a:pt x="993013" y="73787"/>
                  </a:cubicBezTo>
                  <a:lnTo>
                    <a:pt x="993013" y="1364869"/>
                  </a:lnTo>
                  <a:cubicBezTo>
                    <a:pt x="993013" y="1405636"/>
                    <a:pt x="959993" y="1438656"/>
                    <a:pt x="919226" y="1438656"/>
                  </a:cubicBezTo>
                  <a:lnTo>
                    <a:pt x="73787" y="1438656"/>
                  </a:lnTo>
                  <a:cubicBezTo>
                    <a:pt x="33020" y="1438656"/>
                    <a:pt x="0" y="1405636"/>
                    <a:pt x="0" y="1364869"/>
                  </a:cubicBezTo>
                  <a:close/>
                </a:path>
              </a:pathLst>
            </a:custGeom>
            <a:solidFill>
              <a:srgbClr val="D5DCF6"/>
            </a:solidFill>
          </p:spPr>
        </p:sp>
      </p:grpSp>
      <p:grpSp>
        <p:nvGrpSpPr>
          <p:cNvPr name="Group 33" id="33"/>
          <p:cNvGrpSpPr/>
          <p:nvPr/>
        </p:nvGrpSpPr>
        <p:grpSpPr>
          <a:xfrm rot="0">
            <a:off x="2171995" y="5726306"/>
            <a:ext cx="736406" cy="349006"/>
            <a:chOff x="0" y="0"/>
            <a:chExt cx="981875" cy="465341"/>
          </a:xfrm>
        </p:grpSpPr>
        <p:sp>
          <p:nvSpPr>
            <p:cNvPr name="Freeform 34" id="34"/>
            <p:cNvSpPr/>
            <p:nvPr/>
          </p:nvSpPr>
          <p:spPr>
            <a:xfrm flipH="false" flipV="false" rot="0">
              <a:off x="0" y="0"/>
              <a:ext cx="981869" cy="465336"/>
            </a:xfrm>
            <a:custGeom>
              <a:avLst/>
              <a:gdLst/>
              <a:ahLst/>
              <a:cxnLst/>
              <a:rect r="r" b="b" t="t" l="l"/>
              <a:pathLst>
                <a:path h="465336" w="981869">
                  <a:moveTo>
                    <a:pt x="0" y="0"/>
                  </a:moveTo>
                  <a:lnTo>
                    <a:pt x="981869" y="0"/>
                  </a:lnTo>
                  <a:lnTo>
                    <a:pt x="981869" y="465336"/>
                  </a:lnTo>
                  <a:lnTo>
                    <a:pt x="0" y="465336"/>
                  </a:lnTo>
                  <a:close/>
                </a:path>
              </a:pathLst>
            </a:custGeom>
            <a:blipFill>
              <a:blip r:embed="rId3">
                <a:alphaModFix amt="0"/>
              </a:blip>
              <a:stretch>
                <a:fillRect l="-10807" t="0" r="-10807" b="-1"/>
              </a:stretch>
            </a:blipFill>
          </p:spPr>
        </p:sp>
        <p:sp>
          <p:nvSpPr>
            <p:cNvPr name="TextBox 35" id="35"/>
            <p:cNvSpPr txBox="true"/>
            <p:nvPr/>
          </p:nvSpPr>
          <p:spPr>
            <a:xfrm>
              <a:off x="0" y="0"/>
              <a:ext cx="981875" cy="465341"/>
            </a:xfrm>
            <a:prstGeom prst="rect">
              <a:avLst/>
            </a:prstGeom>
          </p:spPr>
          <p:txBody>
            <a:bodyPr anchor="ctr" rtlCol="false" tIns="0" lIns="0" bIns="0" rIns="0"/>
            <a:lstStyle/>
            <a:p>
              <a:pPr algn="ctr">
                <a:lnSpc>
                  <a:spcPts val="2520"/>
                </a:lnSpc>
              </a:pPr>
              <a:r>
                <a:rPr lang="en-US" sz="2100" b="true">
                  <a:solidFill>
                    <a:srgbClr val="3B3535"/>
                  </a:solidFill>
                  <a:latin typeface="Alexandria Bold"/>
                  <a:ea typeface="Alexandria Bold"/>
                  <a:cs typeface="Alexandria Bold"/>
                  <a:sym typeface="Alexandria Bold"/>
                </a:rPr>
                <a:t>3</a:t>
              </a:r>
            </a:p>
          </p:txBody>
        </p:sp>
      </p:grpSp>
      <p:sp>
        <p:nvSpPr>
          <p:cNvPr name="TextBox 36" id="36"/>
          <p:cNvSpPr txBox="true"/>
          <p:nvPr/>
        </p:nvSpPr>
        <p:spPr>
          <a:xfrm rot="0">
            <a:off x="3273923" y="5538045"/>
            <a:ext cx="3364259"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Nem (%0–100)</a:t>
            </a:r>
          </a:p>
        </p:txBody>
      </p:sp>
      <p:sp>
        <p:nvSpPr>
          <p:cNvPr name="TextBox 37" id="37"/>
          <p:cNvSpPr txBox="true"/>
          <p:nvPr/>
        </p:nvSpPr>
        <p:spPr>
          <a:xfrm rot="0">
            <a:off x="3273923" y="5943600"/>
            <a:ext cx="4255294"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Kuru, Normal, Nemli, Çok Nemli</a:t>
            </a:r>
          </a:p>
        </p:txBody>
      </p:sp>
      <p:grpSp>
        <p:nvGrpSpPr>
          <p:cNvPr name="Group 38" id="38"/>
          <p:cNvGrpSpPr/>
          <p:nvPr/>
        </p:nvGrpSpPr>
        <p:grpSpPr>
          <a:xfrm rot="0">
            <a:off x="2372620" y="6577908"/>
            <a:ext cx="4456957" cy="1136152"/>
            <a:chOff x="0" y="0"/>
            <a:chExt cx="5942609" cy="1514869"/>
          </a:xfrm>
        </p:grpSpPr>
        <p:sp>
          <p:nvSpPr>
            <p:cNvPr name="Freeform 39" id="39"/>
            <p:cNvSpPr/>
            <p:nvPr/>
          </p:nvSpPr>
          <p:spPr>
            <a:xfrm flipH="false" flipV="false" rot="0">
              <a:off x="12700" y="12700"/>
              <a:ext cx="5917184" cy="1489456"/>
            </a:xfrm>
            <a:custGeom>
              <a:avLst/>
              <a:gdLst/>
              <a:ahLst/>
              <a:cxnLst/>
              <a:rect r="r" b="b" t="t" l="l"/>
              <a:pathLst>
                <a:path h="1489456" w="5917184">
                  <a:moveTo>
                    <a:pt x="0" y="104267"/>
                  </a:moveTo>
                  <a:cubicBezTo>
                    <a:pt x="0" y="46736"/>
                    <a:pt x="47244" y="0"/>
                    <a:pt x="105537" y="0"/>
                  </a:cubicBezTo>
                  <a:lnTo>
                    <a:pt x="5811647" y="0"/>
                  </a:lnTo>
                  <a:cubicBezTo>
                    <a:pt x="5869940" y="0"/>
                    <a:pt x="5917184" y="46736"/>
                    <a:pt x="5917184" y="104267"/>
                  </a:cubicBezTo>
                  <a:lnTo>
                    <a:pt x="5917184" y="1385189"/>
                  </a:lnTo>
                  <a:cubicBezTo>
                    <a:pt x="5917184" y="1442720"/>
                    <a:pt x="5869940" y="1489456"/>
                    <a:pt x="5811647" y="1489456"/>
                  </a:cubicBezTo>
                  <a:lnTo>
                    <a:pt x="105537" y="1489456"/>
                  </a:lnTo>
                  <a:cubicBezTo>
                    <a:pt x="47244" y="1489456"/>
                    <a:pt x="0" y="1442720"/>
                    <a:pt x="0" y="1385189"/>
                  </a:cubicBezTo>
                  <a:close/>
                </a:path>
              </a:pathLst>
            </a:custGeom>
            <a:solidFill>
              <a:srgbClr val="FFFAFA"/>
            </a:solidFill>
          </p:spPr>
        </p:sp>
        <p:sp>
          <p:nvSpPr>
            <p:cNvPr name="Freeform 40" id="40"/>
            <p:cNvSpPr/>
            <p:nvPr/>
          </p:nvSpPr>
          <p:spPr>
            <a:xfrm flipH="false" flipV="false" rot="0">
              <a:off x="0" y="0"/>
              <a:ext cx="5942584" cy="1514856"/>
            </a:xfrm>
            <a:custGeom>
              <a:avLst/>
              <a:gdLst/>
              <a:ahLst/>
              <a:cxnLst/>
              <a:rect r="r" b="b" t="t" l="l"/>
              <a:pathLst>
                <a:path h="1514856" w="5942584">
                  <a:moveTo>
                    <a:pt x="0" y="116967"/>
                  </a:moveTo>
                  <a:cubicBezTo>
                    <a:pt x="0" y="52197"/>
                    <a:pt x="53086" y="0"/>
                    <a:pt x="118237" y="0"/>
                  </a:cubicBezTo>
                  <a:lnTo>
                    <a:pt x="5824347" y="0"/>
                  </a:lnTo>
                  <a:lnTo>
                    <a:pt x="5824347" y="12700"/>
                  </a:lnTo>
                  <a:lnTo>
                    <a:pt x="5824347" y="0"/>
                  </a:lnTo>
                  <a:cubicBezTo>
                    <a:pt x="5889498" y="0"/>
                    <a:pt x="5942584" y="52197"/>
                    <a:pt x="5942584" y="116967"/>
                  </a:cubicBezTo>
                  <a:lnTo>
                    <a:pt x="5929884" y="116967"/>
                  </a:lnTo>
                  <a:lnTo>
                    <a:pt x="5942584" y="116967"/>
                  </a:lnTo>
                  <a:lnTo>
                    <a:pt x="5942584" y="1397889"/>
                  </a:lnTo>
                  <a:lnTo>
                    <a:pt x="5929884" y="1397889"/>
                  </a:lnTo>
                  <a:lnTo>
                    <a:pt x="5942584" y="1397889"/>
                  </a:lnTo>
                  <a:cubicBezTo>
                    <a:pt x="5942584" y="1462659"/>
                    <a:pt x="5889498" y="1514856"/>
                    <a:pt x="5824347" y="1514856"/>
                  </a:cubicBezTo>
                  <a:lnTo>
                    <a:pt x="5824347" y="1502156"/>
                  </a:lnTo>
                  <a:lnTo>
                    <a:pt x="5824347" y="1514856"/>
                  </a:lnTo>
                  <a:lnTo>
                    <a:pt x="118237" y="1514856"/>
                  </a:lnTo>
                  <a:lnTo>
                    <a:pt x="118237" y="1502156"/>
                  </a:lnTo>
                  <a:lnTo>
                    <a:pt x="118237" y="1514856"/>
                  </a:lnTo>
                  <a:cubicBezTo>
                    <a:pt x="53086" y="1514856"/>
                    <a:pt x="0" y="1462659"/>
                    <a:pt x="0" y="1397889"/>
                  </a:cubicBezTo>
                  <a:lnTo>
                    <a:pt x="0" y="116967"/>
                  </a:lnTo>
                  <a:lnTo>
                    <a:pt x="12700" y="116967"/>
                  </a:lnTo>
                  <a:lnTo>
                    <a:pt x="0" y="116967"/>
                  </a:lnTo>
                  <a:moveTo>
                    <a:pt x="25400" y="116967"/>
                  </a:moveTo>
                  <a:lnTo>
                    <a:pt x="25400" y="1397889"/>
                  </a:lnTo>
                  <a:lnTo>
                    <a:pt x="12700" y="1397889"/>
                  </a:lnTo>
                  <a:lnTo>
                    <a:pt x="25400" y="1397889"/>
                  </a:lnTo>
                  <a:cubicBezTo>
                    <a:pt x="25400" y="1448308"/>
                    <a:pt x="66802" y="1489456"/>
                    <a:pt x="118237" y="1489456"/>
                  </a:cubicBezTo>
                  <a:lnTo>
                    <a:pt x="5824347" y="1489456"/>
                  </a:lnTo>
                  <a:cubicBezTo>
                    <a:pt x="5875782" y="1489456"/>
                    <a:pt x="5917184" y="1448308"/>
                    <a:pt x="5917184" y="1397889"/>
                  </a:cubicBezTo>
                  <a:lnTo>
                    <a:pt x="5917184" y="116967"/>
                  </a:lnTo>
                  <a:cubicBezTo>
                    <a:pt x="5917184" y="66548"/>
                    <a:pt x="5875782" y="25400"/>
                    <a:pt x="5824347" y="25400"/>
                  </a:cubicBezTo>
                  <a:lnTo>
                    <a:pt x="118237" y="25400"/>
                  </a:lnTo>
                  <a:lnTo>
                    <a:pt x="118237" y="12700"/>
                  </a:lnTo>
                  <a:lnTo>
                    <a:pt x="118237" y="25400"/>
                  </a:lnTo>
                  <a:cubicBezTo>
                    <a:pt x="66802" y="25400"/>
                    <a:pt x="25400" y="66548"/>
                    <a:pt x="25400" y="116967"/>
                  </a:cubicBezTo>
                  <a:close/>
                </a:path>
              </a:pathLst>
            </a:custGeom>
            <a:solidFill>
              <a:srgbClr val="BBC2DC"/>
            </a:solidFill>
          </p:spPr>
        </p:sp>
      </p:grpSp>
      <p:grpSp>
        <p:nvGrpSpPr>
          <p:cNvPr name="Group 41" id="41"/>
          <p:cNvGrpSpPr/>
          <p:nvPr/>
        </p:nvGrpSpPr>
        <p:grpSpPr>
          <a:xfrm rot="0">
            <a:off x="2401195" y="6606483"/>
            <a:ext cx="744741" cy="1079002"/>
            <a:chOff x="0" y="0"/>
            <a:chExt cx="992988" cy="1438669"/>
          </a:xfrm>
        </p:grpSpPr>
        <p:sp>
          <p:nvSpPr>
            <p:cNvPr name="Freeform 42" id="42"/>
            <p:cNvSpPr/>
            <p:nvPr/>
          </p:nvSpPr>
          <p:spPr>
            <a:xfrm flipH="false" flipV="false" rot="0">
              <a:off x="0" y="0"/>
              <a:ext cx="993013" cy="1438656"/>
            </a:xfrm>
            <a:custGeom>
              <a:avLst/>
              <a:gdLst/>
              <a:ahLst/>
              <a:cxnLst/>
              <a:rect r="r" b="b" t="t" l="l"/>
              <a:pathLst>
                <a:path h="1438656" w="993013">
                  <a:moveTo>
                    <a:pt x="0" y="73787"/>
                  </a:moveTo>
                  <a:cubicBezTo>
                    <a:pt x="0" y="33020"/>
                    <a:pt x="33020" y="0"/>
                    <a:pt x="73787" y="0"/>
                  </a:cubicBezTo>
                  <a:lnTo>
                    <a:pt x="919226" y="0"/>
                  </a:lnTo>
                  <a:cubicBezTo>
                    <a:pt x="959993" y="0"/>
                    <a:pt x="993013" y="33020"/>
                    <a:pt x="993013" y="73787"/>
                  </a:cubicBezTo>
                  <a:lnTo>
                    <a:pt x="993013" y="1364869"/>
                  </a:lnTo>
                  <a:cubicBezTo>
                    <a:pt x="993013" y="1405636"/>
                    <a:pt x="959993" y="1438656"/>
                    <a:pt x="919226" y="1438656"/>
                  </a:cubicBezTo>
                  <a:lnTo>
                    <a:pt x="73787" y="1438656"/>
                  </a:lnTo>
                  <a:cubicBezTo>
                    <a:pt x="33020" y="1438656"/>
                    <a:pt x="0" y="1405636"/>
                    <a:pt x="0" y="1364869"/>
                  </a:cubicBezTo>
                  <a:close/>
                </a:path>
              </a:pathLst>
            </a:custGeom>
            <a:solidFill>
              <a:srgbClr val="D5DCF6"/>
            </a:solidFill>
          </p:spPr>
        </p:sp>
      </p:grpSp>
      <p:grpSp>
        <p:nvGrpSpPr>
          <p:cNvPr name="Group 43" id="43"/>
          <p:cNvGrpSpPr/>
          <p:nvPr/>
        </p:nvGrpSpPr>
        <p:grpSpPr>
          <a:xfrm rot="0">
            <a:off x="2171995" y="6971405"/>
            <a:ext cx="736406" cy="349006"/>
            <a:chOff x="0" y="0"/>
            <a:chExt cx="981875" cy="465341"/>
          </a:xfrm>
        </p:grpSpPr>
        <p:sp>
          <p:nvSpPr>
            <p:cNvPr name="Freeform 44" id="44"/>
            <p:cNvSpPr/>
            <p:nvPr/>
          </p:nvSpPr>
          <p:spPr>
            <a:xfrm flipH="false" flipV="false" rot="0">
              <a:off x="0" y="0"/>
              <a:ext cx="981869" cy="465336"/>
            </a:xfrm>
            <a:custGeom>
              <a:avLst/>
              <a:gdLst/>
              <a:ahLst/>
              <a:cxnLst/>
              <a:rect r="r" b="b" t="t" l="l"/>
              <a:pathLst>
                <a:path h="465336" w="981869">
                  <a:moveTo>
                    <a:pt x="0" y="0"/>
                  </a:moveTo>
                  <a:lnTo>
                    <a:pt x="981869" y="0"/>
                  </a:lnTo>
                  <a:lnTo>
                    <a:pt x="981869" y="465336"/>
                  </a:lnTo>
                  <a:lnTo>
                    <a:pt x="0" y="465336"/>
                  </a:lnTo>
                  <a:close/>
                </a:path>
              </a:pathLst>
            </a:custGeom>
            <a:blipFill>
              <a:blip r:embed="rId3">
                <a:alphaModFix amt="0"/>
              </a:blip>
              <a:stretch>
                <a:fillRect l="-10807" t="0" r="-10807" b="-1"/>
              </a:stretch>
            </a:blipFill>
          </p:spPr>
        </p:sp>
        <p:sp>
          <p:nvSpPr>
            <p:cNvPr name="TextBox 45" id="45"/>
            <p:cNvSpPr txBox="true"/>
            <p:nvPr/>
          </p:nvSpPr>
          <p:spPr>
            <a:xfrm>
              <a:off x="0" y="0"/>
              <a:ext cx="981875" cy="465341"/>
            </a:xfrm>
            <a:prstGeom prst="rect">
              <a:avLst/>
            </a:prstGeom>
          </p:spPr>
          <p:txBody>
            <a:bodyPr anchor="ctr" rtlCol="false" tIns="0" lIns="0" bIns="0" rIns="0"/>
            <a:lstStyle/>
            <a:p>
              <a:pPr algn="ctr">
                <a:lnSpc>
                  <a:spcPts val="2520"/>
                </a:lnSpc>
              </a:pPr>
              <a:r>
                <a:rPr lang="en-US" sz="2100" b="true">
                  <a:solidFill>
                    <a:srgbClr val="3B3535"/>
                  </a:solidFill>
                  <a:latin typeface="Alexandria Bold"/>
                  <a:ea typeface="Alexandria Bold"/>
                  <a:cs typeface="Alexandria Bold"/>
                  <a:sym typeface="Alexandria Bold"/>
                </a:rPr>
                <a:t>4</a:t>
              </a:r>
            </a:p>
          </p:txBody>
        </p:sp>
      </p:grpSp>
      <p:sp>
        <p:nvSpPr>
          <p:cNvPr name="TextBox 46" id="46"/>
          <p:cNvSpPr txBox="true"/>
          <p:nvPr/>
        </p:nvSpPr>
        <p:spPr>
          <a:xfrm rot="0">
            <a:off x="3273923" y="6783143"/>
            <a:ext cx="3364259"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Kişi Sayısı (0–10)</a:t>
            </a:r>
          </a:p>
        </p:txBody>
      </p:sp>
      <p:sp>
        <p:nvSpPr>
          <p:cNvPr name="TextBox 47" id="47"/>
          <p:cNvSpPr txBox="true"/>
          <p:nvPr/>
        </p:nvSpPr>
        <p:spPr>
          <a:xfrm rot="0">
            <a:off x="3273923" y="7188698"/>
            <a:ext cx="4255294"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Az, Orta, Çok</a:t>
            </a:r>
          </a:p>
        </p:txBody>
      </p:sp>
      <p:grpSp>
        <p:nvGrpSpPr>
          <p:cNvPr name="Group 48" id="48"/>
          <p:cNvGrpSpPr/>
          <p:nvPr/>
        </p:nvGrpSpPr>
        <p:grpSpPr>
          <a:xfrm rot="0">
            <a:off x="2372620" y="7822997"/>
            <a:ext cx="4456957" cy="1136152"/>
            <a:chOff x="0" y="0"/>
            <a:chExt cx="5942609" cy="1514869"/>
          </a:xfrm>
        </p:grpSpPr>
        <p:sp>
          <p:nvSpPr>
            <p:cNvPr name="Freeform 49" id="49"/>
            <p:cNvSpPr/>
            <p:nvPr/>
          </p:nvSpPr>
          <p:spPr>
            <a:xfrm flipH="false" flipV="false" rot="0">
              <a:off x="12700" y="12700"/>
              <a:ext cx="5917184" cy="1489456"/>
            </a:xfrm>
            <a:custGeom>
              <a:avLst/>
              <a:gdLst/>
              <a:ahLst/>
              <a:cxnLst/>
              <a:rect r="r" b="b" t="t" l="l"/>
              <a:pathLst>
                <a:path h="1489456" w="5917184">
                  <a:moveTo>
                    <a:pt x="0" y="104267"/>
                  </a:moveTo>
                  <a:cubicBezTo>
                    <a:pt x="0" y="46736"/>
                    <a:pt x="47244" y="0"/>
                    <a:pt x="105537" y="0"/>
                  </a:cubicBezTo>
                  <a:lnTo>
                    <a:pt x="5811647" y="0"/>
                  </a:lnTo>
                  <a:cubicBezTo>
                    <a:pt x="5869940" y="0"/>
                    <a:pt x="5917184" y="46736"/>
                    <a:pt x="5917184" y="104267"/>
                  </a:cubicBezTo>
                  <a:lnTo>
                    <a:pt x="5917184" y="1385189"/>
                  </a:lnTo>
                  <a:cubicBezTo>
                    <a:pt x="5917184" y="1442720"/>
                    <a:pt x="5869940" y="1489456"/>
                    <a:pt x="5811647" y="1489456"/>
                  </a:cubicBezTo>
                  <a:lnTo>
                    <a:pt x="105537" y="1489456"/>
                  </a:lnTo>
                  <a:cubicBezTo>
                    <a:pt x="47244" y="1489456"/>
                    <a:pt x="0" y="1442720"/>
                    <a:pt x="0" y="1385189"/>
                  </a:cubicBezTo>
                  <a:close/>
                </a:path>
              </a:pathLst>
            </a:custGeom>
            <a:solidFill>
              <a:srgbClr val="FFFAFA"/>
            </a:solidFill>
          </p:spPr>
        </p:sp>
        <p:sp>
          <p:nvSpPr>
            <p:cNvPr name="Freeform 50" id="50"/>
            <p:cNvSpPr/>
            <p:nvPr/>
          </p:nvSpPr>
          <p:spPr>
            <a:xfrm flipH="false" flipV="false" rot="0">
              <a:off x="0" y="0"/>
              <a:ext cx="5942584" cy="1514856"/>
            </a:xfrm>
            <a:custGeom>
              <a:avLst/>
              <a:gdLst/>
              <a:ahLst/>
              <a:cxnLst/>
              <a:rect r="r" b="b" t="t" l="l"/>
              <a:pathLst>
                <a:path h="1514856" w="5942584">
                  <a:moveTo>
                    <a:pt x="0" y="116967"/>
                  </a:moveTo>
                  <a:cubicBezTo>
                    <a:pt x="0" y="52197"/>
                    <a:pt x="53086" y="0"/>
                    <a:pt x="118237" y="0"/>
                  </a:cubicBezTo>
                  <a:lnTo>
                    <a:pt x="5824347" y="0"/>
                  </a:lnTo>
                  <a:lnTo>
                    <a:pt x="5824347" y="12700"/>
                  </a:lnTo>
                  <a:lnTo>
                    <a:pt x="5824347" y="0"/>
                  </a:lnTo>
                  <a:cubicBezTo>
                    <a:pt x="5889498" y="0"/>
                    <a:pt x="5942584" y="52197"/>
                    <a:pt x="5942584" y="116967"/>
                  </a:cubicBezTo>
                  <a:lnTo>
                    <a:pt x="5929884" y="116967"/>
                  </a:lnTo>
                  <a:lnTo>
                    <a:pt x="5942584" y="116967"/>
                  </a:lnTo>
                  <a:lnTo>
                    <a:pt x="5942584" y="1397889"/>
                  </a:lnTo>
                  <a:lnTo>
                    <a:pt x="5929884" y="1397889"/>
                  </a:lnTo>
                  <a:lnTo>
                    <a:pt x="5942584" y="1397889"/>
                  </a:lnTo>
                  <a:cubicBezTo>
                    <a:pt x="5942584" y="1462659"/>
                    <a:pt x="5889498" y="1514856"/>
                    <a:pt x="5824347" y="1514856"/>
                  </a:cubicBezTo>
                  <a:lnTo>
                    <a:pt x="5824347" y="1502156"/>
                  </a:lnTo>
                  <a:lnTo>
                    <a:pt x="5824347" y="1514856"/>
                  </a:lnTo>
                  <a:lnTo>
                    <a:pt x="118237" y="1514856"/>
                  </a:lnTo>
                  <a:lnTo>
                    <a:pt x="118237" y="1502156"/>
                  </a:lnTo>
                  <a:lnTo>
                    <a:pt x="118237" y="1514856"/>
                  </a:lnTo>
                  <a:cubicBezTo>
                    <a:pt x="53086" y="1514856"/>
                    <a:pt x="0" y="1462659"/>
                    <a:pt x="0" y="1397889"/>
                  </a:cubicBezTo>
                  <a:lnTo>
                    <a:pt x="0" y="116967"/>
                  </a:lnTo>
                  <a:lnTo>
                    <a:pt x="12700" y="116967"/>
                  </a:lnTo>
                  <a:lnTo>
                    <a:pt x="0" y="116967"/>
                  </a:lnTo>
                  <a:moveTo>
                    <a:pt x="25400" y="116967"/>
                  </a:moveTo>
                  <a:lnTo>
                    <a:pt x="25400" y="1397889"/>
                  </a:lnTo>
                  <a:lnTo>
                    <a:pt x="12700" y="1397889"/>
                  </a:lnTo>
                  <a:lnTo>
                    <a:pt x="25400" y="1397889"/>
                  </a:lnTo>
                  <a:cubicBezTo>
                    <a:pt x="25400" y="1448308"/>
                    <a:pt x="66802" y="1489456"/>
                    <a:pt x="118237" y="1489456"/>
                  </a:cubicBezTo>
                  <a:lnTo>
                    <a:pt x="5824347" y="1489456"/>
                  </a:lnTo>
                  <a:cubicBezTo>
                    <a:pt x="5875782" y="1489456"/>
                    <a:pt x="5917184" y="1448308"/>
                    <a:pt x="5917184" y="1397889"/>
                  </a:cubicBezTo>
                  <a:lnTo>
                    <a:pt x="5917184" y="116967"/>
                  </a:lnTo>
                  <a:cubicBezTo>
                    <a:pt x="5917184" y="66548"/>
                    <a:pt x="5875782" y="25400"/>
                    <a:pt x="5824347" y="25400"/>
                  </a:cubicBezTo>
                  <a:lnTo>
                    <a:pt x="118237" y="25400"/>
                  </a:lnTo>
                  <a:lnTo>
                    <a:pt x="118237" y="12700"/>
                  </a:lnTo>
                  <a:lnTo>
                    <a:pt x="118237" y="25400"/>
                  </a:lnTo>
                  <a:cubicBezTo>
                    <a:pt x="66802" y="25400"/>
                    <a:pt x="25400" y="66548"/>
                    <a:pt x="25400" y="116967"/>
                  </a:cubicBezTo>
                  <a:close/>
                </a:path>
              </a:pathLst>
            </a:custGeom>
            <a:solidFill>
              <a:srgbClr val="BBC2DC"/>
            </a:solidFill>
          </p:spPr>
        </p:sp>
      </p:grpSp>
      <p:grpSp>
        <p:nvGrpSpPr>
          <p:cNvPr name="Group 51" id="51"/>
          <p:cNvGrpSpPr/>
          <p:nvPr/>
        </p:nvGrpSpPr>
        <p:grpSpPr>
          <a:xfrm rot="0">
            <a:off x="2401195" y="7851572"/>
            <a:ext cx="744741" cy="1079002"/>
            <a:chOff x="0" y="0"/>
            <a:chExt cx="992988" cy="1438669"/>
          </a:xfrm>
        </p:grpSpPr>
        <p:sp>
          <p:nvSpPr>
            <p:cNvPr name="Freeform 52" id="52"/>
            <p:cNvSpPr/>
            <p:nvPr/>
          </p:nvSpPr>
          <p:spPr>
            <a:xfrm flipH="false" flipV="false" rot="0">
              <a:off x="0" y="0"/>
              <a:ext cx="993013" cy="1438656"/>
            </a:xfrm>
            <a:custGeom>
              <a:avLst/>
              <a:gdLst/>
              <a:ahLst/>
              <a:cxnLst/>
              <a:rect r="r" b="b" t="t" l="l"/>
              <a:pathLst>
                <a:path h="1438656" w="993013">
                  <a:moveTo>
                    <a:pt x="0" y="73787"/>
                  </a:moveTo>
                  <a:cubicBezTo>
                    <a:pt x="0" y="33020"/>
                    <a:pt x="33020" y="0"/>
                    <a:pt x="73787" y="0"/>
                  </a:cubicBezTo>
                  <a:lnTo>
                    <a:pt x="919226" y="0"/>
                  </a:lnTo>
                  <a:cubicBezTo>
                    <a:pt x="959993" y="0"/>
                    <a:pt x="993013" y="33020"/>
                    <a:pt x="993013" y="73787"/>
                  </a:cubicBezTo>
                  <a:lnTo>
                    <a:pt x="993013" y="1364869"/>
                  </a:lnTo>
                  <a:cubicBezTo>
                    <a:pt x="993013" y="1405636"/>
                    <a:pt x="959993" y="1438656"/>
                    <a:pt x="919226" y="1438656"/>
                  </a:cubicBezTo>
                  <a:lnTo>
                    <a:pt x="73787" y="1438656"/>
                  </a:lnTo>
                  <a:cubicBezTo>
                    <a:pt x="33020" y="1438656"/>
                    <a:pt x="0" y="1405636"/>
                    <a:pt x="0" y="1364869"/>
                  </a:cubicBezTo>
                  <a:close/>
                </a:path>
              </a:pathLst>
            </a:custGeom>
            <a:solidFill>
              <a:srgbClr val="D5DCF6"/>
            </a:solidFill>
          </p:spPr>
        </p:sp>
      </p:grpSp>
      <p:grpSp>
        <p:nvGrpSpPr>
          <p:cNvPr name="Group 53" id="53"/>
          <p:cNvGrpSpPr/>
          <p:nvPr/>
        </p:nvGrpSpPr>
        <p:grpSpPr>
          <a:xfrm rot="0">
            <a:off x="2171995" y="8216503"/>
            <a:ext cx="736406" cy="349006"/>
            <a:chOff x="0" y="0"/>
            <a:chExt cx="981875" cy="465341"/>
          </a:xfrm>
        </p:grpSpPr>
        <p:sp>
          <p:nvSpPr>
            <p:cNvPr name="Freeform 54" id="54"/>
            <p:cNvSpPr/>
            <p:nvPr/>
          </p:nvSpPr>
          <p:spPr>
            <a:xfrm flipH="false" flipV="false" rot="0">
              <a:off x="0" y="0"/>
              <a:ext cx="981869" cy="465336"/>
            </a:xfrm>
            <a:custGeom>
              <a:avLst/>
              <a:gdLst/>
              <a:ahLst/>
              <a:cxnLst/>
              <a:rect r="r" b="b" t="t" l="l"/>
              <a:pathLst>
                <a:path h="465336" w="981869">
                  <a:moveTo>
                    <a:pt x="0" y="0"/>
                  </a:moveTo>
                  <a:lnTo>
                    <a:pt x="981869" y="0"/>
                  </a:lnTo>
                  <a:lnTo>
                    <a:pt x="981869" y="465336"/>
                  </a:lnTo>
                  <a:lnTo>
                    <a:pt x="0" y="465336"/>
                  </a:lnTo>
                  <a:close/>
                </a:path>
              </a:pathLst>
            </a:custGeom>
            <a:blipFill>
              <a:blip r:embed="rId3">
                <a:alphaModFix amt="0"/>
              </a:blip>
              <a:stretch>
                <a:fillRect l="-10807" t="0" r="-10807" b="-1"/>
              </a:stretch>
            </a:blipFill>
          </p:spPr>
        </p:sp>
        <p:sp>
          <p:nvSpPr>
            <p:cNvPr name="TextBox 55" id="55"/>
            <p:cNvSpPr txBox="true"/>
            <p:nvPr/>
          </p:nvSpPr>
          <p:spPr>
            <a:xfrm>
              <a:off x="0" y="0"/>
              <a:ext cx="981875" cy="465341"/>
            </a:xfrm>
            <a:prstGeom prst="rect">
              <a:avLst/>
            </a:prstGeom>
          </p:spPr>
          <p:txBody>
            <a:bodyPr anchor="ctr" rtlCol="false" tIns="0" lIns="0" bIns="0" rIns="0"/>
            <a:lstStyle/>
            <a:p>
              <a:pPr algn="ctr">
                <a:lnSpc>
                  <a:spcPts val="2520"/>
                </a:lnSpc>
              </a:pPr>
              <a:r>
                <a:rPr lang="en-US" sz="2100" b="true">
                  <a:solidFill>
                    <a:srgbClr val="3B3535"/>
                  </a:solidFill>
                  <a:latin typeface="Alexandria Bold"/>
                  <a:ea typeface="Alexandria Bold"/>
                  <a:cs typeface="Alexandria Bold"/>
                  <a:sym typeface="Alexandria Bold"/>
                </a:rPr>
                <a:t>5</a:t>
              </a:r>
            </a:p>
          </p:txBody>
        </p:sp>
      </p:grpSp>
      <p:sp>
        <p:nvSpPr>
          <p:cNvPr name="TextBox 56" id="56"/>
          <p:cNvSpPr txBox="true"/>
          <p:nvPr/>
        </p:nvSpPr>
        <p:spPr>
          <a:xfrm rot="0">
            <a:off x="3273923" y="8028232"/>
            <a:ext cx="3364259"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Günün Saati (0–23)</a:t>
            </a:r>
          </a:p>
        </p:txBody>
      </p:sp>
      <p:sp>
        <p:nvSpPr>
          <p:cNvPr name="TextBox 57" id="57"/>
          <p:cNvSpPr txBox="true"/>
          <p:nvPr/>
        </p:nvSpPr>
        <p:spPr>
          <a:xfrm rot="0">
            <a:off x="3273923" y="8433787"/>
            <a:ext cx="4255294"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Gece, Sabah, Öğlen, Akşam</a:t>
            </a:r>
          </a:p>
        </p:txBody>
      </p:sp>
      <p:grpSp>
        <p:nvGrpSpPr>
          <p:cNvPr name="Group 58" id="58"/>
          <p:cNvGrpSpPr/>
          <p:nvPr/>
        </p:nvGrpSpPr>
        <p:grpSpPr>
          <a:xfrm rot="0">
            <a:off x="10111826" y="2261587"/>
            <a:ext cx="2975077" cy="5751757"/>
            <a:chOff x="0" y="0"/>
            <a:chExt cx="3966769" cy="7669009"/>
          </a:xfrm>
        </p:grpSpPr>
        <p:sp>
          <p:nvSpPr>
            <p:cNvPr name="Freeform 59" id="59" descr="preencoded.png"/>
            <p:cNvSpPr/>
            <p:nvPr/>
          </p:nvSpPr>
          <p:spPr>
            <a:xfrm flipH="false" flipV="false" rot="0">
              <a:off x="0" y="0"/>
              <a:ext cx="3966718" cy="7669022"/>
            </a:xfrm>
            <a:custGeom>
              <a:avLst/>
              <a:gdLst/>
              <a:ahLst/>
              <a:cxnLst/>
              <a:rect r="r" b="b" t="t" l="l"/>
              <a:pathLst>
                <a:path h="7669022" w="3966718">
                  <a:moveTo>
                    <a:pt x="0" y="0"/>
                  </a:moveTo>
                  <a:lnTo>
                    <a:pt x="3966718" y="0"/>
                  </a:lnTo>
                  <a:lnTo>
                    <a:pt x="3966718" y="7669022"/>
                  </a:lnTo>
                  <a:lnTo>
                    <a:pt x="0" y="7669022"/>
                  </a:lnTo>
                  <a:lnTo>
                    <a:pt x="0" y="0"/>
                  </a:lnTo>
                  <a:close/>
                </a:path>
              </a:pathLst>
            </a:custGeom>
            <a:blipFill>
              <a:blip r:embed="rId4"/>
              <a:stretch>
                <a:fillRect l="0" t="-66" r="-1" b="-66"/>
              </a:stretch>
            </a:blipFill>
          </p:spPr>
        </p:sp>
      </p:grpSp>
      <p:grpSp>
        <p:nvGrpSpPr>
          <p:cNvPr name="Group 60" id="60"/>
          <p:cNvGrpSpPr/>
          <p:nvPr/>
        </p:nvGrpSpPr>
        <p:grpSpPr>
          <a:xfrm rot="0">
            <a:off x="7279034" y="8152505"/>
            <a:ext cx="4261104" cy="1392441"/>
            <a:chOff x="0" y="0"/>
            <a:chExt cx="5681472" cy="1856588"/>
          </a:xfrm>
        </p:grpSpPr>
        <p:sp>
          <p:nvSpPr>
            <p:cNvPr name="Freeform 61" id="61"/>
            <p:cNvSpPr/>
            <p:nvPr/>
          </p:nvSpPr>
          <p:spPr>
            <a:xfrm flipH="false" flipV="false" rot="0">
              <a:off x="6350" y="6350"/>
              <a:ext cx="5668772" cy="1843913"/>
            </a:xfrm>
            <a:custGeom>
              <a:avLst/>
              <a:gdLst/>
              <a:ahLst/>
              <a:cxnLst/>
              <a:rect r="r" b="b" t="t" l="l"/>
              <a:pathLst>
                <a:path h="1843913" w="5668772">
                  <a:moveTo>
                    <a:pt x="0" y="104267"/>
                  </a:moveTo>
                  <a:cubicBezTo>
                    <a:pt x="0" y="46736"/>
                    <a:pt x="46863" y="0"/>
                    <a:pt x="104775" y="0"/>
                  </a:cubicBezTo>
                  <a:lnTo>
                    <a:pt x="5563997" y="0"/>
                  </a:lnTo>
                  <a:cubicBezTo>
                    <a:pt x="5621909" y="0"/>
                    <a:pt x="5668772" y="46736"/>
                    <a:pt x="5668772" y="104267"/>
                  </a:cubicBezTo>
                  <a:lnTo>
                    <a:pt x="5668772" y="1739646"/>
                  </a:lnTo>
                  <a:cubicBezTo>
                    <a:pt x="5668772" y="1797177"/>
                    <a:pt x="5621909" y="1843913"/>
                    <a:pt x="5563997" y="1843913"/>
                  </a:cubicBezTo>
                  <a:lnTo>
                    <a:pt x="104775" y="1843913"/>
                  </a:lnTo>
                  <a:cubicBezTo>
                    <a:pt x="46863" y="1843913"/>
                    <a:pt x="0" y="1797177"/>
                    <a:pt x="0" y="1739646"/>
                  </a:cubicBezTo>
                  <a:close/>
                </a:path>
              </a:pathLst>
            </a:custGeom>
            <a:solidFill>
              <a:srgbClr val="D5DCF6"/>
            </a:solidFill>
          </p:spPr>
        </p:sp>
        <p:sp>
          <p:nvSpPr>
            <p:cNvPr name="Freeform 62" id="62"/>
            <p:cNvSpPr/>
            <p:nvPr/>
          </p:nvSpPr>
          <p:spPr>
            <a:xfrm flipH="false" flipV="false" rot="0">
              <a:off x="0" y="0"/>
              <a:ext cx="5681472" cy="1856613"/>
            </a:xfrm>
            <a:custGeom>
              <a:avLst/>
              <a:gdLst/>
              <a:ahLst/>
              <a:cxnLst/>
              <a:rect r="r" b="b" t="t" l="l"/>
              <a:pathLst>
                <a:path h="1856613" w="5681472">
                  <a:moveTo>
                    <a:pt x="0" y="110617"/>
                  </a:moveTo>
                  <a:cubicBezTo>
                    <a:pt x="0" y="49530"/>
                    <a:pt x="49784" y="0"/>
                    <a:pt x="111125" y="0"/>
                  </a:cubicBezTo>
                  <a:lnTo>
                    <a:pt x="5570347" y="0"/>
                  </a:lnTo>
                  <a:lnTo>
                    <a:pt x="5570347" y="6350"/>
                  </a:lnTo>
                  <a:lnTo>
                    <a:pt x="5570347" y="0"/>
                  </a:lnTo>
                  <a:cubicBezTo>
                    <a:pt x="5631688" y="0"/>
                    <a:pt x="5681472" y="49530"/>
                    <a:pt x="5681472" y="110617"/>
                  </a:cubicBezTo>
                  <a:lnTo>
                    <a:pt x="5675122" y="110617"/>
                  </a:lnTo>
                  <a:lnTo>
                    <a:pt x="5681472" y="110617"/>
                  </a:lnTo>
                  <a:lnTo>
                    <a:pt x="5681472" y="1745996"/>
                  </a:lnTo>
                  <a:lnTo>
                    <a:pt x="5675122" y="1745996"/>
                  </a:lnTo>
                  <a:lnTo>
                    <a:pt x="5681472" y="1745996"/>
                  </a:lnTo>
                  <a:cubicBezTo>
                    <a:pt x="5681472" y="1807083"/>
                    <a:pt x="5631688" y="1856613"/>
                    <a:pt x="5570347" y="1856613"/>
                  </a:cubicBezTo>
                  <a:lnTo>
                    <a:pt x="5570347" y="1850263"/>
                  </a:lnTo>
                  <a:lnTo>
                    <a:pt x="5570347" y="1856613"/>
                  </a:lnTo>
                  <a:lnTo>
                    <a:pt x="111125" y="1856613"/>
                  </a:lnTo>
                  <a:lnTo>
                    <a:pt x="111125" y="1850263"/>
                  </a:lnTo>
                  <a:lnTo>
                    <a:pt x="111125" y="1856613"/>
                  </a:lnTo>
                  <a:cubicBezTo>
                    <a:pt x="49784" y="1856613"/>
                    <a:pt x="0" y="1807083"/>
                    <a:pt x="0" y="1745996"/>
                  </a:cubicBezTo>
                  <a:lnTo>
                    <a:pt x="0" y="110617"/>
                  </a:lnTo>
                  <a:lnTo>
                    <a:pt x="6350" y="110617"/>
                  </a:lnTo>
                  <a:lnTo>
                    <a:pt x="0" y="110617"/>
                  </a:lnTo>
                  <a:moveTo>
                    <a:pt x="12700" y="110617"/>
                  </a:moveTo>
                  <a:lnTo>
                    <a:pt x="12700" y="1745996"/>
                  </a:lnTo>
                  <a:lnTo>
                    <a:pt x="6350" y="1745996"/>
                  </a:lnTo>
                  <a:lnTo>
                    <a:pt x="12700" y="1745996"/>
                  </a:lnTo>
                  <a:cubicBezTo>
                    <a:pt x="12700" y="1800098"/>
                    <a:pt x="56769" y="1843913"/>
                    <a:pt x="111125" y="1843913"/>
                  </a:cubicBezTo>
                  <a:lnTo>
                    <a:pt x="5570347" y="1843913"/>
                  </a:lnTo>
                  <a:cubicBezTo>
                    <a:pt x="5624703" y="1843913"/>
                    <a:pt x="5668772" y="1800098"/>
                    <a:pt x="5668772" y="1745996"/>
                  </a:cubicBezTo>
                  <a:lnTo>
                    <a:pt x="5668772" y="110617"/>
                  </a:lnTo>
                  <a:cubicBezTo>
                    <a:pt x="5668772" y="56515"/>
                    <a:pt x="5624703" y="12700"/>
                    <a:pt x="5570347" y="12700"/>
                  </a:cubicBezTo>
                  <a:lnTo>
                    <a:pt x="111125" y="12700"/>
                  </a:lnTo>
                  <a:lnTo>
                    <a:pt x="111125" y="6350"/>
                  </a:lnTo>
                  <a:lnTo>
                    <a:pt x="111125" y="12700"/>
                  </a:lnTo>
                  <a:cubicBezTo>
                    <a:pt x="56769" y="12700"/>
                    <a:pt x="12700" y="56515"/>
                    <a:pt x="12700" y="110617"/>
                  </a:cubicBezTo>
                  <a:close/>
                </a:path>
              </a:pathLst>
            </a:custGeom>
            <a:solidFill>
              <a:srgbClr val="BBC2DC"/>
            </a:solidFill>
          </p:spPr>
        </p:sp>
      </p:grpSp>
      <p:sp>
        <p:nvSpPr>
          <p:cNvPr name="TextBox 63" id="63"/>
          <p:cNvSpPr txBox="true"/>
          <p:nvPr/>
        </p:nvSpPr>
        <p:spPr>
          <a:xfrm rot="0">
            <a:off x="7479506" y="8343452"/>
            <a:ext cx="3364259" cy="315668"/>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Fan Hızı (%0–100)</a:t>
            </a:r>
          </a:p>
        </p:txBody>
      </p:sp>
      <p:sp>
        <p:nvSpPr>
          <p:cNvPr name="TextBox 64" id="64"/>
          <p:cNvSpPr txBox="true"/>
          <p:nvPr/>
        </p:nvSpPr>
        <p:spPr>
          <a:xfrm rot="0">
            <a:off x="7479506" y="8749008"/>
            <a:ext cx="4774559"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Kapalı, Düşük, Orta, Yüksek, Maksimum</a:t>
            </a:r>
          </a:p>
        </p:txBody>
      </p:sp>
      <p:grpSp>
        <p:nvGrpSpPr>
          <p:cNvPr name="Group 65" id="65"/>
          <p:cNvGrpSpPr/>
          <p:nvPr/>
        </p:nvGrpSpPr>
        <p:grpSpPr>
          <a:xfrm rot="0">
            <a:off x="11658600" y="8152505"/>
            <a:ext cx="4261247" cy="1392441"/>
            <a:chOff x="0" y="0"/>
            <a:chExt cx="5681662" cy="1856588"/>
          </a:xfrm>
        </p:grpSpPr>
        <p:sp>
          <p:nvSpPr>
            <p:cNvPr name="Freeform 66" id="66"/>
            <p:cNvSpPr/>
            <p:nvPr/>
          </p:nvSpPr>
          <p:spPr>
            <a:xfrm flipH="false" flipV="false" rot="0">
              <a:off x="6350" y="6350"/>
              <a:ext cx="5669026" cy="1843913"/>
            </a:xfrm>
            <a:custGeom>
              <a:avLst/>
              <a:gdLst/>
              <a:ahLst/>
              <a:cxnLst/>
              <a:rect r="r" b="b" t="t" l="l"/>
              <a:pathLst>
                <a:path h="1843913" w="5669026">
                  <a:moveTo>
                    <a:pt x="0" y="104267"/>
                  </a:moveTo>
                  <a:cubicBezTo>
                    <a:pt x="0" y="46736"/>
                    <a:pt x="46863" y="0"/>
                    <a:pt x="104775" y="0"/>
                  </a:cubicBezTo>
                  <a:lnTo>
                    <a:pt x="5564251" y="0"/>
                  </a:lnTo>
                  <a:cubicBezTo>
                    <a:pt x="5622163" y="0"/>
                    <a:pt x="5669026" y="46736"/>
                    <a:pt x="5669026" y="104267"/>
                  </a:cubicBezTo>
                  <a:lnTo>
                    <a:pt x="5669026" y="1739646"/>
                  </a:lnTo>
                  <a:cubicBezTo>
                    <a:pt x="5669026" y="1797177"/>
                    <a:pt x="5622163" y="1843913"/>
                    <a:pt x="5564251" y="1843913"/>
                  </a:cubicBezTo>
                  <a:lnTo>
                    <a:pt x="104775" y="1843913"/>
                  </a:lnTo>
                  <a:cubicBezTo>
                    <a:pt x="46863" y="1843913"/>
                    <a:pt x="0" y="1797177"/>
                    <a:pt x="0" y="1739646"/>
                  </a:cubicBezTo>
                  <a:close/>
                </a:path>
              </a:pathLst>
            </a:custGeom>
            <a:solidFill>
              <a:srgbClr val="D5DCF6"/>
            </a:solidFill>
          </p:spPr>
        </p:sp>
        <p:sp>
          <p:nvSpPr>
            <p:cNvPr name="Freeform 67" id="67"/>
            <p:cNvSpPr/>
            <p:nvPr/>
          </p:nvSpPr>
          <p:spPr>
            <a:xfrm flipH="false" flipV="false" rot="0">
              <a:off x="0" y="0"/>
              <a:ext cx="5681726" cy="1856613"/>
            </a:xfrm>
            <a:custGeom>
              <a:avLst/>
              <a:gdLst/>
              <a:ahLst/>
              <a:cxnLst/>
              <a:rect r="r" b="b" t="t" l="l"/>
              <a:pathLst>
                <a:path h="1856613" w="5681726">
                  <a:moveTo>
                    <a:pt x="0" y="110617"/>
                  </a:moveTo>
                  <a:cubicBezTo>
                    <a:pt x="0" y="49530"/>
                    <a:pt x="49784" y="0"/>
                    <a:pt x="111125" y="0"/>
                  </a:cubicBezTo>
                  <a:lnTo>
                    <a:pt x="5570601" y="0"/>
                  </a:lnTo>
                  <a:lnTo>
                    <a:pt x="5570601" y="6350"/>
                  </a:lnTo>
                  <a:lnTo>
                    <a:pt x="5570601" y="0"/>
                  </a:lnTo>
                  <a:cubicBezTo>
                    <a:pt x="5631942" y="0"/>
                    <a:pt x="5681726" y="49530"/>
                    <a:pt x="5681726" y="110617"/>
                  </a:cubicBezTo>
                  <a:lnTo>
                    <a:pt x="5675376" y="110617"/>
                  </a:lnTo>
                  <a:lnTo>
                    <a:pt x="5681726" y="110617"/>
                  </a:lnTo>
                  <a:lnTo>
                    <a:pt x="5681726" y="1745996"/>
                  </a:lnTo>
                  <a:lnTo>
                    <a:pt x="5675376" y="1745996"/>
                  </a:lnTo>
                  <a:lnTo>
                    <a:pt x="5681726" y="1745996"/>
                  </a:lnTo>
                  <a:cubicBezTo>
                    <a:pt x="5681726" y="1807083"/>
                    <a:pt x="5631942" y="1856613"/>
                    <a:pt x="5570601" y="1856613"/>
                  </a:cubicBezTo>
                  <a:lnTo>
                    <a:pt x="5570601" y="1850263"/>
                  </a:lnTo>
                  <a:lnTo>
                    <a:pt x="5570601" y="1856613"/>
                  </a:lnTo>
                  <a:lnTo>
                    <a:pt x="111125" y="1856613"/>
                  </a:lnTo>
                  <a:lnTo>
                    <a:pt x="111125" y="1850263"/>
                  </a:lnTo>
                  <a:lnTo>
                    <a:pt x="111125" y="1856613"/>
                  </a:lnTo>
                  <a:cubicBezTo>
                    <a:pt x="49784" y="1856613"/>
                    <a:pt x="0" y="1807083"/>
                    <a:pt x="0" y="1745996"/>
                  </a:cubicBezTo>
                  <a:lnTo>
                    <a:pt x="0" y="110617"/>
                  </a:lnTo>
                  <a:lnTo>
                    <a:pt x="6350" y="110617"/>
                  </a:lnTo>
                  <a:lnTo>
                    <a:pt x="0" y="110617"/>
                  </a:lnTo>
                  <a:moveTo>
                    <a:pt x="12700" y="110617"/>
                  </a:moveTo>
                  <a:lnTo>
                    <a:pt x="12700" y="1745996"/>
                  </a:lnTo>
                  <a:lnTo>
                    <a:pt x="6350" y="1745996"/>
                  </a:lnTo>
                  <a:lnTo>
                    <a:pt x="12700" y="1745996"/>
                  </a:lnTo>
                  <a:cubicBezTo>
                    <a:pt x="12700" y="1800098"/>
                    <a:pt x="56769" y="1843913"/>
                    <a:pt x="111125" y="1843913"/>
                  </a:cubicBezTo>
                  <a:lnTo>
                    <a:pt x="5570601" y="1843913"/>
                  </a:lnTo>
                  <a:cubicBezTo>
                    <a:pt x="5624957" y="1843913"/>
                    <a:pt x="5669026" y="1800098"/>
                    <a:pt x="5669026" y="1745996"/>
                  </a:cubicBezTo>
                  <a:lnTo>
                    <a:pt x="5669026" y="110617"/>
                  </a:lnTo>
                  <a:cubicBezTo>
                    <a:pt x="5669026" y="56515"/>
                    <a:pt x="5624957" y="12700"/>
                    <a:pt x="5570601" y="12700"/>
                  </a:cubicBezTo>
                  <a:lnTo>
                    <a:pt x="111125" y="12700"/>
                  </a:lnTo>
                  <a:lnTo>
                    <a:pt x="111125" y="6350"/>
                  </a:lnTo>
                  <a:lnTo>
                    <a:pt x="111125" y="12700"/>
                  </a:lnTo>
                  <a:cubicBezTo>
                    <a:pt x="56769" y="12700"/>
                    <a:pt x="12700" y="56515"/>
                    <a:pt x="12700" y="110617"/>
                  </a:cubicBezTo>
                  <a:close/>
                </a:path>
              </a:pathLst>
            </a:custGeom>
            <a:solidFill>
              <a:srgbClr val="BBC2DC"/>
            </a:solidFill>
          </p:spPr>
        </p:sp>
      </p:grpSp>
      <p:sp>
        <p:nvSpPr>
          <p:cNvPr name="TextBox 68" id="68"/>
          <p:cNvSpPr txBox="true"/>
          <p:nvPr/>
        </p:nvSpPr>
        <p:spPr>
          <a:xfrm rot="0">
            <a:off x="11859073" y="8343452"/>
            <a:ext cx="3860302" cy="621802"/>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Isıtma/Soğutma Gücü (-100 / +100)</a:t>
            </a:r>
          </a:p>
        </p:txBody>
      </p:sp>
      <p:sp>
        <p:nvSpPr>
          <p:cNvPr name="TextBox 69" id="69"/>
          <p:cNvSpPr txBox="true"/>
          <p:nvPr/>
        </p:nvSpPr>
        <p:spPr>
          <a:xfrm rot="0">
            <a:off x="11859073" y="9055151"/>
            <a:ext cx="4774702" cy="289322"/>
          </a:xfrm>
          <a:prstGeom prst="rect">
            <a:avLst/>
          </a:prstGeom>
        </p:spPr>
        <p:txBody>
          <a:bodyPr anchor="t" rtlCol="false" tIns="0" lIns="0" bIns="0" rIns="0">
            <a:spAutoFit/>
          </a:bodyPr>
          <a:lstStyle/>
          <a:p>
            <a:pPr algn="l">
              <a:lnSpc>
                <a:spcPts val="1898"/>
              </a:lnSpc>
            </a:pPr>
            <a:r>
              <a:rPr lang="en-US" sz="1399">
                <a:solidFill>
                  <a:srgbClr val="3B3535"/>
                </a:solidFill>
                <a:latin typeface="Arimo"/>
                <a:ea typeface="Arimo"/>
                <a:cs typeface="Arimo"/>
                <a:sym typeface="Arimo"/>
              </a:rPr>
              <a:t>Güçlü Soğutma → Kapalı → Güçlü Isıtma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1306411" y="638470"/>
            <a:ext cx="14593338" cy="719433"/>
          </a:xfrm>
          <a:prstGeom prst="rect">
            <a:avLst/>
          </a:prstGeom>
        </p:spPr>
        <p:txBody>
          <a:bodyPr anchor="t" rtlCol="false" tIns="0" lIns="0" bIns="0" rIns="0">
            <a:spAutoFit/>
          </a:bodyPr>
          <a:lstStyle/>
          <a:p>
            <a:pPr algn="l">
              <a:lnSpc>
                <a:spcPts val="5491"/>
              </a:lnSpc>
            </a:pPr>
            <a:r>
              <a:rPr lang="en-US" sz="4400" b="true">
                <a:solidFill>
                  <a:srgbClr val="1F1E1E"/>
                </a:solidFill>
                <a:latin typeface="Alexandria Bold"/>
                <a:ea typeface="Alexandria Bold"/>
                <a:cs typeface="Alexandria Bold"/>
                <a:sym typeface="Alexandria Bold"/>
              </a:rPr>
              <a:t>3. Sistem Tasarımı: Sıcaklık Üyelik Fonksiyonları</a:t>
            </a:r>
          </a:p>
        </p:txBody>
      </p:sp>
      <p:sp>
        <p:nvSpPr>
          <p:cNvPr name="TextBox 7" id="7"/>
          <p:cNvSpPr txBox="true"/>
          <p:nvPr/>
        </p:nvSpPr>
        <p:spPr>
          <a:xfrm rot="0">
            <a:off x="1306411" y="1644701"/>
            <a:ext cx="15675026" cy="987628"/>
          </a:xfrm>
          <a:prstGeom prst="rect">
            <a:avLst/>
          </a:prstGeom>
        </p:spPr>
        <p:txBody>
          <a:bodyPr anchor="t" rtlCol="false" tIns="0" lIns="0" bIns="0" rIns="0">
            <a:spAutoFit/>
          </a:bodyPr>
          <a:lstStyle/>
          <a:p>
            <a:pPr algn="l">
              <a:lnSpc>
                <a:spcPts val="2304"/>
              </a:lnSpc>
            </a:pPr>
            <a:r>
              <a:rPr lang="en-US" sz="1600">
                <a:solidFill>
                  <a:srgbClr val="3B3535"/>
                </a:solidFill>
                <a:latin typeface="Arimo"/>
                <a:ea typeface="Arimo"/>
                <a:cs typeface="Arimo"/>
                <a:sym typeface="Arimo"/>
              </a:rPr>
              <a:t>Bulanıklaştırma (Fuzzification) aşamasında, sensörlerden gelen kesin (crisp) değerler üyelik fonksiyonları aracılığıyla </a:t>
            </a:r>
            <a:r>
              <a:rPr lang="en-US" sz="1600" b="true">
                <a:solidFill>
                  <a:srgbClr val="3B3535"/>
                </a:solidFill>
                <a:latin typeface="Arimo Bold"/>
                <a:ea typeface="Arimo Bold"/>
                <a:cs typeface="Arimo Bold"/>
                <a:sym typeface="Arimo Bold"/>
              </a:rPr>
              <a:t>0 ile 1 arasında</a:t>
            </a:r>
            <a:r>
              <a:rPr lang="en-US" sz="1600">
                <a:solidFill>
                  <a:srgbClr val="3B3535"/>
                </a:solidFill>
                <a:latin typeface="Arimo"/>
                <a:ea typeface="Arimo"/>
                <a:cs typeface="Arimo"/>
                <a:sym typeface="Arimo"/>
              </a:rPr>
              <a:t> değişen üyelik derecelerine dönüştürülür. Projede, sistemin yumuşak ve tutarlı bir tepki vermesi için özel olarak ayarlanmış </a:t>
            </a:r>
            <a:r>
              <a:rPr lang="en-US" sz="1600" b="true">
                <a:solidFill>
                  <a:srgbClr val="3B3535"/>
                </a:solidFill>
                <a:latin typeface="Arimo Bold"/>
                <a:ea typeface="Arimo Bold"/>
                <a:cs typeface="Arimo Bold"/>
                <a:sym typeface="Arimo Bold"/>
              </a:rPr>
              <a:t>Üçgen (trimf)</a:t>
            </a:r>
            <a:r>
              <a:rPr lang="en-US" sz="1600">
                <a:solidFill>
                  <a:srgbClr val="3B3535"/>
                </a:solidFill>
                <a:latin typeface="Arimo"/>
                <a:ea typeface="Arimo"/>
                <a:cs typeface="Arimo"/>
                <a:sym typeface="Arimo"/>
              </a:rPr>
              <a:t> ve </a:t>
            </a:r>
            <a:r>
              <a:rPr lang="en-US" sz="1600" b="true">
                <a:solidFill>
                  <a:srgbClr val="3B3535"/>
                </a:solidFill>
                <a:latin typeface="Arimo Bold"/>
                <a:ea typeface="Arimo Bold"/>
                <a:cs typeface="Arimo Bold"/>
                <a:sym typeface="Arimo Bold"/>
              </a:rPr>
              <a:t>Yamuk (trapmf)</a:t>
            </a:r>
            <a:r>
              <a:rPr lang="en-US" sz="1600">
                <a:solidFill>
                  <a:srgbClr val="3B3535"/>
                </a:solidFill>
                <a:latin typeface="Arimo"/>
                <a:ea typeface="Arimo"/>
                <a:cs typeface="Arimo"/>
                <a:sym typeface="Arimo"/>
              </a:rPr>
              <a:t> üyelik fonksiyonları tercih edilmiştir.</a:t>
            </a:r>
          </a:p>
        </p:txBody>
      </p:sp>
      <p:sp>
        <p:nvSpPr>
          <p:cNvPr name="TextBox 8" id="8"/>
          <p:cNvSpPr txBox="true"/>
          <p:nvPr/>
        </p:nvSpPr>
        <p:spPr>
          <a:xfrm rot="0">
            <a:off x="1306411" y="2988021"/>
            <a:ext cx="5048850" cy="364484"/>
          </a:xfrm>
          <a:prstGeom prst="rect">
            <a:avLst/>
          </a:prstGeom>
        </p:spPr>
        <p:txBody>
          <a:bodyPr anchor="t" rtlCol="false" tIns="0" lIns="0" bIns="0" rIns="0">
            <a:spAutoFit/>
          </a:bodyPr>
          <a:lstStyle/>
          <a:p>
            <a:pPr algn="l">
              <a:lnSpc>
                <a:spcPts val="2745"/>
              </a:lnSpc>
            </a:pPr>
            <a:r>
              <a:rPr lang="en-US" sz="2200" b="true">
                <a:solidFill>
                  <a:srgbClr val="1F1E1E"/>
                </a:solidFill>
                <a:latin typeface="Alexandria Bold"/>
                <a:ea typeface="Alexandria Bold"/>
                <a:cs typeface="Alexandria Bold"/>
                <a:sym typeface="Alexandria Bold"/>
              </a:rPr>
              <a:t>İç Sıcaklık Üyelik Fonksiyonu</a:t>
            </a:r>
          </a:p>
        </p:txBody>
      </p:sp>
      <p:grpSp>
        <p:nvGrpSpPr>
          <p:cNvPr name="Group 9" id="9"/>
          <p:cNvGrpSpPr/>
          <p:nvPr/>
        </p:nvGrpSpPr>
        <p:grpSpPr>
          <a:xfrm rot="0">
            <a:off x="1306411" y="3545834"/>
            <a:ext cx="10004374" cy="4287593"/>
            <a:chOff x="0" y="0"/>
            <a:chExt cx="13339166" cy="5716791"/>
          </a:xfrm>
        </p:grpSpPr>
        <p:sp>
          <p:nvSpPr>
            <p:cNvPr name="Freeform 10" id="10" descr="preencoded.png"/>
            <p:cNvSpPr/>
            <p:nvPr/>
          </p:nvSpPr>
          <p:spPr>
            <a:xfrm flipH="false" flipV="false" rot="0">
              <a:off x="0" y="0"/>
              <a:ext cx="13339190" cy="5716778"/>
            </a:xfrm>
            <a:custGeom>
              <a:avLst/>
              <a:gdLst/>
              <a:ahLst/>
              <a:cxnLst/>
              <a:rect r="r" b="b" t="t" l="l"/>
              <a:pathLst>
                <a:path h="5716778" w="13339190">
                  <a:moveTo>
                    <a:pt x="0" y="0"/>
                  </a:moveTo>
                  <a:lnTo>
                    <a:pt x="13339190" y="0"/>
                  </a:lnTo>
                  <a:lnTo>
                    <a:pt x="13339190" y="5716778"/>
                  </a:lnTo>
                  <a:lnTo>
                    <a:pt x="0" y="5716778"/>
                  </a:lnTo>
                  <a:lnTo>
                    <a:pt x="0" y="0"/>
                  </a:lnTo>
                  <a:close/>
                </a:path>
              </a:pathLst>
            </a:custGeom>
            <a:blipFill>
              <a:blip r:embed="rId3"/>
              <a:stretch>
                <a:fillRect l="0" t="0" r="0" b="0"/>
              </a:stretch>
            </a:blipFill>
          </p:spPr>
        </p:sp>
      </p:grpSp>
      <p:sp>
        <p:nvSpPr>
          <p:cNvPr name="TextBox 11" id="11"/>
          <p:cNvSpPr txBox="true"/>
          <p:nvPr/>
        </p:nvSpPr>
        <p:spPr>
          <a:xfrm rot="0">
            <a:off x="11846871" y="4029523"/>
            <a:ext cx="5245741" cy="364484"/>
          </a:xfrm>
          <a:prstGeom prst="rect">
            <a:avLst/>
          </a:prstGeom>
        </p:spPr>
        <p:txBody>
          <a:bodyPr anchor="t" rtlCol="false" tIns="0" lIns="0" bIns="0" rIns="0">
            <a:spAutoFit/>
          </a:bodyPr>
          <a:lstStyle/>
          <a:p>
            <a:pPr algn="l">
              <a:lnSpc>
                <a:spcPts val="2745"/>
              </a:lnSpc>
            </a:pPr>
            <a:r>
              <a:rPr lang="en-US" sz="2200" b="true">
                <a:solidFill>
                  <a:srgbClr val="1F1E1E"/>
                </a:solidFill>
                <a:latin typeface="Alexandria Bold"/>
                <a:ea typeface="Alexandria Bold"/>
                <a:cs typeface="Alexandria Bold"/>
                <a:sym typeface="Alexandria Bold"/>
              </a:rPr>
              <a:t>Dış Sıcaklık Üyelik Fonksiyonu</a:t>
            </a:r>
          </a:p>
        </p:txBody>
      </p:sp>
      <p:grpSp>
        <p:nvGrpSpPr>
          <p:cNvPr name="Group 12" id="12"/>
          <p:cNvGrpSpPr/>
          <p:nvPr/>
        </p:nvGrpSpPr>
        <p:grpSpPr>
          <a:xfrm rot="0">
            <a:off x="11846871" y="4587326"/>
            <a:ext cx="5143948" cy="2204437"/>
            <a:chOff x="0" y="0"/>
            <a:chExt cx="6858597" cy="2939250"/>
          </a:xfrm>
        </p:grpSpPr>
        <p:sp>
          <p:nvSpPr>
            <p:cNvPr name="Freeform 13" id="13" descr="preencoded.png"/>
            <p:cNvSpPr/>
            <p:nvPr/>
          </p:nvSpPr>
          <p:spPr>
            <a:xfrm flipH="false" flipV="false" rot="0">
              <a:off x="0" y="0"/>
              <a:ext cx="6858635" cy="2939288"/>
            </a:xfrm>
            <a:custGeom>
              <a:avLst/>
              <a:gdLst/>
              <a:ahLst/>
              <a:cxnLst/>
              <a:rect r="r" b="b" t="t" l="l"/>
              <a:pathLst>
                <a:path h="2939288" w="6858635">
                  <a:moveTo>
                    <a:pt x="0" y="0"/>
                  </a:moveTo>
                  <a:lnTo>
                    <a:pt x="6858635" y="0"/>
                  </a:lnTo>
                  <a:lnTo>
                    <a:pt x="6858635" y="2939288"/>
                  </a:lnTo>
                  <a:lnTo>
                    <a:pt x="0" y="2939288"/>
                  </a:lnTo>
                  <a:lnTo>
                    <a:pt x="0" y="0"/>
                  </a:lnTo>
                  <a:close/>
                </a:path>
              </a:pathLst>
            </a:custGeom>
            <a:blipFill>
              <a:blip r:embed="rId4"/>
              <a:stretch>
                <a:fillRect l="-90" t="0" r="-89" b="1"/>
              </a:stretch>
            </a:blipFill>
          </p:spPr>
        </p:sp>
      </p:grpSp>
      <p:grpSp>
        <p:nvGrpSpPr>
          <p:cNvPr name="Group 14" id="14"/>
          <p:cNvGrpSpPr/>
          <p:nvPr/>
        </p:nvGrpSpPr>
        <p:grpSpPr>
          <a:xfrm rot="0">
            <a:off x="1306411" y="8220075"/>
            <a:ext cx="15675026" cy="1418777"/>
            <a:chOff x="0" y="0"/>
            <a:chExt cx="20900034" cy="1891703"/>
          </a:xfrm>
        </p:grpSpPr>
        <p:sp>
          <p:nvSpPr>
            <p:cNvPr name="Freeform 15" id="15"/>
            <p:cNvSpPr/>
            <p:nvPr/>
          </p:nvSpPr>
          <p:spPr>
            <a:xfrm flipH="false" flipV="false" rot="0">
              <a:off x="0" y="0"/>
              <a:ext cx="20900137" cy="1891792"/>
            </a:xfrm>
            <a:custGeom>
              <a:avLst/>
              <a:gdLst/>
              <a:ahLst/>
              <a:cxnLst/>
              <a:rect r="r" b="b" t="t" l="l"/>
              <a:pathLst>
                <a:path h="1891792" w="20900137">
                  <a:moveTo>
                    <a:pt x="0" y="120904"/>
                  </a:moveTo>
                  <a:cubicBezTo>
                    <a:pt x="0" y="54102"/>
                    <a:pt x="54102" y="0"/>
                    <a:pt x="120904" y="0"/>
                  </a:cubicBezTo>
                  <a:lnTo>
                    <a:pt x="20779232" y="0"/>
                  </a:lnTo>
                  <a:cubicBezTo>
                    <a:pt x="20846035" y="0"/>
                    <a:pt x="20900137" y="54102"/>
                    <a:pt x="20900137" y="120904"/>
                  </a:cubicBezTo>
                  <a:lnTo>
                    <a:pt x="20900137" y="1770888"/>
                  </a:lnTo>
                  <a:cubicBezTo>
                    <a:pt x="20900137" y="1837690"/>
                    <a:pt x="20846035" y="1891792"/>
                    <a:pt x="20779232" y="1891792"/>
                  </a:cubicBezTo>
                  <a:lnTo>
                    <a:pt x="120904" y="1891792"/>
                  </a:lnTo>
                  <a:cubicBezTo>
                    <a:pt x="54102" y="1891792"/>
                    <a:pt x="0" y="1837690"/>
                    <a:pt x="0" y="1770888"/>
                  </a:cubicBezTo>
                  <a:close/>
                </a:path>
              </a:pathLst>
            </a:custGeom>
            <a:solidFill>
              <a:srgbClr val="B6D6FC"/>
            </a:solidFill>
          </p:spPr>
        </p:sp>
      </p:grpSp>
      <p:grpSp>
        <p:nvGrpSpPr>
          <p:cNvPr name="Group 16" id="16"/>
          <p:cNvGrpSpPr/>
          <p:nvPr/>
        </p:nvGrpSpPr>
        <p:grpSpPr>
          <a:xfrm rot="0">
            <a:off x="1522209" y="8519960"/>
            <a:ext cx="269672" cy="215798"/>
            <a:chOff x="0" y="0"/>
            <a:chExt cx="359562" cy="287731"/>
          </a:xfrm>
        </p:grpSpPr>
        <p:sp>
          <p:nvSpPr>
            <p:cNvPr name="Freeform 17" id="17" descr="preencoded.png"/>
            <p:cNvSpPr/>
            <p:nvPr/>
          </p:nvSpPr>
          <p:spPr>
            <a:xfrm flipH="false" flipV="false" rot="0">
              <a:off x="0" y="0"/>
              <a:ext cx="359537" cy="287782"/>
            </a:xfrm>
            <a:custGeom>
              <a:avLst/>
              <a:gdLst/>
              <a:ahLst/>
              <a:cxnLst/>
              <a:rect r="r" b="b" t="t" l="l"/>
              <a:pathLst>
                <a:path h="287782" w="359537">
                  <a:moveTo>
                    <a:pt x="0" y="0"/>
                  </a:moveTo>
                  <a:lnTo>
                    <a:pt x="359537" y="0"/>
                  </a:lnTo>
                  <a:lnTo>
                    <a:pt x="359537" y="287782"/>
                  </a:lnTo>
                  <a:lnTo>
                    <a:pt x="0" y="287782"/>
                  </a:lnTo>
                  <a:lnTo>
                    <a:pt x="0" y="0"/>
                  </a:lnTo>
                  <a:close/>
                </a:path>
              </a:pathLst>
            </a:custGeom>
            <a:blipFill>
              <a:blip r:embed="rId5"/>
              <a:stretch>
                <a:fillRect l="0" t="-1323" r="-7" b="-1310"/>
              </a:stretch>
            </a:blipFill>
          </p:spPr>
        </p:sp>
      </p:grpSp>
      <p:sp>
        <p:nvSpPr>
          <p:cNvPr name="TextBox 18" id="18"/>
          <p:cNvSpPr txBox="true"/>
          <p:nvPr/>
        </p:nvSpPr>
        <p:spPr>
          <a:xfrm rot="0">
            <a:off x="2007689" y="8388696"/>
            <a:ext cx="14757949" cy="987628"/>
          </a:xfrm>
          <a:prstGeom prst="rect">
            <a:avLst/>
          </a:prstGeom>
        </p:spPr>
        <p:txBody>
          <a:bodyPr anchor="t" rtlCol="false" tIns="0" lIns="0" bIns="0" rIns="0">
            <a:spAutoFit/>
          </a:bodyPr>
          <a:lstStyle/>
          <a:p>
            <a:pPr algn="l">
              <a:lnSpc>
                <a:spcPts val="2304"/>
              </a:lnSpc>
            </a:pPr>
            <a:r>
              <a:rPr lang="en-US" sz="1600">
                <a:solidFill>
                  <a:srgbClr val="000000"/>
                </a:solidFill>
                <a:latin typeface="Arimo"/>
                <a:ea typeface="Arimo"/>
                <a:cs typeface="Arimo"/>
                <a:sym typeface="Arimo"/>
              </a:rPr>
              <a:t>İç sıcaklık için "İdeal" aralığı (20–26 °C) üçgen fonksiyonla modellenmiştir. 23 °C tam 1.0 derecesinde "İdeal" kabul edilirken, 25 °C aynı anda hem "İdeal" hem de "Ilık" kümelerine belirli oranlarda üye olur. Bu çakışmalar sistemin "aniden" değil </a:t>
            </a:r>
            <a:r>
              <a:rPr lang="en-US" sz="1600" b="true">
                <a:solidFill>
                  <a:srgbClr val="000000"/>
                </a:solidFill>
                <a:latin typeface="Arimo Bold"/>
                <a:ea typeface="Arimo Bold"/>
                <a:cs typeface="Arimo Bold"/>
                <a:sym typeface="Arimo Bold"/>
              </a:rPr>
              <a:t>"kademeli"</a:t>
            </a:r>
            <a:r>
              <a:rPr lang="en-US" sz="1600">
                <a:solidFill>
                  <a:srgbClr val="000000"/>
                </a:solidFill>
                <a:latin typeface="Arimo"/>
                <a:ea typeface="Arimo"/>
                <a:cs typeface="Arimo"/>
                <a:sym typeface="Arimo"/>
              </a:rPr>
              <a:t> tepki vermesini sağlar.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1613887" y="667788"/>
            <a:ext cx="14157569" cy="700983"/>
          </a:xfrm>
          <a:prstGeom prst="rect">
            <a:avLst/>
          </a:prstGeom>
        </p:spPr>
        <p:txBody>
          <a:bodyPr anchor="t" rtlCol="false" tIns="0" lIns="0" bIns="0" rIns="0">
            <a:spAutoFit/>
          </a:bodyPr>
          <a:lstStyle/>
          <a:p>
            <a:pPr algn="l">
              <a:lnSpc>
                <a:spcPts val="5241"/>
              </a:lnSpc>
            </a:pPr>
            <a:r>
              <a:rPr lang="en-US" sz="4200" b="true">
                <a:solidFill>
                  <a:srgbClr val="1F1E1E"/>
                </a:solidFill>
                <a:latin typeface="Alexandria Bold"/>
                <a:ea typeface="Alexandria Bold"/>
                <a:cs typeface="Alexandria Bold"/>
                <a:sym typeface="Alexandria Bold"/>
              </a:rPr>
              <a:t>4. Sistem Tasarımı: Konforun Gizli Aktörü "Nem"</a:t>
            </a:r>
          </a:p>
        </p:txBody>
      </p:sp>
      <p:sp>
        <p:nvSpPr>
          <p:cNvPr name="TextBox 7" id="7"/>
          <p:cNvSpPr txBox="true"/>
          <p:nvPr/>
        </p:nvSpPr>
        <p:spPr>
          <a:xfrm rot="0">
            <a:off x="1613887" y="1638595"/>
            <a:ext cx="15060216" cy="633117"/>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Geleneksel iklimlendirme sistemlerinin en büyük kör noktası, havadaki nem oranını hesaba katmamalarıdır. İnsan vücudunun sıcaklık algısı (hissedilen sıcaklık), terlemenin buharlaşma hızını doğrudan etkileyen nem seviyesi ile birebir bağlantılıdır.</a:t>
            </a:r>
          </a:p>
        </p:txBody>
      </p:sp>
      <p:sp>
        <p:nvSpPr>
          <p:cNvPr name="TextBox 8" id="8"/>
          <p:cNvSpPr txBox="true"/>
          <p:nvPr/>
        </p:nvSpPr>
        <p:spPr>
          <a:xfrm rot="0">
            <a:off x="1613887" y="3686175"/>
            <a:ext cx="4161234" cy="350491"/>
          </a:xfrm>
          <a:prstGeom prst="rect">
            <a:avLst/>
          </a:prstGeom>
        </p:spPr>
        <p:txBody>
          <a:bodyPr anchor="t" rtlCol="false" tIns="0" lIns="0" bIns="0" rIns="0">
            <a:spAutoFit/>
          </a:bodyPr>
          <a:lstStyle/>
          <a:p>
            <a:pPr algn="l">
              <a:lnSpc>
                <a:spcPts val="2620"/>
              </a:lnSpc>
            </a:pPr>
            <a:r>
              <a:rPr lang="en-US" sz="2100" b="true">
                <a:solidFill>
                  <a:srgbClr val="1F1E1E"/>
                </a:solidFill>
                <a:latin typeface="Alexandria Bold"/>
                <a:ea typeface="Alexandria Bold"/>
                <a:cs typeface="Alexandria Bold"/>
                <a:sym typeface="Alexandria Bold"/>
              </a:rPr>
              <a:t>Nem Üyelik Fonksiyonu</a:t>
            </a:r>
          </a:p>
        </p:txBody>
      </p:sp>
      <p:grpSp>
        <p:nvGrpSpPr>
          <p:cNvPr name="Group 9" id="9"/>
          <p:cNvGrpSpPr/>
          <p:nvPr/>
        </p:nvGrpSpPr>
        <p:grpSpPr>
          <a:xfrm rot="0">
            <a:off x="1613887" y="4215260"/>
            <a:ext cx="9612068" cy="4119410"/>
            <a:chOff x="0" y="0"/>
            <a:chExt cx="12816091" cy="5492547"/>
          </a:xfrm>
        </p:grpSpPr>
        <p:sp>
          <p:nvSpPr>
            <p:cNvPr name="Freeform 10" id="10" descr="preencoded.png"/>
            <p:cNvSpPr/>
            <p:nvPr/>
          </p:nvSpPr>
          <p:spPr>
            <a:xfrm flipH="false" flipV="false" rot="0">
              <a:off x="0" y="0"/>
              <a:ext cx="12816078" cy="5492496"/>
            </a:xfrm>
            <a:custGeom>
              <a:avLst/>
              <a:gdLst/>
              <a:ahLst/>
              <a:cxnLst/>
              <a:rect r="r" b="b" t="t" l="l"/>
              <a:pathLst>
                <a:path h="5492496" w="12816078">
                  <a:moveTo>
                    <a:pt x="0" y="0"/>
                  </a:moveTo>
                  <a:lnTo>
                    <a:pt x="12816078" y="0"/>
                  </a:lnTo>
                  <a:lnTo>
                    <a:pt x="12816078" y="5492496"/>
                  </a:lnTo>
                  <a:lnTo>
                    <a:pt x="0" y="5492496"/>
                  </a:lnTo>
                  <a:lnTo>
                    <a:pt x="0" y="0"/>
                  </a:lnTo>
                  <a:close/>
                </a:path>
              </a:pathLst>
            </a:custGeom>
            <a:blipFill>
              <a:blip r:embed="rId3"/>
              <a:stretch>
                <a:fillRect l="-49" t="0" r="-49" b="0"/>
              </a:stretch>
            </a:blipFill>
          </p:spPr>
        </p:sp>
      </p:grpSp>
      <p:grpSp>
        <p:nvGrpSpPr>
          <p:cNvPr name="Group 11" id="11"/>
          <p:cNvGrpSpPr/>
          <p:nvPr/>
        </p:nvGrpSpPr>
        <p:grpSpPr>
          <a:xfrm rot="0">
            <a:off x="11726913" y="2614612"/>
            <a:ext cx="4970859" cy="1878216"/>
            <a:chOff x="0" y="0"/>
            <a:chExt cx="6627812" cy="2504288"/>
          </a:xfrm>
        </p:grpSpPr>
        <p:sp>
          <p:nvSpPr>
            <p:cNvPr name="Freeform 12" id="12"/>
            <p:cNvSpPr/>
            <p:nvPr/>
          </p:nvSpPr>
          <p:spPr>
            <a:xfrm flipH="false" flipV="false" rot="0">
              <a:off x="19050" y="19050"/>
              <a:ext cx="6589776" cy="2466213"/>
            </a:xfrm>
            <a:custGeom>
              <a:avLst/>
              <a:gdLst/>
              <a:ahLst/>
              <a:cxnLst/>
              <a:rect r="r" b="b" t="t" l="l"/>
              <a:pathLst>
                <a:path h="2466213" w="6589776">
                  <a:moveTo>
                    <a:pt x="0" y="182880"/>
                  </a:moveTo>
                  <a:cubicBezTo>
                    <a:pt x="0" y="81915"/>
                    <a:pt x="82677" y="0"/>
                    <a:pt x="184658" y="0"/>
                  </a:cubicBezTo>
                  <a:lnTo>
                    <a:pt x="6405118" y="0"/>
                  </a:lnTo>
                  <a:cubicBezTo>
                    <a:pt x="6507099" y="0"/>
                    <a:pt x="6589776" y="81915"/>
                    <a:pt x="6589776" y="182880"/>
                  </a:cubicBezTo>
                  <a:lnTo>
                    <a:pt x="6589776" y="2283333"/>
                  </a:lnTo>
                  <a:cubicBezTo>
                    <a:pt x="6589776" y="2384298"/>
                    <a:pt x="6507099" y="2466213"/>
                    <a:pt x="6405118" y="2466213"/>
                  </a:cubicBezTo>
                  <a:lnTo>
                    <a:pt x="184658" y="2466213"/>
                  </a:lnTo>
                  <a:cubicBezTo>
                    <a:pt x="82677" y="2466213"/>
                    <a:pt x="0" y="2384298"/>
                    <a:pt x="0" y="2283333"/>
                  </a:cubicBezTo>
                  <a:close/>
                </a:path>
              </a:pathLst>
            </a:custGeom>
            <a:solidFill>
              <a:srgbClr val="FFFAFA"/>
            </a:solidFill>
          </p:spPr>
        </p:sp>
        <p:sp>
          <p:nvSpPr>
            <p:cNvPr name="Freeform 13" id="13"/>
            <p:cNvSpPr/>
            <p:nvPr/>
          </p:nvSpPr>
          <p:spPr>
            <a:xfrm flipH="false" flipV="false" rot="0">
              <a:off x="0" y="0"/>
              <a:ext cx="6627876" cy="2504313"/>
            </a:xfrm>
            <a:custGeom>
              <a:avLst/>
              <a:gdLst/>
              <a:ahLst/>
              <a:cxnLst/>
              <a:rect r="r" b="b" t="t" l="l"/>
              <a:pathLst>
                <a:path h="2504313" w="6627876">
                  <a:moveTo>
                    <a:pt x="0" y="201930"/>
                  </a:moveTo>
                  <a:cubicBezTo>
                    <a:pt x="0" y="90297"/>
                    <a:pt x="91313" y="0"/>
                    <a:pt x="203708" y="0"/>
                  </a:cubicBezTo>
                  <a:lnTo>
                    <a:pt x="6424168" y="0"/>
                  </a:lnTo>
                  <a:lnTo>
                    <a:pt x="6424168" y="19050"/>
                  </a:lnTo>
                  <a:lnTo>
                    <a:pt x="6424168" y="0"/>
                  </a:lnTo>
                  <a:cubicBezTo>
                    <a:pt x="6536436" y="0"/>
                    <a:pt x="6627876" y="90297"/>
                    <a:pt x="6627876" y="201930"/>
                  </a:cubicBezTo>
                  <a:lnTo>
                    <a:pt x="6608826" y="201930"/>
                  </a:lnTo>
                  <a:lnTo>
                    <a:pt x="6627876" y="201930"/>
                  </a:lnTo>
                  <a:lnTo>
                    <a:pt x="6627876" y="2302383"/>
                  </a:lnTo>
                  <a:lnTo>
                    <a:pt x="6608826" y="2302383"/>
                  </a:lnTo>
                  <a:lnTo>
                    <a:pt x="6627876" y="2302383"/>
                  </a:lnTo>
                  <a:cubicBezTo>
                    <a:pt x="6627876" y="2414143"/>
                    <a:pt x="6536563" y="2504313"/>
                    <a:pt x="6424168" y="2504313"/>
                  </a:cubicBezTo>
                  <a:lnTo>
                    <a:pt x="6424168" y="2485263"/>
                  </a:lnTo>
                  <a:lnTo>
                    <a:pt x="6424168" y="2504313"/>
                  </a:lnTo>
                  <a:lnTo>
                    <a:pt x="203708" y="2504313"/>
                  </a:lnTo>
                  <a:lnTo>
                    <a:pt x="203708" y="2485263"/>
                  </a:lnTo>
                  <a:lnTo>
                    <a:pt x="203708" y="2504313"/>
                  </a:lnTo>
                  <a:cubicBezTo>
                    <a:pt x="91313" y="2504313"/>
                    <a:pt x="0" y="2414016"/>
                    <a:pt x="0" y="2302383"/>
                  </a:cubicBezTo>
                  <a:lnTo>
                    <a:pt x="0" y="201930"/>
                  </a:lnTo>
                  <a:lnTo>
                    <a:pt x="19050" y="201930"/>
                  </a:lnTo>
                  <a:lnTo>
                    <a:pt x="0" y="201930"/>
                  </a:lnTo>
                  <a:moveTo>
                    <a:pt x="38100" y="201930"/>
                  </a:moveTo>
                  <a:lnTo>
                    <a:pt x="38100" y="2302383"/>
                  </a:lnTo>
                  <a:lnTo>
                    <a:pt x="19050" y="2302383"/>
                  </a:lnTo>
                  <a:lnTo>
                    <a:pt x="38100" y="2302383"/>
                  </a:lnTo>
                  <a:cubicBezTo>
                    <a:pt x="38100" y="2392680"/>
                    <a:pt x="112014" y="2466213"/>
                    <a:pt x="203708" y="2466213"/>
                  </a:cubicBezTo>
                  <a:lnTo>
                    <a:pt x="6424168" y="2466213"/>
                  </a:lnTo>
                  <a:cubicBezTo>
                    <a:pt x="6515735" y="2466213"/>
                    <a:pt x="6589776" y="2392680"/>
                    <a:pt x="6589776" y="2302383"/>
                  </a:cubicBezTo>
                  <a:lnTo>
                    <a:pt x="6589776" y="201930"/>
                  </a:lnTo>
                  <a:cubicBezTo>
                    <a:pt x="6589776" y="111633"/>
                    <a:pt x="6515862" y="38100"/>
                    <a:pt x="6424168" y="38100"/>
                  </a:cubicBezTo>
                  <a:lnTo>
                    <a:pt x="203708" y="38100"/>
                  </a:lnTo>
                  <a:lnTo>
                    <a:pt x="203708" y="19050"/>
                  </a:lnTo>
                  <a:lnTo>
                    <a:pt x="203708" y="38100"/>
                  </a:lnTo>
                  <a:cubicBezTo>
                    <a:pt x="112014" y="38100"/>
                    <a:pt x="38100" y="111633"/>
                    <a:pt x="38100" y="201930"/>
                  </a:cubicBezTo>
                  <a:close/>
                </a:path>
              </a:pathLst>
            </a:custGeom>
            <a:solidFill>
              <a:srgbClr val="BBC2DC"/>
            </a:solidFill>
          </p:spPr>
        </p:sp>
      </p:grpSp>
      <p:grpSp>
        <p:nvGrpSpPr>
          <p:cNvPr name="Group 14" id="14"/>
          <p:cNvGrpSpPr/>
          <p:nvPr/>
        </p:nvGrpSpPr>
        <p:grpSpPr>
          <a:xfrm rot="0">
            <a:off x="11712626" y="2628900"/>
            <a:ext cx="114300" cy="1849641"/>
            <a:chOff x="0" y="0"/>
            <a:chExt cx="152400" cy="2466188"/>
          </a:xfrm>
        </p:grpSpPr>
        <p:sp>
          <p:nvSpPr>
            <p:cNvPr name="Freeform 15" id="15"/>
            <p:cNvSpPr/>
            <p:nvPr/>
          </p:nvSpPr>
          <p:spPr>
            <a:xfrm flipH="false" flipV="false" rot="0">
              <a:off x="0" y="0"/>
              <a:ext cx="152400" cy="2466213"/>
            </a:xfrm>
            <a:custGeom>
              <a:avLst/>
              <a:gdLst/>
              <a:ahLst/>
              <a:cxnLst/>
              <a:rect r="r" b="b" t="t" l="l"/>
              <a:pathLst>
                <a:path h="2466213" w="152400">
                  <a:moveTo>
                    <a:pt x="0" y="76200"/>
                  </a:moveTo>
                  <a:cubicBezTo>
                    <a:pt x="0" y="34163"/>
                    <a:pt x="34163" y="0"/>
                    <a:pt x="76200" y="0"/>
                  </a:cubicBezTo>
                  <a:cubicBezTo>
                    <a:pt x="118237" y="0"/>
                    <a:pt x="152400" y="34163"/>
                    <a:pt x="152400" y="76200"/>
                  </a:cubicBezTo>
                  <a:lnTo>
                    <a:pt x="152400" y="2390013"/>
                  </a:lnTo>
                  <a:cubicBezTo>
                    <a:pt x="152400" y="2432050"/>
                    <a:pt x="118237" y="2466213"/>
                    <a:pt x="76200" y="2466213"/>
                  </a:cubicBezTo>
                  <a:cubicBezTo>
                    <a:pt x="34163" y="2466213"/>
                    <a:pt x="0" y="2432050"/>
                    <a:pt x="0" y="2390013"/>
                  </a:cubicBezTo>
                  <a:close/>
                </a:path>
              </a:pathLst>
            </a:custGeom>
            <a:solidFill>
              <a:srgbClr val="1A2D7A"/>
            </a:solidFill>
          </p:spPr>
        </p:sp>
      </p:grpSp>
      <p:sp>
        <p:nvSpPr>
          <p:cNvPr name="TextBox 16" id="16"/>
          <p:cNvSpPr txBox="true"/>
          <p:nvPr/>
        </p:nvSpPr>
        <p:spPr>
          <a:xfrm rot="0">
            <a:off x="12062822" y="2855271"/>
            <a:ext cx="3642722" cy="350491"/>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Düşük Nem (Kuru)</a:t>
            </a:r>
          </a:p>
        </p:txBody>
      </p:sp>
      <p:sp>
        <p:nvSpPr>
          <p:cNvPr name="TextBox 17" id="17"/>
          <p:cNvSpPr txBox="true"/>
          <p:nvPr/>
        </p:nvSpPr>
        <p:spPr>
          <a:xfrm rot="0">
            <a:off x="12062822" y="3316786"/>
            <a:ext cx="4384777" cy="92585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Havada az nem varken insan vücudu kolayca ısı kaybeder; sistem bu durumda aşırı soğutma yapmaktan kaçınır.</a:t>
            </a:r>
          </a:p>
        </p:txBody>
      </p:sp>
      <p:grpSp>
        <p:nvGrpSpPr>
          <p:cNvPr name="Group 18" id="18"/>
          <p:cNvGrpSpPr/>
          <p:nvPr/>
        </p:nvGrpSpPr>
        <p:grpSpPr>
          <a:xfrm rot="0">
            <a:off x="11726913" y="4622902"/>
            <a:ext cx="4970859" cy="2511923"/>
            <a:chOff x="0" y="0"/>
            <a:chExt cx="6627812" cy="3349231"/>
          </a:xfrm>
        </p:grpSpPr>
        <p:sp>
          <p:nvSpPr>
            <p:cNvPr name="Freeform 19" id="19"/>
            <p:cNvSpPr/>
            <p:nvPr/>
          </p:nvSpPr>
          <p:spPr>
            <a:xfrm flipH="false" flipV="false" rot="0">
              <a:off x="19050" y="19050"/>
              <a:ext cx="6589649" cy="3311144"/>
            </a:xfrm>
            <a:custGeom>
              <a:avLst/>
              <a:gdLst/>
              <a:ahLst/>
              <a:cxnLst/>
              <a:rect r="r" b="b" t="t" l="l"/>
              <a:pathLst>
                <a:path h="3311144" w="6589649">
                  <a:moveTo>
                    <a:pt x="0" y="182880"/>
                  </a:moveTo>
                  <a:cubicBezTo>
                    <a:pt x="0" y="81915"/>
                    <a:pt x="82296" y="0"/>
                    <a:pt x="183896" y="0"/>
                  </a:cubicBezTo>
                  <a:lnTo>
                    <a:pt x="6405753" y="0"/>
                  </a:lnTo>
                  <a:cubicBezTo>
                    <a:pt x="6507353" y="0"/>
                    <a:pt x="6589649" y="81915"/>
                    <a:pt x="6589649" y="182880"/>
                  </a:cubicBezTo>
                  <a:lnTo>
                    <a:pt x="6589649" y="3128264"/>
                  </a:lnTo>
                  <a:cubicBezTo>
                    <a:pt x="6589649" y="3229229"/>
                    <a:pt x="6507353" y="3311144"/>
                    <a:pt x="6405753" y="3311144"/>
                  </a:cubicBezTo>
                  <a:lnTo>
                    <a:pt x="183896" y="3311144"/>
                  </a:lnTo>
                  <a:cubicBezTo>
                    <a:pt x="82296" y="3311144"/>
                    <a:pt x="0" y="3229229"/>
                    <a:pt x="0" y="3128264"/>
                  </a:cubicBezTo>
                  <a:close/>
                </a:path>
              </a:pathLst>
            </a:custGeom>
            <a:solidFill>
              <a:srgbClr val="FFFAFA"/>
            </a:solidFill>
          </p:spPr>
        </p:sp>
        <p:sp>
          <p:nvSpPr>
            <p:cNvPr name="Freeform 20" id="20"/>
            <p:cNvSpPr/>
            <p:nvPr/>
          </p:nvSpPr>
          <p:spPr>
            <a:xfrm flipH="false" flipV="false" rot="0">
              <a:off x="0" y="0"/>
              <a:ext cx="6627749" cy="3349244"/>
            </a:xfrm>
            <a:custGeom>
              <a:avLst/>
              <a:gdLst/>
              <a:ahLst/>
              <a:cxnLst/>
              <a:rect r="r" b="b" t="t" l="l"/>
              <a:pathLst>
                <a:path h="3349244" w="6627749">
                  <a:moveTo>
                    <a:pt x="0" y="201930"/>
                  </a:moveTo>
                  <a:cubicBezTo>
                    <a:pt x="0" y="90297"/>
                    <a:pt x="90932" y="0"/>
                    <a:pt x="202946" y="0"/>
                  </a:cubicBezTo>
                  <a:lnTo>
                    <a:pt x="6424803" y="0"/>
                  </a:lnTo>
                  <a:lnTo>
                    <a:pt x="6424803" y="19050"/>
                  </a:lnTo>
                  <a:lnTo>
                    <a:pt x="6424803" y="0"/>
                  </a:lnTo>
                  <a:cubicBezTo>
                    <a:pt x="6536817" y="0"/>
                    <a:pt x="6627749" y="90297"/>
                    <a:pt x="6627749" y="201930"/>
                  </a:cubicBezTo>
                  <a:lnTo>
                    <a:pt x="6608699" y="201930"/>
                  </a:lnTo>
                  <a:lnTo>
                    <a:pt x="6627749" y="201930"/>
                  </a:lnTo>
                  <a:lnTo>
                    <a:pt x="6627749" y="3147314"/>
                  </a:lnTo>
                  <a:lnTo>
                    <a:pt x="6608699" y="3147314"/>
                  </a:lnTo>
                  <a:lnTo>
                    <a:pt x="6627749" y="3147314"/>
                  </a:lnTo>
                  <a:cubicBezTo>
                    <a:pt x="6627749" y="3258947"/>
                    <a:pt x="6536817" y="3349244"/>
                    <a:pt x="6424803" y="3349244"/>
                  </a:cubicBezTo>
                  <a:lnTo>
                    <a:pt x="6424803" y="3330194"/>
                  </a:lnTo>
                  <a:lnTo>
                    <a:pt x="6424803" y="3349244"/>
                  </a:lnTo>
                  <a:lnTo>
                    <a:pt x="202946" y="3349244"/>
                  </a:lnTo>
                  <a:lnTo>
                    <a:pt x="202946" y="3330194"/>
                  </a:lnTo>
                  <a:lnTo>
                    <a:pt x="202946" y="3349244"/>
                  </a:lnTo>
                  <a:cubicBezTo>
                    <a:pt x="90932" y="3349244"/>
                    <a:pt x="0" y="3258947"/>
                    <a:pt x="0" y="3147314"/>
                  </a:cubicBezTo>
                  <a:lnTo>
                    <a:pt x="0" y="201930"/>
                  </a:lnTo>
                  <a:lnTo>
                    <a:pt x="19050" y="201930"/>
                  </a:lnTo>
                  <a:lnTo>
                    <a:pt x="0" y="201930"/>
                  </a:lnTo>
                  <a:moveTo>
                    <a:pt x="38100" y="201930"/>
                  </a:moveTo>
                  <a:lnTo>
                    <a:pt x="38100" y="3147314"/>
                  </a:lnTo>
                  <a:lnTo>
                    <a:pt x="19050" y="3147314"/>
                  </a:lnTo>
                  <a:lnTo>
                    <a:pt x="38100" y="3147314"/>
                  </a:lnTo>
                  <a:cubicBezTo>
                    <a:pt x="38100" y="3237738"/>
                    <a:pt x="111760" y="3311144"/>
                    <a:pt x="202946" y="3311144"/>
                  </a:cubicBezTo>
                  <a:lnTo>
                    <a:pt x="6424803" y="3311144"/>
                  </a:lnTo>
                  <a:cubicBezTo>
                    <a:pt x="6515989" y="3311144"/>
                    <a:pt x="6589649" y="3237738"/>
                    <a:pt x="6589649" y="3147314"/>
                  </a:cubicBezTo>
                  <a:lnTo>
                    <a:pt x="6589649" y="201930"/>
                  </a:lnTo>
                  <a:cubicBezTo>
                    <a:pt x="6589649" y="111506"/>
                    <a:pt x="6515989" y="38100"/>
                    <a:pt x="6424803" y="38100"/>
                  </a:cubicBezTo>
                  <a:lnTo>
                    <a:pt x="202946" y="38100"/>
                  </a:lnTo>
                  <a:lnTo>
                    <a:pt x="202946" y="19050"/>
                  </a:lnTo>
                  <a:lnTo>
                    <a:pt x="202946" y="38100"/>
                  </a:lnTo>
                  <a:cubicBezTo>
                    <a:pt x="111760" y="38100"/>
                    <a:pt x="38100" y="111506"/>
                    <a:pt x="38100" y="201930"/>
                  </a:cubicBezTo>
                  <a:close/>
                </a:path>
              </a:pathLst>
            </a:custGeom>
            <a:solidFill>
              <a:srgbClr val="BBC2DC"/>
            </a:solidFill>
          </p:spPr>
        </p:sp>
      </p:grpSp>
      <p:grpSp>
        <p:nvGrpSpPr>
          <p:cNvPr name="Group 21" id="21"/>
          <p:cNvGrpSpPr/>
          <p:nvPr/>
        </p:nvGrpSpPr>
        <p:grpSpPr>
          <a:xfrm rot="0">
            <a:off x="11712626" y="4637189"/>
            <a:ext cx="114300" cy="2483348"/>
            <a:chOff x="0" y="0"/>
            <a:chExt cx="152400" cy="3311131"/>
          </a:xfrm>
        </p:grpSpPr>
        <p:sp>
          <p:nvSpPr>
            <p:cNvPr name="Freeform 22" id="22"/>
            <p:cNvSpPr/>
            <p:nvPr/>
          </p:nvSpPr>
          <p:spPr>
            <a:xfrm flipH="false" flipV="false" rot="0">
              <a:off x="0" y="0"/>
              <a:ext cx="152400" cy="3311144"/>
            </a:xfrm>
            <a:custGeom>
              <a:avLst/>
              <a:gdLst/>
              <a:ahLst/>
              <a:cxnLst/>
              <a:rect r="r" b="b" t="t" l="l"/>
              <a:pathLst>
                <a:path h="3311144" w="152400">
                  <a:moveTo>
                    <a:pt x="0" y="76200"/>
                  </a:moveTo>
                  <a:cubicBezTo>
                    <a:pt x="0" y="34163"/>
                    <a:pt x="34163" y="0"/>
                    <a:pt x="76200" y="0"/>
                  </a:cubicBezTo>
                  <a:cubicBezTo>
                    <a:pt x="118237" y="0"/>
                    <a:pt x="152400" y="34163"/>
                    <a:pt x="152400" y="76200"/>
                  </a:cubicBezTo>
                  <a:lnTo>
                    <a:pt x="152400" y="3234944"/>
                  </a:lnTo>
                  <a:cubicBezTo>
                    <a:pt x="152400" y="3276981"/>
                    <a:pt x="118237" y="3311144"/>
                    <a:pt x="76200" y="3311144"/>
                  </a:cubicBezTo>
                  <a:cubicBezTo>
                    <a:pt x="34163" y="3311144"/>
                    <a:pt x="0" y="3276981"/>
                    <a:pt x="0" y="3234944"/>
                  </a:cubicBezTo>
                  <a:close/>
                </a:path>
              </a:pathLst>
            </a:custGeom>
            <a:solidFill>
              <a:srgbClr val="1A2D7A"/>
            </a:solidFill>
          </p:spPr>
        </p:sp>
      </p:grpSp>
      <p:sp>
        <p:nvSpPr>
          <p:cNvPr name="TextBox 23" id="23"/>
          <p:cNvSpPr txBox="true"/>
          <p:nvPr/>
        </p:nvSpPr>
        <p:spPr>
          <a:xfrm rot="0">
            <a:off x="12062822" y="4863551"/>
            <a:ext cx="4384777" cy="691458"/>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Yüksek Nem (Nemli / Çok Nemli)</a:t>
            </a:r>
          </a:p>
        </p:txBody>
      </p:sp>
      <p:sp>
        <p:nvSpPr>
          <p:cNvPr name="TextBox 24" id="24"/>
          <p:cNvSpPr txBox="true"/>
          <p:nvPr/>
        </p:nvSpPr>
        <p:spPr>
          <a:xfrm rot="0">
            <a:off x="12062822" y="5666032"/>
            <a:ext cx="4384777" cy="121860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Özellikle yaz aylarında, ortam sıcaklığı "İdeal" (24 °C) bile olsa nem %80'in üzerine çıktığında bunaltıcı bir hava oluşur.</a:t>
            </a:r>
          </a:p>
        </p:txBody>
      </p:sp>
      <p:grpSp>
        <p:nvGrpSpPr>
          <p:cNvPr name="Group 25" id="25"/>
          <p:cNvGrpSpPr/>
          <p:nvPr/>
        </p:nvGrpSpPr>
        <p:grpSpPr>
          <a:xfrm rot="0">
            <a:off x="11726913" y="7264898"/>
            <a:ext cx="4970859" cy="2170957"/>
            <a:chOff x="0" y="0"/>
            <a:chExt cx="6627812" cy="2894609"/>
          </a:xfrm>
        </p:grpSpPr>
        <p:sp>
          <p:nvSpPr>
            <p:cNvPr name="Freeform 26" id="26"/>
            <p:cNvSpPr/>
            <p:nvPr/>
          </p:nvSpPr>
          <p:spPr>
            <a:xfrm flipH="false" flipV="false" rot="0">
              <a:off x="19050" y="19050"/>
              <a:ext cx="6589776" cy="2856484"/>
            </a:xfrm>
            <a:custGeom>
              <a:avLst/>
              <a:gdLst/>
              <a:ahLst/>
              <a:cxnLst/>
              <a:rect r="r" b="b" t="t" l="l"/>
              <a:pathLst>
                <a:path h="2856484" w="6589776">
                  <a:moveTo>
                    <a:pt x="0" y="182880"/>
                  </a:moveTo>
                  <a:cubicBezTo>
                    <a:pt x="0" y="81915"/>
                    <a:pt x="82550" y="0"/>
                    <a:pt x="184277" y="0"/>
                  </a:cubicBezTo>
                  <a:lnTo>
                    <a:pt x="6405499" y="0"/>
                  </a:lnTo>
                  <a:cubicBezTo>
                    <a:pt x="6507226" y="0"/>
                    <a:pt x="6589776" y="81915"/>
                    <a:pt x="6589776" y="182880"/>
                  </a:cubicBezTo>
                  <a:lnTo>
                    <a:pt x="6589776" y="2673604"/>
                  </a:lnTo>
                  <a:cubicBezTo>
                    <a:pt x="6589776" y="2774569"/>
                    <a:pt x="6507226" y="2856484"/>
                    <a:pt x="6405499" y="2856484"/>
                  </a:cubicBezTo>
                  <a:lnTo>
                    <a:pt x="184277" y="2856484"/>
                  </a:lnTo>
                  <a:cubicBezTo>
                    <a:pt x="82550" y="2856484"/>
                    <a:pt x="0" y="2774569"/>
                    <a:pt x="0" y="2673604"/>
                  </a:cubicBezTo>
                  <a:close/>
                </a:path>
              </a:pathLst>
            </a:custGeom>
            <a:solidFill>
              <a:srgbClr val="FFFAFA"/>
            </a:solidFill>
          </p:spPr>
        </p:sp>
        <p:sp>
          <p:nvSpPr>
            <p:cNvPr name="Freeform 27" id="27"/>
            <p:cNvSpPr/>
            <p:nvPr/>
          </p:nvSpPr>
          <p:spPr>
            <a:xfrm flipH="false" flipV="false" rot="0">
              <a:off x="0" y="0"/>
              <a:ext cx="6627876" cy="2894584"/>
            </a:xfrm>
            <a:custGeom>
              <a:avLst/>
              <a:gdLst/>
              <a:ahLst/>
              <a:cxnLst/>
              <a:rect r="r" b="b" t="t" l="l"/>
              <a:pathLst>
                <a:path h="2894584" w="6627876">
                  <a:moveTo>
                    <a:pt x="0" y="201930"/>
                  </a:moveTo>
                  <a:cubicBezTo>
                    <a:pt x="0" y="90297"/>
                    <a:pt x="91186" y="0"/>
                    <a:pt x="203327" y="0"/>
                  </a:cubicBezTo>
                  <a:lnTo>
                    <a:pt x="6424549" y="0"/>
                  </a:lnTo>
                  <a:lnTo>
                    <a:pt x="6424549" y="19050"/>
                  </a:lnTo>
                  <a:lnTo>
                    <a:pt x="6424549" y="0"/>
                  </a:lnTo>
                  <a:cubicBezTo>
                    <a:pt x="6536690" y="0"/>
                    <a:pt x="6627876" y="90297"/>
                    <a:pt x="6627876" y="201930"/>
                  </a:cubicBezTo>
                  <a:lnTo>
                    <a:pt x="6608826" y="201930"/>
                  </a:lnTo>
                  <a:lnTo>
                    <a:pt x="6627876" y="201930"/>
                  </a:lnTo>
                  <a:lnTo>
                    <a:pt x="6627876" y="2692654"/>
                  </a:lnTo>
                  <a:lnTo>
                    <a:pt x="6608826" y="2692654"/>
                  </a:lnTo>
                  <a:lnTo>
                    <a:pt x="6627876" y="2692654"/>
                  </a:lnTo>
                  <a:cubicBezTo>
                    <a:pt x="6627876" y="2804287"/>
                    <a:pt x="6536690" y="2894584"/>
                    <a:pt x="6424549" y="2894584"/>
                  </a:cubicBezTo>
                  <a:lnTo>
                    <a:pt x="6424549" y="2875534"/>
                  </a:lnTo>
                  <a:lnTo>
                    <a:pt x="6424549" y="2894584"/>
                  </a:lnTo>
                  <a:lnTo>
                    <a:pt x="203327" y="2894584"/>
                  </a:lnTo>
                  <a:lnTo>
                    <a:pt x="203327" y="2875534"/>
                  </a:lnTo>
                  <a:lnTo>
                    <a:pt x="203327" y="2894584"/>
                  </a:lnTo>
                  <a:cubicBezTo>
                    <a:pt x="91186" y="2894584"/>
                    <a:pt x="0" y="2804287"/>
                    <a:pt x="0" y="2692654"/>
                  </a:cubicBezTo>
                  <a:lnTo>
                    <a:pt x="0" y="201930"/>
                  </a:lnTo>
                  <a:lnTo>
                    <a:pt x="19050" y="201930"/>
                  </a:lnTo>
                  <a:lnTo>
                    <a:pt x="0" y="201930"/>
                  </a:lnTo>
                  <a:moveTo>
                    <a:pt x="38100" y="201930"/>
                  </a:moveTo>
                  <a:lnTo>
                    <a:pt x="38100" y="2692654"/>
                  </a:lnTo>
                  <a:lnTo>
                    <a:pt x="19050" y="2692654"/>
                  </a:lnTo>
                  <a:lnTo>
                    <a:pt x="38100" y="2692654"/>
                  </a:lnTo>
                  <a:cubicBezTo>
                    <a:pt x="38100" y="2782951"/>
                    <a:pt x="111887" y="2856484"/>
                    <a:pt x="203327" y="2856484"/>
                  </a:cubicBezTo>
                  <a:lnTo>
                    <a:pt x="6424549" y="2856484"/>
                  </a:lnTo>
                  <a:cubicBezTo>
                    <a:pt x="6515862" y="2856484"/>
                    <a:pt x="6589776" y="2782951"/>
                    <a:pt x="6589776" y="2692654"/>
                  </a:cubicBezTo>
                  <a:lnTo>
                    <a:pt x="6589776" y="201930"/>
                  </a:lnTo>
                  <a:cubicBezTo>
                    <a:pt x="6589776" y="111633"/>
                    <a:pt x="6515989" y="38100"/>
                    <a:pt x="6424549" y="38100"/>
                  </a:cubicBezTo>
                  <a:lnTo>
                    <a:pt x="203327" y="38100"/>
                  </a:lnTo>
                  <a:lnTo>
                    <a:pt x="203327" y="19050"/>
                  </a:lnTo>
                  <a:lnTo>
                    <a:pt x="203327" y="38100"/>
                  </a:lnTo>
                  <a:cubicBezTo>
                    <a:pt x="111887" y="38100"/>
                    <a:pt x="38100" y="111633"/>
                    <a:pt x="38100" y="201930"/>
                  </a:cubicBezTo>
                  <a:close/>
                </a:path>
              </a:pathLst>
            </a:custGeom>
            <a:solidFill>
              <a:srgbClr val="BBC2DC"/>
            </a:solidFill>
          </p:spPr>
        </p:sp>
      </p:grpSp>
      <p:grpSp>
        <p:nvGrpSpPr>
          <p:cNvPr name="Group 28" id="28"/>
          <p:cNvGrpSpPr/>
          <p:nvPr/>
        </p:nvGrpSpPr>
        <p:grpSpPr>
          <a:xfrm rot="0">
            <a:off x="11712626" y="7279186"/>
            <a:ext cx="114300" cy="2142382"/>
            <a:chOff x="0" y="0"/>
            <a:chExt cx="152400" cy="2856509"/>
          </a:xfrm>
        </p:grpSpPr>
        <p:sp>
          <p:nvSpPr>
            <p:cNvPr name="Freeform 29" id="29"/>
            <p:cNvSpPr/>
            <p:nvPr/>
          </p:nvSpPr>
          <p:spPr>
            <a:xfrm flipH="false" flipV="false" rot="0">
              <a:off x="0" y="0"/>
              <a:ext cx="152400" cy="2856484"/>
            </a:xfrm>
            <a:custGeom>
              <a:avLst/>
              <a:gdLst/>
              <a:ahLst/>
              <a:cxnLst/>
              <a:rect r="r" b="b" t="t" l="l"/>
              <a:pathLst>
                <a:path h="2856484" w="152400">
                  <a:moveTo>
                    <a:pt x="0" y="76200"/>
                  </a:moveTo>
                  <a:cubicBezTo>
                    <a:pt x="0" y="34163"/>
                    <a:pt x="34163" y="0"/>
                    <a:pt x="76200" y="0"/>
                  </a:cubicBezTo>
                  <a:cubicBezTo>
                    <a:pt x="118237" y="0"/>
                    <a:pt x="152400" y="34163"/>
                    <a:pt x="152400" y="76200"/>
                  </a:cubicBezTo>
                  <a:lnTo>
                    <a:pt x="152400" y="2780284"/>
                  </a:lnTo>
                  <a:cubicBezTo>
                    <a:pt x="152400" y="2822321"/>
                    <a:pt x="118237" y="2856484"/>
                    <a:pt x="76200" y="2856484"/>
                  </a:cubicBezTo>
                  <a:cubicBezTo>
                    <a:pt x="34163" y="2856484"/>
                    <a:pt x="0" y="2822321"/>
                    <a:pt x="0" y="2780284"/>
                  </a:cubicBezTo>
                  <a:close/>
                </a:path>
              </a:pathLst>
            </a:custGeom>
            <a:solidFill>
              <a:srgbClr val="1A2D7A"/>
            </a:solidFill>
          </p:spPr>
        </p:sp>
      </p:grpSp>
      <p:sp>
        <p:nvSpPr>
          <p:cNvPr name="TextBox 30" id="30"/>
          <p:cNvSpPr txBox="true"/>
          <p:nvPr/>
        </p:nvSpPr>
        <p:spPr>
          <a:xfrm rot="0">
            <a:off x="12062822" y="7505548"/>
            <a:ext cx="3642722" cy="350491"/>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Akıllı Nem Tepkisi</a:t>
            </a:r>
          </a:p>
        </p:txBody>
      </p:sp>
      <p:sp>
        <p:nvSpPr>
          <p:cNvPr name="TextBox 31" id="31"/>
          <p:cNvSpPr txBox="true"/>
          <p:nvPr/>
        </p:nvSpPr>
        <p:spPr>
          <a:xfrm rot="0">
            <a:off x="12062822" y="7967062"/>
            <a:ext cx="4384777" cy="121860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Kural tabanı sayesinde nem oranı arttığında, sıcaklık normal olsa bile sistem Fan Hızını otomatik artırır ve pasif soğutma uygular.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1613887" y="644871"/>
            <a:ext cx="11257359" cy="700983"/>
          </a:xfrm>
          <a:prstGeom prst="rect">
            <a:avLst/>
          </a:prstGeom>
        </p:spPr>
        <p:txBody>
          <a:bodyPr anchor="t" rtlCol="false" tIns="0" lIns="0" bIns="0" rIns="0">
            <a:spAutoFit/>
          </a:bodyPr>
          <a:lstStyle/>
          <a:p>
            <a:pPr algn="l">
              <a:lnSpc>
                <a:spcPts val="5241"/>
              </a:lnSpc>
            </a:pPr>
            <a:r>
              <a:rPr lang="en-US" sz="4200" b="true">
                <a:solidFill>
                  <a:srgbClr val="1F1E1E"/>
                </a:solidFill>
                <a:latin typeface="Alexandria Bold"/>
                <a:ea typeface="Alexandria Bold"/>
                <a:cs typeface="Alexandria Bold"/>
                <a:sym typeface="Alexandria Bold"/>
              </a:rPr>
              <a:t>5. Durulaştırma ve Çıkış Fonksiyonları</a:t>
            </a:r>
          </a:p>
        </p:txBody>
      </p:sp>
      <p:sp>
        <p:nvSpPr>
          <p:cNvPr name="TextBox 7" id="7"/>
          <p:cNvSpPr txBox="true"/>
          <p:nvPr/>
        </p:nvSpPr>
        <p:spPr>
          <a:xfrm rot="0">
            <a:off x="1613887" y="1615678"/>
            <a:ext cx="15060216" cy="633117"/>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Bulanık çıkarım motoru tarafından işlenen kuralların sonucunda oluşan "bulanık çıkış kümesi", fiziksel donanımların (klima motoru, fan) anlayabileceği kesin (crisp) bir değere dönüştürülmelidir. Bu işleme </a:t>
            </a:r>
            <a:r>
              <a:rPr lang="en-US" sz="1600" b="true">
                <a:solidFill>
                  <a:srgbClr val="3B3535"/>
                </a:solidFill>
                <a:latin typeface="Arimo Bold"/>
                <a:ea typeface="Arimo Bold"/>
                <a:cs typeface="Arimo Bold"/>
                <a:sym typeface="Arimo Bold"/>
              </a:rPr>
              <a:t>Durulaştırma (Defuzzification)</a:t>
            </a:r>
            <a:r>
              <a:rPr lang="en-US" sz="1600">
                <a:solidFill>
                  <a:srgbClr val="3B3535"/>
                </a:solidFill>
                <a:latin typeface="Arimo"/>
                <a:ea typeface="Arimo"/>
                <a:cs typeface="Arimo"/>
                <a:sym typeface="Arimo"/>
              </a:rPr>
              <a:t> adı verilir.</a:t>
            </a:r>
          </a:p>
        </p:txBody>
      </p:sp>
      <p:sp>
        <p:nvSpPr>
          <p:cNvPr name="TextBox 8" id="8"/>
          <p:cNvSpPr txBox="true"/>
          <p:nvPr/>
        </p:nvSpPr>
        <p:spPr>
          <a:xfrm rot="0">
            <a:off x="1613887" y="2576513"/>
            <a:ext cx="4415285" cy="350491"/>
          </a:xfrm>
          <a:prstGeom prst="rect">
            <a:avLst/>
          </a:prstGeom>
        </p:spPr>
        <p:txBody>
          <a:bodyPr anchor="t" rtlCol="false" tIns="0" lIns="0" bIns="0" rIns="0">
            <a:spAutoFit/>
          </a:bodyPr>
          <a:lstStyle/>
          <a:p>
            <a:pPr algn="l">
              <a:lnSpc>
                <a:spcPts val="2620"/>
              </a:lnSpc>
            </a:pPr>
            <a:r>
              <a:rPr lang="en-US" sz="2100" b="true">
                <a:solidFill>
                  <a:srgbClr val="1F1E1E"/>
                </a:solidFill>
                <a:latin typeface="Alexandria Bold"/>
                <a:ea typeface="Alexandria Bold"/>
                <a:cs typeface="Alexandria Bold"/>
                <a:sym typeface="Alexandria Bold"/>
              </a:rPr>
              <a:t>Fan Hızı Çıkış Fonksiyonu</a:t>
            </a:r>
          </a:p>
        </p:txBody>
      </p:sp>
      <p:grpSp>
        <p:nvGrpSpPr>
          <p:cNvPr name="Group 9" id="9"/>
          <p:cNvGrpSpPr/>
          <p:nvPr/>
        </p:nvGrpSpPr>
        <p:grpSpPr>
          <a:xfrm rot="0">
            <a:off x="1613887" y="3105598"/>
            <a:ext cx="9612068" cy="4119410"/>
            <a:chOff x="0" y="0"/>
            <a:chExt cx="12816091" cy="5492547"/>
          </a:xfrm>
        </p:grpSpPr>
        <p:sp>
          <p:nvSpPr>
            <p:cNvPr name="Freeform 10" id="10" descr="preencoded.png"/>
            <p:cNvSpPr/>
            <p:nvPr/>
          </p:nvSpPr>
          <p:spPr>
            <a:xfrm flipH="false" flipV="false" rot="0">
              <a:off x="0" y="0"/>
              <a:ext cx="12816078" cy="5492496"/>
            </a:xfrm>
            <a:custGeom>
              <a:avLst/>
              <a:gdLst/>
              <a:ahLst/>
              <a:cxnLst/>
              <a:rect r="r" b="b" t="t" l="l"/>
              <a:pathLst>
                <a:path h="5492496" w="12816078">
                  <a:moveTo>
                    <a:pt x="0" y="0"/>
                  </a:moveTo>
                  <a:lnTo>
                    <a:pt x="12816078" y="0"/>
                  </a:lnTo>
                  <a:lnTo>
                    <a:pt x="12816078" y="5492496"/>
                  </a:lnTo>
                  <a:lnTo>
                    <a:pt x="0" y="5492496"/>
                  </a:lnTo>
                  <a:lnTo>
                    <a:pt x="0" y="0"/>
                  </a:lnTo>
                  <a:close/>
                </a:path>
              </a:pathLst>
            </a:custGeom>
            <a:blipFill>
              <a:blip r:embed="rId3"/>
              <a:stretch>
                <a:fillRect l="-49" t="0" r="-49" b="0"/>
              </a:stretch>
            </a:blipFill>
          </p:spPr>
        </p:sp>
      </p:grpSp>
      <p:sp>
        <p:nvSpPr>
          <p:cNvPr name="TextBox 11" id="11"/>
          <p:cNvSpPr txBox="true"/>
          <p:nvPr/>
        </p:nvSpPr>
        <p:spPr>
          <a:xfrm rot="0">
            <a:off x="11741201" y="3577085"/>
            <a:ext cx="4399512" cy="350491"/>
          </a:xfrm>
          <a:prstGeom prst="rect">
            <a:avLst/>
          </a:prstGeom>
        </p:spPr>
        <p:txBody>
          <a:bodyPr anchor="t" rtlCol="false" tIns="0" lIns="0" bIns="0" rIns="0">
            <a:spAutoFit/>
          </a:bodyPr>
          <a:lstStyle/>
          <a:p>
            <a:pPr algn="l">
              <a:lnSpc>
                <a:spcPts val="2620"/>
              </a:lnSpc>
            </a:pPr>
            <a:r>
              <a:rPr lang="en-US" sz="2100" b="true">
                <a:solidFill>
                  <a:srgbClr val="1F1E1E"/>
                </a:solidFill>
                <a:latin typeface="Alexandria Bold"/>
                <a:ea typeface="Alexandria Bold"/>
                <a:cs typeface="Alexandria Bold"/>
                <a:sym typeface="Alexandria Bold"/>
              </a:rPr>
              <a:t>Isı Gücü Çıkış Fonksiyonu</a:t>
            </a:r>
          </a:p>
        </p:txBody>
      </p:sp>
      <p:grpSp>
        <p:nvGrpSpPr>
          <p:cNvPr name="Group 12" id="12"/>
          <p:cNvGrpSpPr/>
          <p:nvPr/>
        </p:nvGrpSpPr>
        <p:grpSpPr>
          <a:xfrm rot="0">
            <a:off x="11741201" y="4106170"/>
            <a:ext cx="4942284" cy="2118122"/>
            <a:chOff x="0" y="0"/>
            <a:chExt cx="6589712" cy="2824162"/>
          </a:xfrm>
        </p:grpSpPr>
        <p:sp>
          <p:nvSpPr>
            <p:cNvPr name="Freeform 13" id="13" descr="preencoded.png"/>
            <p:cNvSpPr/>
            <p:nvPr/>
          </p:nvSpPr>
          <p:spPr>
            <a:xfrm flipH="false" flipV="false" rot="0">
              <a:off x="0" y="0"/>
              <a:ext cx="6589649" cy="2824226"/>
            </a:xfrm>
            <a:custGeom>
              <a:avLst/>
              <a:gdLst/>
              <a:ahLst/>
              <a:cxnLst/>
              <a:rect r="r" b="b" t="t" l="l"/>
              <a:pathLst>
                <a:path h="2824226" w="6589649">
                  <a:moveTo>
                    <a:pt x="0" y="0"/>
                  </a:moveTo>
                  <a:lnTo>
                    <a:pt x="6589649" y="0"/>
                  </a:lnTo>
                  <a:lnTo>
                    <a:pt x="6589649" y="2824226"/>
                  </a:lnTo>
                  <a:lnTo>
                    <a:pt x="0" y="2824226"/>
                  </a:lnTo>
                  <a:lnTo>
                    <a:pt x="0" y="0"/>
                  </a:lnTo>
                  <a:close/>
                </a:path>
              </a:pathLst>
            </a:custGeom>
            <a:blipFill>
              <a:blip r:embed="rId4"/>
              <a:stretch>
                <a:fillRect l="-96" t="0" r="-97" b="2"/>
              </a:stretch>
            </a:blipFill>
          </p:spPr>
        </p:sp>
      </p:grpSp>
      <p:grpSp>
        <p:nvGrpSpPr>
          <p:cNvPr name="Group 14" id="14"/>
          <p:cNvGrpSpPr/>
          <p:nvPr/>
        </p:nvGrpSpPr>
        <p:grpSpPr>
          <a:xfrm rot="0">
            <a:off x="1609125" y="7577433"/>
            <a:ext cx="15069741" cy="2050409"/>
            <a:chOff x="0" y="0"/>
            <a:chExt cx="20092988" cy="2733878"/>
          </a:xfrm>
        </p:grpSpPr>
        <p:sp>
          <p:nvSpPr>
            <p:cNvPr name="Freeform 15" id="15"/>
            <p:cNvSpPr/>
            <p:nvPr/>
          </p:nvSpPr>
          <p:spPr>
            <a:xfrm flipH="false" flipV="false" rot="0">
              <a:off x="6350" y="6350"/>
              <a:ext cx="20080351" cy="2721102"/>
            </a:xfrm>
            <a:custGeom>
              <a:avLst/>
              <a:gdLst/>
              <a:ahLst/>
              <a:cxnLst/>
              <a:rect r="r" b="b" t="t" l="l"/>
              <a:pathLst>
                <a:path h="2721102" w="20080351">
                  <a:moveTo>
                    <a:pt x="0" y="116078"/>
                  </a:moveTo>
                  <a:cubicBezTo>
                    <a:pt x="0" y="51943"/>
                    <a:pt x="52197" y="0"/>
                    <a:pt x="116586" y="0"/>
                  </a:cubicBezTo>
                  <a:lnTo>
                    <a:pt x="19963764" y="0"/>
                  </a:lnTo>
                  <a:cubicBezTo>
                    <a:pt x="20028154" y="0"/>
                    <a:pt x="20080351" y="51943"/>
                    <a:pt x="20080351" y="116078"/>
                  </a:cubicBezTo>
                  <a:lnTo>
                    <a:pt x="20080351" y="2605024"/>
                  </a:lnTo>
                  <a:cubicBezTo>
                    <a:pt x="20080351" y="2669159"/>
                    <a:pt x="20028154" y="2721102"/>
                    <a:pt x="19963764" y="2721102"/>
                  </a:cubicBezTo>
                  <a:lnTo>
                    <a:pt x="116586" y="2721102"/>
                  </a:lnTo>
                  <a:cubicBezTo>
                    <a:pt x="52197" y="2721102"/>
                    <a:pt x="0" y="2669159"/>
                    <a:pt x="0" y="2605024"/>
                  </a:cubicBezTo>
                  <a:close/>
                </a:path>
              </a:pathLst>
            </a:custGeom>
            <a:solidFill>
              <a:srgbClr val="D5DCF6"/>
            </a:solidFill>
          </p:spPr>
        </p:sp>
        <p:sp>
          <p:nvSpPr>
            <p:cNvPr name="Freeform 16" id="16"/>
            <p:cNvSpPr/>
            <p:nvPr/>
          </p:nvSpPr>
          <p:spPr>
            <a:xfrm flipH="false" flipV="false" rot="0">
              <a:off x="0" y="0"/>
              <a:ext cx="20093051" cy="2733802"/>
            </a:xfrm>
            <a:custGeom>
              <a:avLst/>
              <a:gdLst/>
              <a:ahLst/>
              <a:cxnLst/>
              <a:rect r="r" b="b" t="t" l="l"/>
              <a:pathLst>
                <a:path h="2733802" w="20093051">
                  <a:moveTo>
                    <a:pt x="0" y="122428"/>
                  </a:moveTo>
                  <a:cubicBezTo>
                    <a:pt x="0" y="54864"/>
                    <a:pt x="55118" y="0"/>
                    <a:pt x="122936" y="0"/>
                  </a:cubicBezTo>
                  <a:lnTo>
                    <a:pt x="19970114" y="0"/>
                  </a:lnTo>
                  <a:lnTo>
                    <a:pt x="19970114" y="6350"/>
                  </a:lnTo>
                  <a:lnTo>
                    <a:pt x="19970114" y="0"/>
                  </a:lnTo>
                  <a:cubicBezTo>
                    <a:pt x="20037932" y="0"/>
                    <a:pt x="20093051" y="54864"/>
                    <a:pt x="20093051" y="122428"/>
                  </a:cubicBezTo>
                  <a:lnTo>
                    <a:pt x="20086701" y="122428"/>
                  </a:lnTo>
                  <a:lnTo>
                    <a:pt x="20093051" y="122428"/>
                  </a:lnTo>
                  <a:lnTo>
                    <a:pt x="20093051" y="2611374"/>
                  </a:lnTo>
                  <a:lnTo>
                    <a:pt x="20086701" y="2611374"/>
                  </a:lnTo>
                  <a:lnTo>
                    <a:pt x="20093051" y="2611374"/>
                  </a:lnTo>
                  <a:cubicBezTo>
                    <a:pt x="20093051" y="2679065"/>
                    <a:pt x="20037932" y="2733802"/>
                    <a:pt x="19970114" y="2733802"/>
                  </a:cubicBezTo>
                  <a:lnTo>
                    <a:pt x="19970114" y="2727452"/>
                  </a:lnTo>
                  <a:lnTo>
                    <a:pt x="19970114" y="2733802"/>
                  </a:lnTo>
                  <a:lnTo>
                    <a:pt x="122936" y="2733802"/>
                  </a:lnTo>
                  <a:lnTo>
                    <a:pt x="122936" y="2727452"/>
                  </a:lnTo>
                  <a:lnTo>
                    <a:pt x="122936" y="2733802"/>
                  </a:lnTo>
                  <a:cubicBezTo>
                    <a:pt x="55118" y="2733802"/>
                    <a:pt x="0" y="2678938"/>
                    <a:pt x="0" y="2611374"/>
                  </a:cubicBezTo>
                  <a:lnTo>
                    <a:pt x="0" y="122428"/>
                  </a:lnTo>
                  <a:lnTo>
                    <a:pt x="6350" y="122428"/>
                  </a:lnTo>
                  <a:lnTo>
                    <a:pt x="0" y="122428"/>
                  </a:lnTo>
                  <a:moveTo>
                    <a:pt x="12700" y="122428"/>
                  </a:moveTo>
                  <a:lnTo>
                    <a:pt x="12700" y="2611374"/>
                  </a:lnTo>
                  <a:lnTo>
                    <a:pt x="6350" y="2611374"/>
                  </a:lnTo>
                  <a:lnTo>
                    <a:pt x="12700" y="2611374"/>
                  </a:lnTo>
                  <a:cubicBezTo>
                    <a:pt x="12700" y="2671953"/>
                    <a:pt x="61976" y="2721102"/>
                    <a:pt x="122936" y="2721102"/>
                  </a:cubicBezTo>
                  <a:lnTo>
                    <a:pt x="19970114" y="2721102"/>
                  </a:lnTo>
                  <a:cubicBezTo>
                    <a:pt x="20031075" y="2721102"/>
                    <a:pt x="20080351" y="2671953"/>
                    <a:pt x="20080351" y="2611374"/>
                  </a:cubicBezTo>
                  <a:lnTo>
                    <a:pt x="20080351" y="122428"/>
                  </a:lnTo>
                  <a:cubicBezTo>
                    <a:pt x="20080351" y="61849"/>
                    <a:pt x="20031075" y="12700"/>
                    <a:pt x="19970114" y="12700"/>
                  </a:cubicBezTo>
                  <a:lnTo>
                    <a:pt x="122936" y="12700"/>
                  </a:lnTo>
                  <a:lnTo>
                    <a:pt x="122936" y="6350"/>
                  </a:lnTo>
                  <a:lnTo>
                    <a:pt x="122936" y="12700"/>
                  </a:lnTo>
                  <a:cubicBezTo>
                    <a:pt x="61976" y="12700"/>
                    <a:pt x="12700" y="61849"/>
                    <a:pt x="12700" y="122428"/>
                  </a:cubicBezTo>
                  <a:close/>
                </a:path>
              </a:pathLst>
            </a:custGeom>
            <a:solidFill>
              <a:srgbClr val="BBC2DC"/>
            </a:solidFill>
          </p:spPr>
        </p:sp>
      </p:grpSp>
      <p:grpSp>
        <p:nvGrpSpPr>
          <p:cNvPr name="Group 17" id="17"/>
          <p:cNvGrpSpPr/>
          <p:nvPr/>
        </p:nvGrpSpPr>
        <p:grpSpPr>
          <a:xfrm rot="0">
            <a:off x="1623422" y="7591720"/>
            <a:ext cx="5013722" cy="2021834"/>
            <a:chOff x="0" y="0"/>
            <a:chExt cx="6684962" cy="2695778"/>
          </a:xfrm>
        </p:grpSpPr>
        <p:sp>
          <p:nvSpPr>
            <p:cNvPr name="Freeform 18" id="18"/>
            <p:cNvSpPr/>
            <p:nvPr/>
          </p:nvSpPr>
          <p:spPr>
            <a:xfrm flipH="false" flipV="false" rot="0">
              <a:off x="0" y="0"/>
              <a:ext cx="6684899" cy="2695702"/>
            </a:xfrm>
            <a:custGeom>
              <a:avLst/>
              <a:gdLst/>
              <a:ahLst/>
              <a:cxnLst/>
              <a:rect r="r" b="b" t="t" l="l"/>
              <a:pathLst>
                <a:path h="2695702" w="6684899">
                  <a:moveTo>
                    <a:pt x="0" y="116078"/>
                  </a:moveTo>
                  <a:cubicBezTo>
                    <a:pt x="0" y="51943"/>
                    <a:pt x="51943" y="0"/>
                    <a:pt x="116078" y="0"/>
                  </a:cubicBezTo>
                  <a:lnTo>
                    <a:pt x="6568821" y="0"/>
                  </a:lnTo>
                  <a:cubicBezTo>
                    <a:pt x="6632956" y="0"/>
                    <a:pt x="6684899" y="51943"/>
                    <a:pt x="6684899" y="116078"/>
                  </a:cubicBezTo>
                  <a:lnTo>
                    <a:pt x="6684899" y="2579624"/>
                  </a:lnTo>
                  <a:cubicBezTo>
                    <a:pt x="6684899" y="2643759"/>
                    <a:pt x="6632956" y="2695702"/>
                    <a:pt x="6568821" y="2695702"/>
                  </a:cubicBezTo>
                  <a:lnTo>
                    <a:pt x="116078" y="2695702"/>
                  </a:lnTo>
                  <a:cubicBezTo>
                    <a:pt x="51943" y="2695702"/>
                    <a:pt x="0" y="2643759"/>
                    <a:pt x="0" y="2579624"/>
                  </a:cubicBezTo>
                  <a:close/>
                </a:path>
              </a:pathLst>
            </a:custGeom>
            <a:solidFill>
              <a:srgbClr val="D5DCF6"/>
            </a:solidFill>
          </p:spPr>
        </p:sp>
      </p:grpSp>
      <p:sp>
        <p:nvSpPr>
          <p:cNvPr name="TextBox 19" id="19"/>
          <p:cNvSpPr txBox="true"/>
          <p:nvPr/>
        </p:nvSpPr>
        <p:spPr>
          <a:xfrm rot="0">
            <a:off x="1830734" y="7789516"/>
            <a:ext cx="3642722" cy="350491"/>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Fan Hızı Çıkışı</a:t>
            </a:r>
          </a:p>
        </p:txBody>
      </p:sp>
      <p:sp>
        <p:nvSpPr>
          <p:cNvPr name="TextBox 20" id="20"/>
          <p:cNvSpPr txBox="true"/>
          <p:nvPr/>
        </p:nvSpPr>
        <p:spPr>
          <a:xfrm rot="0">
            <a:off x="1830734" y="8187633"/>
            <a:ext cx="4599089" cy="92585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Sistemin havalandırma şiddetini %0 ile %100 arasında hassasça ayarlar. On/off klimalardaki sarsıntıları engeller.</a:t>
            </a:r>
          </a:p>
        </p:txBody>
      </p:sp>
      <p:grpSp>
        <p:nvGrpSpPr>
          <p:cNvPr name="Group 21" id="21"/>
          <p:cNvGrpSpPr/>
          <p:nvPr/>
        </p:nvGrpSpPr>
        <p:grpSpPr>
          <a:xfrm rot="0">
            <a:off x="6637144" y="7591720"/>
            <a:ext cx="5013722" cy="2021834"/>
            <a:chOff x="0" y="0"/>
            <a:chExt cx="6684962" cy="2695778"/>
          </a:xfrm>
        </p:grpSpPr>
        <p:sp>
          <p:nvSpPr>
            <p:cNvPr name="Freeform 22" id="22"/>
            <p:cNvSpPr/>
            <p:nvPr/>
          </p:nvSpPr>
          <p:spPr>
            <a:xfrm flipH="false" flipV="false" rot="0">
              <a:off x="0" y="0"/>
              <a:ext cx="6685026" cy="2695829"/>
            </a:xfrm>
            <a:custGeom>
              <a:avLst/>
              <a:gdLst/>
              <a:ahLst/>
              <a:cxnLst/>
              <a:rect r="r" b="b" t="t" l="l"/>
              <a:pathLst>
                <a:path h="2695829" w="6685026">
                  <a:moveTo>
                    <a:pt x="0" y="0"/>
                  </a:moveTo>
                  <a:lnTo>
                    <a:pt x="6685026" y="0"/>
                  </a:lnTo>
                  <a:lnTo>
                    <a:pt x="6685026" y="2695829"/>
                  </a:lnTo>
                  <a:lnTo>
                    <a:pt x="0" y="2695829"/>
                  </a:lnTo>
                  <a:close/>
                </a:path>
              </a:pathLst>
            </a:custGeom>
            <a:solidFill>
              <a:srgbClr val="D5DCF6"/>
            </a:solidFill>
          </p:spPr>
        </p:sp>
      </p:grpSp>
      <p:grpSp>
        <p:nvGrpSpPr>
          <p:cNvPr name="Group 23" id="23"/>
          <p:cNvGrpSpPr/>
          <p:nvPr/>
        </p:nvGrpSpPr>
        <p:grpSpPr>
          <a:xfrm rot="0">
            <a:off x="6637144" y="7591720"/>
            <a:ext cx="28575" cy="2021834"/>
            <a:chOff x="0" y="0"/>
            <a:chExt cx="38100" cy="2695778"/>
          </a:xfrm>
        </p:grpSpPr>
        <p:sp>
          <p:nvSpPr>
            <p:cNvPr name="Freeform 24" id="24"/>
            <p:cNvSpPr/>
            <p:nvPr/>
          </p:nvSpPr>
          <p:spPr>
            <a:xfrm flipH="false" flipV="false" rot="0">
              <a:off x="0" y="0"/>
              <a:ext cx="38100" cy="2695829"/>
            </a:xfrm>
            <a:custGeom>
              <a:avLst/>
              <a:gdLst/>
              <a:ahLst/>
              <a:cxnLst/>
              <a:rect r="r" b="b" t="t" l="l"/>
              <a:pathLst>
                <a:path h="2695829" w="38100">
                  <a:moveTo>
                    <a:pt x="0" y="19050"/>
                  </a:moveTo>
                  <a:cubicBezTo>
                    <a:pt x="0" y="8509"/>
                    <a:pt x="8509" y="0"/>
                    <a:pt x="19050" y="0"/>
                  </a:cubicBezTo>
                  <a:cubicBezTo>
                    <a:pt x="29591" y="0"/>
                    <a:pt x="38100" y="8509"/>
                    <a:pt x="38100" y="19050"/>
                  </a:cubicBezTo>
                  <a:lnTo>
                    <a:pt x="38100" y="2676779"/>
                  </a:lnTo>
                  <a:cubicBezTo>
                    <a:pt x="38100" y="2687320"/>
                    <a:pt x="29591" y="2695829"/>
                    <a:pt x="19050" y="2695829"/>
                  </a:cubicBezTo>
                  <a:cubicBezTo>
                    <a:pt x="8509" y="2695829"/>
                    <a:pt x="0" y="2687320"/>
                    <a:pt x="0" y="2676779"/>
                  </a:cubicBezTo>
                  <a:close/>
                </a:path>
              </a:pathLst>
            </a:custGeom>
            <a:solidFill>
              <a:srgbClr val="BBC2DC"/>
            </a:solidFill>
          </p:spPr>
        </p:sp>
      </p:grpSp>
      <p:sp>
        <p:nvSpPr>
          <p:cNvPr name="TextBox 25" id="25"/>
          <p:cNvSpPr txBox="true"/>
          <p:nvPr/>
        </p:nvSpPr>
        <p:spPr>
          <a:xfrm rot="0">
            <a:off x="6844455" y="7789516"/>
            <a:ext cx="3642722" cy="350491"/>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Isı Gücü Çıkışı</a:t>
            </a:r>
          </a:p>
        </p:txBody>
      </p:sp>
      <p:sp>
        <p:nvSpPr>
          <p:cNvPr name="TextBox 26" id="26"/>
          <p:cNvSpPr txBox="true"/>
          <p:nvPr/>
        </p:nvSpPr>
        <p:spPr>
          <a:xfrm rot="0">
            <a:off x="6844455" y="8187633"/>
            <a:ext cx="4599089" cy="121860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Sistemin yönünü (soğutma veya ısıtma) ve kompresör gücünü tayin eder. Merkezi nokta sıfırdır; eksiye düştükçe soğutma, artıya çıktıkça ısıtma devreye girer.</a:t>
            </a:r>
          </a:p>
        </p:txBody>
      </p:sp>
      <p:grpSp>
        <p:nvGrpSpPr>
          <p:cNvPr name="Group 27" id="27"/>
          <p:cNvGrpSpPr/>
          <p:nvPr/>
        </p:nvGrpSpPr>
        <p:grpSpPr>
          <a:xfrm rot="0">
            <a:off x="11650856" y="7591720"/>
            <a:ext cx="5013722" cy="2021834"/>
            <a:chOff x="0" y="0"/>
            <a:chExt cx="6684962" cy="2695778"/>
          </a:xfrm>
        </p:grpSpPr>
        <p:sp>
          <p:nvSpPr>
            <p:cNvPr name="Freeform 28" id="28"/>
            <p:cNvSpPr/>
            <p:nvPr/>
          </p:nvSpPr>
          <p:spPr>
            <a:xfrm flipH="false" flipV="false" rot="0">
              <a:off x="0" y="0"/>
              <a:ext cx="6685026" cy="2695829"/>
            </a:xfrm>
            <a:custGeom>
              <a:avLst/>
              <a:gdLst/>
              <a:ahLst/>
              <a:cxnLst/>
              <a:rect r="r" b="b" t="t" l="l"/>
              <a:pathLst>
                <a:path h="2695829" w="6685026">
                  <a:moveTo>
                    <a:pt x="0" y="0"/>
                  </a:moveTo>
                  <a:lnTo>
                    <a:pt x="6685026" y="0"/>
                  </a:lnTo>
                  <a:lnTo>
                    <a:pt x="6685026" y="2695829"/>
                  </a:lnTo>
                  <a:lnTo>
                    <a:pt x="0" y="2695829"/>
                  </a:lnTo>
                  <a:close/>
                </a:path>
              </a:pathLst>
            </a:custGeom>
            <a:solidFill>
              <a:srgbClr val="D5DCF6"/>
            </a:solidFill>
          </p:spPr>
        </p:sp>
      </p:grpSp>
      <p:grpSp>
        <p:nvGrpSpPr>
          <p:cNvPr name="Group 29" id="29"/>
          <p:cNvGrpSpPr/>
          <p:nvPr/>
        </p:nvGrpSpPr>
        <p:grpSpPr>
          <a:xfrm rot="0">
            <a:off x="11650856" y="7591720"/>
            <a:ext cx="28575" cy="2021834"/>
            <a:chOff x="0" y="0"/>
            <a:chExt cx="38100" cy="2695778"/>
          </a:xfrm>
        </p:grpSpPr>
        <p:sp>
          <p:nvSpPr>
            <p:cNvPr name="Freeform 30" id="30"/>
            <p:cNvSpPr/>
            <p:nvPr/>
          </p:nvSpPr>
          <p:spPr>
            <a:xfrm flipH="false" flipV="false" rot="0">
              <a:off x="0" y="0"/>
              <a:ext cx="38100" cy="2695829"/>
            </a:xfrm>
            <a:custGeom>
              <a:avLst/>
              <a:gdLst/>
              <a:ahLst/>
              <a:cxnLst/>
              <a:rect r="r" b="b" t="t" l="l"/>
              <a:pathLst>
                <a:path h="2695829" w="38100">
                  <a:moveTo>
                    <a:pt x="0" y="19050"/>
                  </a:moveTo>
                  <a:cubicBezTo>
                    <a:pt x="0" y="8509"/>
                    <a:pt x="8509" y="0"/>
                    <a:pt x="19050" y="0"/>
                  </a:cubicBezTo>
                  <a:cubicBezTo>
                    <a:pt x="29591" y="0"/>
                    <a:pt x="38100" y="8509"/>
                    <a:pt x="38100" y="19050"/>
                  </a:cubicBezTo>
                  <a:lnTo>
                    <a:pt x="38100" y="2676779"/>
                  </a:lnTo>
                  <a:cubicBezTo>
                    <a:pt x="38100" y="2687320"/>
                    <a:pt x="29591" y="2695829"/>
                    <a:pt x="19050" y="2695829"/>
                  </a:cubicBezTo>
                  <a:cubicBezTo>
                    <a:pt x="8509" y="2695829"/>
                    <a:pt x="0" y="2687320"/>
                    <a:pt x="0" y="2676779"/>
                  </a:cubicBezTo>
                  <a:close/>
                </a:path>
              </a:pathLst>
            </a:custGeom>
            <a:solidFill>
              <a:srgbClr val="BBC2DC"/>
            </a:solidFill>
          </p:spPr>
        </p:sp>
      </p:grpSp>
      <p:sp>
        <p:nvSpPr>
          <p:cNvPr name="TextBox 31" id="31"/>
          <p:cNvSpPr txBox="true"/>
          <p:nvPr/>
        </p:nvSpPr>
        <p:spPr>
          <a:xfrm rot="0">
            <a:off x="11858177" y="7789516"/>
            <a:ext cx="3642722" cy="350491"/>
          </a:xfrm>
          <a:prstGeom prst="rect">
            <a:avLst/>
          </a:prstGeom>
        </p:spPr>
        <p:txBody>
          <a:bodyPr anchor="t" rtlCol="false" tIns="0" lIns="0" bIns="0" rIns="0">
            <a:spAutoFit/>
          </a:bodyPr>
          <a:lstStyle/>
          <a:p>
            <a:pPr algn="l">
              <a:lnSpc>
                <a:spcPts val="2620"/>
              </a:lnSpc>
            </a:pPr>
            <a:r>
              <a:rPr lang="en-US" sz="2100" b="true">
                <a:solidFill>
                  <a:srgbClr val="3B3535"/>
                </a:solidFill>
                <a:latin typeface="Alexandria Bold"/>
                <a:ea typeface="Alexandria Bold"/>
                <a:cs typeface="Alexandria Bold"/>
                <a:sym typeface="Alexandria Bold"/>
              </a:rPr>
              <a:t>Centroid Yöntemi</a:t>
            </a:r>
          </a:p>
        </p:txBody>
      </p:sp>
      <p:sp>
        <p:nvSpPr>
          <p:cNvPr name="TextBox 32" id="32"/>
          <p:cNvSpPr txBox="true"/>
          <p:nvPr/>
        </p:nvSpPr>
        <p:spPr>
          <a:xfrm rot="0">
            <a:off x="11858177" y="8187633"/>
            <a:ext cx="4599089" cy="1218609"/>
          </a:xfrm>
          <a:prstGeom prst="rect">
            <a:avLst/>
          </a:prstGeom>
        </p:spPr>
        <p:txBody>
          <a:bodyPr anchor="t" rtlCol="false" tIns="0" lIns="0" bIns="0" rIns="0">
            <a:spAutoFit/>
          </a:bodyPr>
          <a:lstStyle/>
          <a:p>
            <a:pPr algn="l">
              <a:lnSpc>
                <a:spcPts val="2265"/>
              </a:lnSpc>
            </a:pPr>
            <a:r>
              <a:rPr lang="en-US" sz="1600">
                <a:solidFill>
                  <a:srgbClr val="3B3535"/>
                </a:solidFill>
                <a:latin typeface="Arimo"/>
                <a:ea typeface="Arimo"/>
                <a:cs typeface="Arimo"/>
                <a:sym typeface="Arimo"/>
              </a:rPr>
              <a:t>scikit-fuzzy kütüphanesinin centroid durulaştırma metodu, bulanık kümenin geometrik ağırlık merkezini hesaplayarak en dengeli kontrol sinyalini üretir.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2228555" y="554088"/>
            <a:ext cx="12054478" cy="645319"/>
          </a:xfrm>
          <a:prstGeom prst="rect">
            <a:avLst/>
          </a:prstGeom>
        </p:spPr>
        <p:txBody>
          <a:bodyPr anchor="t" rtlCol="false" tIns="0" lIns="0" bIns="0" rIns="0">
            <a:spAutoFit/>
          </a:bodyPr>
          <a:lstStyle/>
          <a:p>
            <a:pPr algn="l">
              <a:lnSpc>
                <a:spcPts val="4867"/>
              </a:lnSpc>
            </a:pPr>
            <a:r>
              <a:rPr lang="en-US" sz="3900" b="true">
                <a:solidFill>
                  <a:srgbClr val="1F1E1E"/>
                </a:solidFill>
                <a:latin typeface="Alexandria Bold"/>
                <a:ea typeface="Alexandria Bold"/>
                <a:cs typeface="Alexandria Bold"/>
                <a:sym typeface="Alexandria Bold"/>
              </a:rPr>
              <a:t>6. Kural Tabanı ve Mamdani Çıkarım Motoru</a:t>
            </a:r>
          </a:p>
        </p:txBody>
      </p:sp>
      <p:sp>
        <p:nvSpPr>
          <p:cNvPr name="TextBox 7" id="7"/>
          <p:cNvSpPr txBox="true"/>
          <p:nvPr/>
        </p:nvSpPr>
        <p:spPr>
          <a:xfrm rot="0">
            <a:off x="2228555" y="1419520"/>
            <a:ext cx="13830900" cy="826294"/>
          </a:xfrm>
          <a:prstGeom prst="rect">
            <a:avLst/>
          </a:prstGeom>
        </p:spPr>
        <p:txBody>
          <a:bodyPr anchor="t" rtlCol="false" tIns="0" lIns="0" bIns="0" rIns="0">
            <a:spAutoFit/>
          </a:bodyPr>
          <a:lstStyle/>
          <a:p>
            <a:pPr algn="l">
              <a:lnSpc>
                <a:spcPts val="1915"/>
              </a:lnSpc>
            </a:pPr>
            <a:r>
              <a:rPr lang="en-US" sz="1399">
                <a:solidFill>
                  <a:srgbClr val="3B3535"/>
                </a:solidFill>
                <a:latin typeface="Arimo"/>
                <a:ea typeface="Arimo"/>
                <a:cs typeface="Arimo"/>
                <a:sym typeface="Arimo"/>
              </a:rPr>
              <a:t>Sistemin "beyni", uzman bilgisiyle tasarlanmış </a:t>
            </a:r>
            <a:r>
              <a:rPr lang="en-US" sz="1399" b="true">
                <a:solidFill>
                  <a:srgbClr val="3B3535"/>
                </a:solidFill>
                <a:latin typeface="Arimo Bold"/>
                <a:ea typeface="Arimo Bold"/>
                <a:cs typeface="Arimo Bold"/>
                <a:sym typeface="Arimo Bold"/>
              </a:rPr>
              <a:t>20 adet yapılandırılmış IF-THEN kuralıdır.</a:t>
            </a:r>
            <a:r>
              <a:rPr lang="en-US" sz="1399">
                <a:solidFill>
                  <a:srgbClr val="3B3535"/>
                </a:solidFill>
                <a:latin typeface="Arimo"/>
                <a:ea typeface="Arimo"/>
                <a:cs typeface="Arimo"/>
                <a:sym typeface="Arimo"/>
              </a:rPr>
              <a:t> Bu kurallar 5 farklı ortam durumuna göre kategorize edilmiştir. Çıkarım motoru olarak endüstri standardı olan </a:t>
            </a:r>
            <a:r>
              <a:rPr lang="en-US" sz="1399" b="true">
                <a:solidFill>
                  <a:srgbClr val="3B3535"/>
                </a:solidFill>
                <a:latin typeface="Arimo Bold"/>
                <a:ea typeface="Arimo Bold"/>
                <a:cs typeface="Arimo Bold"/>
                <a:sym typeface="Arimo Bold"/>
              </a:rPr>
              <a:t>Mamdani modeli</a:t>
            </a:r>
            <a:r>
              <a:rPr lang="en-US" sz="1399">
                <a:solidFill>
                  <a:srgbClr val="3B3535"/>
                </a:solidFill>
                <a:latin typeface="Arimo"/>
                <a:ea typeface="Arimo"/>
                <a:cs typeface="Arimo"/>
                <a:sym typeface="Arimo"/>
              </a:rPr>
              <a:t> kullanılmıştır. (İfadelerin birleşimi için AND=MIN, OR=MAX operatörleri uygulanır).</a:t>
            </a:r>
          </a:p>
        </p:txBody>
      </p:sp>
      <p:grpSp>
        <p:nvGrpSpPr>
          <p:cNvPr name="Group 8" id="8"/>
          <p:cNvGrpSpPr/>
          <p:nvPr/>
        </p:nvGrpSpPr>
        <p:grpSpPr>
          <a:xfrm rot="0">
            <a:off x="2219030" y="2672505"/>
            <a:ext cx="4540148" cy="2744991"/>
            <a:chOff x="0" y="0"/>
            <a:chExt cx="6053531" cy="3659988"/>
          </a:xfrm>
        </p:grpSpPr>
        <p:sp>
          <p:nvSpPr>
            <p:cNvPr name="Freeform 9" id="9"/>
            <p:cNvSpPr/>
            <p:nvPr/>
          </p:nvSpPr>
          <p:spPr>
            <a:xfrm flipH="false" flipV="false" rot="0">
              <a:off x="12700" y="12700"/>
              <a:ext cx="6028182" cy="3634613"/>
            </a:xfrm>
            <a:custGeom>
              <a:avLst/>
              <a:gdLst/>
              <a:ahLst/>
              <a:cxnLst/>
              <a:rect r="r" b="b" t="t" l="l"/>
              <a:pathLst>
                <a:path h="3634613" w="6028182">
                  <a:moveTo>
                    <a:pt x="0" y="121920"/>
                  </a:moveTo>
                  <a:cubicBezTo>
                    <a:pt x="0" y="54610"/>
                    <a:pt x="54737" y="0"/>
                    <a:pt x="122301" y="0"/>
                  </a:cubicBezTo>
                  <a:lnTo>
                    <a:pt x="5905881" y="0"/>
                  </a:lnTo>
                  <a:cubicBezTo>
                    <a:pt x="5973445" y="0"/>
                    <a:pt x="6028182" y="54610"/>
                    <a:pt x="6028182" y="121920"/>
                  </a:cubicBezTo>
                  <a:lnTo>
                    <a:pt x="6028182" y="3512693"/>
                  </a:lnTo>
                  <a:cubicBezTo>
                    <a:pt x="6028182" y="3580003"/>
                    <a:pt x="5973445" y="3634613"/>
                    <a:pt x="5905881" y="3634613"/>
                  </a:cubicBezTo>
                  <a:lnTo>
                    <a:pt x="122301" y="3634613"/>
                  </a:lnTo>
                  <a:cubicBezTo>
                    <a:pt x="54737" y="3634613"/>
                    <a:pt x="0" y="3580003"/>
                    <a:pt x="0" y="3512693"/>
                  </a:cubicBezTo>
                  <a:close/>
                </a:path>
              </a:pathLst>
            </a:custGeom>
            <a:solidFill>
              <a:srgbClr val="FFFAFA"/>
            </a:solidFill>
          </p:spPr>
        </p:sp>
        <p:sp>
          <p:nvSpPr>
            <p:cNvPr name="Freeform 10" id="10"/>
            <p:cNvSpPr/>
            <p:nvPr/>
          </p:nvSpPr>
          <p:spPr>
            <a:xfrm flipH="false" flipV="false" rot="0">
              <a:off x="0" y="0"/>
              <a:ext cx="6053582" cy="3660013"/>
            </a:xfrm>
            <a:custGeom>
              <a:avLst/>
              <a:gdLst/>
              <a:ahLst/>
              <a:cxnLst/>
              <a:rect r="r" b="b" t="t" l="l"/>
              <a:pathLst>
                <a:path h="3660013" w="6053582">
                  <a:moveTo>
                    <a:pt x="0" y="134620"/>
                  </a:moveTo>
                  <a:cubicBezTo>
                    <a:pt x="0" y="60198"/>
                    <a:pt x="60452" y="0"/>
                    <a:pt x="135001" y="0"/>
                  </a:cubicBezTo>
                  <a:lnTo>
                    <a:pt x="5918581" y="0"/>
                  </a:lnTo>
                  <a:lnTo>
                    <a:pt x="5918581" y="12700"/>
                  </a:lnTo>
                  <a:lnTo>
                    <a:pt x="5918581" y="0"/>
                  </a:lnTo>
                  <a:cubicBezTo>
                    <a:pt x="5993130" y="0"/>
                    <a:pt x="6053582" y="60198"/>
                    <a:pt x="6053582" y="134620"/>
                  </a:cubicBezTo>
                  <a:lnTo>
                    <a:pt x="6040882" y="134620"/>
                  </a:lnTo>
                  <a:lnTo>
                    <a:pt x="6053582" y="134620"/>
                  </a:lnTo>
                  <a:lnTo>
                    <a:pt x="6053582" y="3525393"/>
                  </a:lnTo>
                  <a:lnTo>
                    <a:pt x="6040882" y="3525393"/>
                  </a:lnTo>
                  <a:lnTo>
                    <a:pt x="6053582" y="3525393"/>
                  </a:lnTo>
                  <a:cubicBezTo>
                    <a:pt x="6053582" y="3599815"/>
                    <a:pt x="5993130" y="3660013"/>
                    <a:pt x="5918581" y="3660013"/>
                  </a:cubicBezTo>
                  <a:lnTo>
                    <a:pt x="5918581" y="3647313"/>
                  </a:lnTo>
                  <a:lnTo>
                    <a:pt x="5918581" y="3660013"/>
                  </a:lnTo>
                  <a:lnTo>
                    <a:pt x="135001" y="3660013"/>
                  </a:lnTo>
                  <a:lnTo>
                    <a:pt x="135001" y="3647313"/>
                  </a:lnTo>
                  <a:lnTo>
                    <a:pt x="135001" y="3660013"/>
                  </a:lnTo>
                  <a:cubicBezTo>
                    <a:pt x="60452" y="3660013"/>
                    <a:pt x="0" y="3599688"/>
                    <a:pt x="0" y="3525393"/>
                  </a:cubicBezTo>
                  <a:lnTo>
                    <a:pt x="0" y="134620"/>
                  </a:lnTo>
                  <a:lnTo>
                    <a:pt x="12700" y="134620"/>
                  </a:lnTo>
                  <a:lnTo>
                    <a:pt x="0" y="134620"/>
                  </a:lnTo>
                  <a:moveTo>
                    <a:pt x="25400" y="134620"/>
                  </a:moveTo>
                  <a:lnTo>
                    <a:pt x="25400" y="3525393"/>
                  </a:lnTo>
                  <a:lnTo>
                    <a:pt x="12700" y="3525393"/>
                  </a:lnTo>
                  <a:lnTo>
                    <a:pt x="25400" y="3525393"/>
                  </a:lnTo>
                  <a:cubicBezTo>
                    <a:pt x="25400" y="3585718"/>
                    <a:pt x="74422" y="3634613"/>
                    <a:pt x="135001" y="3634613"/>
                  </a:cubicBezTo>
                  <a:lnTo>
                    <a:pt x="5918581" y="3634613"/>
                  </a:lnTo>
                  <a:cubicBezTo>
                    <a:pt x="5979160" y="3634613"/>
                    <a:pt x="6028182" y="3585718"/>
                    <a:pt x="6028182" y="3525393"/>
                  </a:cubicBezTo>
                  <a:lnTo>
                    <a:pt x="6028182" y="134620"/>
                  </a:lnTo>
                  <a:cubicBezTo>
                    <a:pt x="6028182" y="74295"/>
                    <a:pt x="5979160" y="25400"/>
                    <a:pt x="5918581" y="25400"/>
                  </a:cubicBezTo>
                  <a:lnTo>
                    <a:pt x="135001" y="25400"/>
                  </a:lnTo>
                  <a:lnTo>
                    <a:pt x="135001" y="12700"/>
                  </a:lnTo>
                  <a:lnTo>
                    <a:pt x="135001" y="25400"/>
                  </a:lnTo>
                  <a:cubicBezTo>
                    <a:pt x="74422" y="25400"/>
                    <a:pt x="25400" y="74295"/>
                    <a:pt x="25400" y="134620"/>
                  </a:cubicBezTo>
                  <a:close/>
                </a:path>
              </a:pathLst>
            </a:custGeom>
            <a:solidFill>
              <a:srgbClr val="BBC2DC"/>
            </a:solidFill>
          </p:spPr>
        </p:sp>
      </p:grpSp>
      <p:grpSp>
        <p:nvGrpSpPr>
          <p:cNvPr name="Group 11" id="11"/>
          <p:cNvGrpSpPr/>
          <p:nvPr/>
        </p:nvGrpSpPr>
        <p:grpSpPr>
          <a:xfrm rot="0">
            <a:off x="2228555" y="2662980"/>
            <a:ext cx="4521098" cy="76200"/>
            <a:chOff x="0" y="0"/>
            <a:chExt cx="6028131" cy="101600"/>
          </a:xfrm>
        </p:grpSpPr>
        <p:sp>
          <p:nvSpPr>
            <p:cNvPr name="Freeform 12" id="12"/>
            <p:cNvSpPr/>
            <p:nvPr/>
          </p:nvSpPr>
          <p:spPr>
            <a:xfrm flipH="false" flipV="false" rot="0">
              <a:off x="0" y="0"/>
              <a:ext cx="6028182" cy="101600"/>
            </a:xfrm>
            <a:custGeom>
              <a:avLst/>
              <a:gdLst/>
              <a:ahLst/>
              <a:cxnLst/>
              <a:rect r="r" b="b" t="t" l="l"/>
              <a:pathLst>
                <a:path h="101600" w="6028182">
                  <a:moveTo>
                    <a:pt x="0" y="50800"/>
                  </a:moveTo>
                  <a:cubicBezTo>
                    <a:pt x="0" y="22733"/>
                    <a:pt x="22733" y="0"/>
                    <a:pt x="50800" y="0"/>
                  </a:cubicBezTo>
                  <a:lnTo>
                    <a:pt x="5977382" y="0"/>
                  </a:lnTo>
                  <a:cubicBezTo>
                    <a:pt x="6005449" y="0"/>
                    <a:pt x="6028182" y="22733"/>
                    <a:pt x="6028182" y="50800"/>
                  </a:cubicBezTo>
                  <a:cubicBezTo>
                    <a:pt x="6028182" y="78867"/>
                    <a:pt x="6005449" y="101600"/>
                    <a:pt x="5977382" y="101600"/>
                  </a:cubicBezTo>
                  <a:lnTo>
                    <a:pt x="50800" y="101600"/>
                  </a:lnTo>
                  <a:cubicBezTo>
                    <a:pt x="22733" y="101600"/>
                    <a:pt x="0" y="78867"/>
                    <a:pt x="0" y="50800"/>
                  </a:cubicBezTo>
                  <a:close/>
                </a:path>
              </a:pathLst>
            </a:custGeom>
            <a:solidFill>
              <a:srgbClr val="1A2D7A"/>
            </a:solidFill>
          </p:spPr>
        </p:sp>
      </p:grpSp>
      <p:grpSp>
        <p:nvGrpSpPr>
          <p:cNvPr name="Group 13" id="13"/>
          <p:cNvGrpSpPr/>
          <p:nvPr/>
        </p:nvGrpSpPr>
        <p:grpSpPr>
          <a:xfrm rot="0">
            <a:off x="4203506" y="2396433"/>
            <a:ext cx="571205" cy="571205"/>
            <a:chOff x="0" y="0"/>
            <a:chExt cx="761606" cy="761606"/>
          </a:xfrm>
        </p:grpSpPr>
        <p:sp>
          <p:nvSpPr>
            <p:cNvPr name="Freeform 14" id="14"/>
            <p:cNvSpPr/>
            <p:nvPr/>
          </p:nvSpPr>
          <p:spPr>
            <a:xfrm flipH="false" flipV="false" rot="0">
              <a:off x="0" y="0"/>
              <a:ext cx="761619" cy="761619"/>
            </a:xfrm>
            <a:custGeom>
              <a:avLst/>
              <a:gdLst/>
              <a:ahLst/>
              <a:cxnLst/>
              <a:rect r="r" b="b" t="t" l="l"/>
              <a:pathLst>
                <a:path h="761619" w="761619">
                  <a:moveTo>
                    <a:pt x="0" y="380746"/>
                  </a:moveTo>
                  <a:cubicBezTo>
                    <a:pt x="0" y="170434"/>
                    <a:pt x="170434" y="0"/>
                    <a:pt x="380746" y="0"/>
                  </a:cubicBezTo>
                  <a:cubicBezTo>
                    <a:pt x="591058" y="0"/>
                    <a:pt x="761619" y="170434"/>
                    <a:pt x="761619" y="380746"/>
                  </a:cubicBezTo>
                  <a:cubicBezTo>
                    <a:pt x="761619" y="591058"/>
                    <a:pt x="591058" y="761619"/>
                    <a:pt x="380746" y="761619"/>
                  </a:cubicBezTo>
                  <a:cubicBezTo>
                    <a:pt x="170434" y="761619"/>
                    <a:pt x="0" y="591058"/>
                    <a:pt x="0" y="380746"/>
                  </a:cubicBezTo>
                  <a:close/>
                </a:path>
              </a:pathLst>
            </a:custGeom>
            <a:solidFill>
              <a:srgbClr val="1A2D7A"/>
            </a:solidFill>
          </p:spPr>
        </p:sp>
      </p:grpSp>
      <p:grpSp>
        <p:nvGrpSpPr>
          <p:cNvPr name="Group 15" id="15"/>
          <p:cNvGrpSpPr/>
          <p:nvPr/>
        </p:nvGrpSpPr>
        <p:grpSpPr>
          <a:xfrm rot="0">
            <a:off x="4146275" y="2512514"/>
            <a:ext cx="685648" cy="285598"/>
            <a:chOff x="0" y="0"/>
            <a:chExt cx="914197" cy="380797"/>
          </a:xfrm>
        </p:grpSpPr>
        <p:sp>
          <p:nvSpPr>
            <p:cNvPr name="Freeform 16" id="16"/>
            <p:cNvSpPr/>
            <p:nvPr/>
          </p:nvSpPr>
          <p:spPr>
            <a:xfrm flipH="false" flipV="false" rot="0">
              <a:off x="0" y="0"/>
              <a:ext cx="914203" cy="380803"/>
            </a:xfrm>
            <a:custGeom>
              <a:avLst/>
              <a:gdLst/>
              <a:ahLst/>
              <a:cxnLst/>
              <a:rect r="r" b="b" t="t" l="l"/>
              <a:pathLst>
                <a:path h="380803" w="914203">
                  <a:moveTo>
                    <a:pt x="0" y="0"/>
                  </a:moveTo>
                  <a:lnTo>
                    <a:pt x="914203" y="0"/>
                  </a:lnTo>
                  <a:lnTo>
                    <a:pt x="914203" y="380803"/>
                  </a:lnTo>
                  <a:lnTo>
                    <a:pt x="0" y="380803"/>
                  </a:lnTo>
                  <a:close/>
                </a:path>
              </a:pathLst>
            </a:custGeom>
            <a:blipFill>
              <a:blip r:embed="rId3">
                <a:alphaModFix amt="0"/>
              </a:blip>
              <a:stretch>
                <a:fillRect l="-3443" t="0" r="-3442" b="1"/>
              </a:stretch>
            </a:blipFill>
          </p:spPr>
        </p:sp>
        <p:sp>
          <p:nvSpPr>
            <p:cNvPr name="TextBox 17" id="17"/>
            <p:cNvSpPr txBox="true"/>
            <p:nvPr/>
          </p:nvSpPr>
          <p:spPr>
            <a:xfrm>
              <a:off x="0" y="0"/>
              <a:ext cx="914197" cy="380797"/>
            </a:xfrm>
            <a:prstGeom prst="rect">
              <a:avLst/>
            </a:prstGeom>
          </p:spPr>
          <p:txBody>
            <a:bodyPr anchor="ctr" rtlCol="false" tIns="0" lIns="0" bIns="0" rIns="0"/>
            <a:lstStyle/>
            <a:p>
              <a:pPr algn="ctr">
                <a:lnSpc>
                  <a:spcPts val="2039"/>
                </a:lnSpc>
              </a:pPr>
              <a:r>
                <a:rPr lang="en-US" sz="1700" b="true">
                  <a:solidFill>
                    <a:srgbClr val="FFFFFF"/>
                  </a:solidFill>
                  <a:latin typeface="Alexandria Bold"/>
                  <a:ea typeface="Alexandria Bold"/>
                  <a:cs typeface="Alexandria Bold"/>
                  <a:sym typeface="Alexandria Bold"/>
                </a:rPr>
                <a:t>1</a:t>
              </a:r>
            </a:p>
          </p:txBody>
        </p:sp>
      </p:grpSp>
      <p:sp>
        <p:nvSpPr>
          <p:cNvPr name="TextBox 18" id="18"/>
          <p:cNvSpPr txBox="true"/>
          <p:nvPr/>
        </p:nvSpPr>
        <p:spPr>
          <a:xfrm rot="0">
            <a:off x="2437952" y="3148460"/>
            <a:ext cx="3419923" cy="322812"/>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Aşırı Sıcak Senaryo</a:t>
            </a:r>
          </a:p>
        </p:txBody>
      </p:sp>
      <p:sp>
        <p:nvSpPr>
          <p:cNvPr name="TextBox 19" id="19"/>
          <p:cNvSpPr txBox="true"/>
          <p:nvPr/>
        </p:nvSpPr>
        <p:spPr>
          <a:xfrm rot="0">
            <a:off x="2437952" y="3494332"/>
            <a:ext cx="4102294" cy="845344"/>
          </a:xfrm>
          <a:prstGeom prst="rect">
            <a:avLst/>
          </a:prstGeom>
        </p:spPr>
        <p:txBody>
          <a:bodyPr anchor="t" rtlCol="false" tIns="0" lIns="0" bIns="0" rIns="0">
            <a:spAutoFit/>
          </a:bodyPr>
          <a:lstStyle/>
          <a:p>
            <a:pPr algn="l">
              <a:lnSpc>
                <a:spcPts val="1915"/>
              </a:lnSpc>
            </a:pPr>
            <a:r>
              <a:rPr lang="en-US" sz="1399">
                <a:solidFill>
                  <a:srgbClr val="3B3535"/>
                </a:solidFill>
                <a:latin typeface="Consolas"/>
                <a:ea typeface="Consolas"/>
                <a:cs typeface="Consolas"/>
                <a:sym typeface="Consolas"/>
              </a:rPr>
              <a:t>IF iç=SICAK AND dış=SICAK AND kişi=ÇOK</a:t>
            </a:r>
          </a:p>
          <a:p>
            <a:pPr algn="l">
              <a:lnSpc>
                <a:spcPts val="1915"/>
              </a:lnSpc>
            </a:pPr>
            <a:r>
              <a:rPr lang="en-US" sz="1399" b="true">
                <a:solidFill>
                  <a:srgbClr val="3B3535"/>
                </a:solidFill>
                <a:latin typeface="Arimo Bold"/>
                <a:ea typeface="Arimo Bold"/>
                <a:cs typeface="Arimo Bold"/>
                <a:sym typeface="Arimo Bold"/>
              </a:rPr>
              <a:t>THEN fan=MAKSİMUM, güç=GÜÇLÜ_SOĞUTMA</a:t>
            </a:r>
          </a:p>
        </p:txBody>
      </p:sp>
      <p:sp>
        <p:nvSpPr>
          <p:cNvPr name="TextBox 20" id="20"/>
          <p:cNvSpPr txBox="true"/>
          <p:nvPr/>
        </p:nvSpPr>
        <p:spPr>
          <a:xfrm rot="0">
            <a:off x="2437952" y="4372270"/>
            <a:ext cx="4102294" cy="826294"/>
          </a:xfrm>
          <a:prstGeom prst="rect">
            <a:avLst/>
          </a:prstGeom>
        </p:spPr>
        <p:txBody>
          <a:bodyPr anchor="t" rtlCol="false" tIns="0" lIns="0" bIns="0" rIns="0">
            <a:spAutoFit/>
          </a:bodyPr>
          <a:lstStyle/>
          <a:p>
            <a:pPr algn="l">
              <a:lnSpc>
                <a:spcPts val="1915"/>
              </a:lnSpc>
            </a:pPr>
            <a:r>
              <a:rPr lang="en-US" sz="1399">
                <a:solidFill>
                  <a:srgbClr val="3B3535"/>
                </a:solidFill>
                <a:latin typeface="Arimo"/>
                <a:ea typeface="Arimo"/>
                <a:cs typeface="Arimo"/>
                <a:sym typeface="Arimo"/>
              </a:rPr>
              <a:t>Ev çok sıcak, dışarısı da kavurucu ve odada kalabalık var. Sistem maksimum kapasiteyle agresif soğutmaya geçer.</a:t>
            </a:r>
          </a:p>
        </p:txBody>
      </p:sp>
      <p:grpSp>
        <p:nvGrpSpPr>
          <p:cNvPr name="Group 21" id="21"/>
          <p:cNvGrpSpPr/>
          <p:nvPr/>
        </p:nvGrpSpPr>
        <p:grpSpPr>
          <a:xfrm rot="0">
            <a:off x="6873926" y="2672505"/>
            <a:ext cx="4540148" cy="2744991"/>
            <a:chOff x="0" y="0"/>
            <a:chExt cx="6053531" cy="3659988"/>
          </a:xfrm>
        </p:grpSpPr>
        <p:sp>
          <p:nvSpPr>
            <p:cNvPr name="Freeform 22" id="22"/>
            <p:cNvSpPr/>
            <p:nvPr/>
          </p:nvSpPr>
          <p:spPr>
            <a:xfrm flipH="false" flipV="false" rot="0">
              <a:off x="12700" y="12700"/>
              <a:ext cx="6028182" cy="3634613"/>
            </a:xfrm>
            <a:custGeom>
              <a:avLst/>
              <a:gdLst/>
              <a:ahLst/>
              <a:cxnLst/>
              <a:rect r="r" b="b" t="t" l="l"/>
              <a:pathLst>
                <a:path h="3634613" w="6028182">
                  <a:moveTo>
                    <a:pt x="0" y="121920"/>
                  </a:moveTo>
                  <a:cubicBezTo>
                    <a:pt x="0" y="54610"/>
                    <a:pt x="54737" y="0"/>
                    <a:pt x="122301" y="0"/>
                  </a:cubicBezTo>
                  <a:lnTo>
                    <a:pt x="5905881" y="0"/>
                  </a:lnTo>
                  <a:cubicBezTo>
                    <a:pt x="5973445" y="0"/>
                    <a:pt x="6028182" y="54610"/>
                    <a:pt x="6028182" y="121920"/>
                  </a:cubicBezTo>
                  <a:lnTo>
                    <a:pt x="6028182" y="3512693"/>
                  </a:lnTo>
                  <a:cubicBezTo>
                    <a:pt x="6028182" y="3580003"/>
                    <a:pt x="5973445" y="3634613"/>
                    <a:pt x="5905881" y="3634613"/>
                  </a:cubicBezTo>
                  <a:lnTo>
                    <a:pt x="122301" y="3634613"/>
                  </a:lnTo>
                  <a:cubicBezTo>
                    <a:pt x="54737" y="3634613"/>
                    <a:pt x="0" y="3580003"/>
                    <a:pt x="0" y="3512693"/>
                  </a:cubicBezTo>
                  <a:close/>
                </a:path>
              </a:pathLst>
            </a:custGeom>
            <a:solidFill>
              <a:srgbClr val="FFFAFA"/>
            </a:solidFill>
          </p:spPr>
        </p:sp>
        <p:sp>
          <p:nvSpPr>
            <p:cNvPr name="Freeform 23" id="23"/>
            <p:cNvSpPr/>
            <p:nvPr/>
          </p:nvSpPr>
          <p:spPr>
            <a:xfrm flipH="false" flipV="false" rot="0">
              <a:off x="0" y="0"/>
              <a:ext cx="6053582" cy="3660013"/>
            </a:xfrm>
            <a:custGeom>
              <a:avLst/>
              <a:gdLst/>
              <a:ahLst/>
              <a:cxnLst/>
              <a:rect r="r" b="b" t="t" l="l"/>
              <a:pathLst>
                <a:path h="3660013" w="6053582">
                  <a:moveTo>
                    <a:pt x="0" y="134620"/>
                  </a:moveTo>
                  <a:cubicBezTo>
                    <a:pt x="0" y="60198"/>
                    <a:pt x="60452" y="0"/>
                    <a:pt x="135001" y="0"/>
                  </a:cubicBezTo>
                  <a:lnTo>
                    <a:pt x="5918581" y="0"/>
                  </a:lnTo>
                  <a:lnTo>
                    <a:pt x="5918581" y="12700"/>
                  </a:lnTo>
                  <a:lnTo>
                    <a:pt x="5918581" y="0"/>
                  </a:lnTo>
                  <a:cubicBezTo>
                    <a:pt x="5993130" y="0"/>
                    <a:pt x="6053582" y="60198"/>
                    <a:pt x="6053582" y="134620"/>
                  </a:cubicBezTo>
                  <a:lnTo>
                    <a:pt x="6040882" y="134620"/>
                  </a:lnTo>
                  <a:lnTo>
                    <a:pt x="6053582" y="134620"/>
                  </a:lnTo>
                  <a:lnTo>
                    <a:pt x="6053582" y="3525393"/>
                  </a:lnTo>
                  <a:lnTo>
                    <a:pt x="6040882" y="3525393"/>
                  </a:lnTo>
                  <a:lnTo>
                    <a:pt x="6053582" y="3525393"/>
                  </a:lnTo>
                  <a:cubicBezTo>
                    <a:pt x="6053582" y="3599815"/>
                    <a:pt x="5993130" y="3660013"/>
                    <a:pt x="5918581" y="3660013"/>
                  </a:cubicBezTo>
                  <a:lnTo>
                    <a:pt x="5918581" y="3647313"/>
                  </a:lnTo>
                  <a:lnTo>
                    <a:pt x="5918581" y="3660013"/>
                  </a:lnTo>
                  <a:lnTo>
                    <a:pt x="135001" y="3660013"/>
                  </a:lnTo>
                  <a:lnTo>
                    <a:pt x="135001" y="3647313"/>
                  </a:lnTo>
                  <a:lnTo>
                    <a:pt x="135001" y="3660013"/>
                  </a:lnTo>
                  <a:cubicBezTo>
                    <a:pt x="60452" y="3660013"/>
                    <a:pt x="0" y="3599688"/>
                    <a:pt x="0" y="3525393"/>
                  </a:cubicBezTo>
                  <a:lnTo>
                    <a:pt x="0" y="134620"/>
                  </a:lnTo>
                  <a:lnTo>
                    <a:pt x="12700" y="134620"/>
                  </a:lnTo>
                  <a:lnTo>
                    <a:pt x="0" y="134620"/>
                  </a:lnTo>
                  <a:moveTo>
                    <a:pt x="25400" y="134620"/>
                  </a:moveTo>
                  <a:lnTo>
                    <a:pt x="25400" y="3525393"/>
                  </a:lnTo>
                  <a:lnTo>
                    <a:pt x="12700" y="3525393"/>
                  </a:lnTo>
                  <a:lnTo>
                    <a:pt x="25400" y="3525393"/>
                  </a:lnTo>
                  <a:cubicBezTo>
                    <a:pt x="25400" y="3585718"/>
                    <a:pt x="74422" y="3634613"/>
                    <a:pt x="135001" y="3634613"/>
                  </a:cubicBezTo>
                  <a:lnTo>
                    <a:pt x="5918581" y="3634613"/>
                  </a:lnTo>
                  <a:cubicBezTo>
                    <a:pt x="5979160" y="3634613"/>
                    <a:pt x="6028182" y="3585718"/>
                    <a:pt x="6028182" y="3525393"/>
                  </a:cubicBezTo>
                  <a:lnTo>
                    <a:pt x="6028182" y="134620"/>
                  </a:lnTo>
                  <a:cubicBezTo>
                    <a:pt x="6028182" y="74295"/>
                    <a:pt x="5979160" y="25400"/>
                    <a:pt x="5918581" y="25400"/>
                  </a:cubicBezTo>
                  <a:lnTo>
                    <a:pt x="135001" y="25400"/>
                  </a:lnTo>
                  <a:lnTo>
                    <a:pt x="135001" y="12700"/>
                  </a:lnTo>
                  <a:lnTo>
                    <a:pt x="135001" y="25400"/>
                  </a:lnTo>
                  <a:cubicBezTo>
                    <a:pt x="74422" y="25400"/>
                    <a:pt x="25400" y="74295"/>
                    <a:pt x="25400" y="134620"/>
                  </a:cubicBezTo>
                  <a:close/>
                </a:path>
              </a:pathLst>
            </a:custGeom>
            <a:solidFill>
              <a:srgbClr val="BBC2DC"/>
            </a:solidFill>
          </p:spPr>
        </p:sp>
      </p:grpSp>
      <p:grpSp>
        <p:nvGrpSpPr>
          <p:cNvPr name="Group 24" id="24"/>
          <p:cNvGrpSpPr/>
          <p:nvPr/>
        </p:nvGrpSpPr>
        <p:grpSpPr>
          <a:xfrm rot="0">
            <a:off x="6883451" y="2662980"/>
            <a:ext cx="4521098" cy="76200"/>
            <a:chOff x="0" y="0"/>
            <a:chExt cx="6028131" cy="101600"/>
          </a:xfrm>
        </p:grpSpPr>
        <p:sp>
          <p:nvSpPr>
            <p:cNvPr name="Freeform 25" id="25"/>
            <p:cNvSpPr/>
            <p:nvPr/>
          </p:nvSpPr>
          <p:spPr>
            <a:xfrm flipH="false" flipV="false" rot="0">
              <a:off x="0" y="0"/>
              <a:ext cx="6028182" cy="101600"/>
            </a:xfrm>
            <a:custGeom>
              <a:avLst/>
              <a:gdLst/>
              <a:ahLst/>
              <a:cxnLst/>
              <a:rect r="r" b="b" t="t" l="l"/>
              <a:pathLst>
                <a:path h="101600" w="6028182">
                  <a:moveTo>
                    <a:pt x="0" y="50800"/>
                  </a:moveTo>
                  <a:cubicBezTo>
                    <a:pt x="0" y="22733"/>
                    <a:pt x="22733" y="0"/>
                    <a:pt x="50800" y="0"/>
                  </a:cubicBezTo>
                  <a:lnTo>
                    <a:pt x="5977382" y="0"/>
                  </a:lnTo>
                  <a:cubicBezTo>
                    <a:pt x="6005449" y="0"/>
                    <a:pt x="6028182" y="22733"/>
                    <a:pt x="6028182" y="50800"/>
                  </a:cubicBezTo>
                  <a:cubicBezTo>
                    <a:pt x="6028182" y="78867"/>
                    <a:pt x="6005449" y="101600"/>
                    <a:pt x="5977382" y="101600"/>
                  </a:cubicBezTo>
                  <a:lnTo>
                    <a:pt x="50800" y="101600"/>
                  </a:lnTo>
                  <a:cubicBezTo>
                    <a:pt x="22733" y="101600"/>
                    <a:pt x="0" y="78867"/>
                    <a:pt x="0" y="50800"/>
                  </a:cubicBezTo>
                  <a:close/>
                </a:path>
              </a:pathLst>
            </a:custGeom>
            <a:solidFill>
              <a:srgbClr val="1A2D7A"/>
            </a:solidFill>
          </p:spPr>
        </p:sp>
      </p:grpSp>
      <p:grpSp>
        <p:nvGrpSpPr>
          <p:cNvPr name="Group 26" id="26"/>
          <p:cNvGrpSpPr/>
          <p:nvPr/>
        </p:nvGrpSpPr>
        <p:grpSpPr>
          <a:xfrm rot="0">
            <a:off x="8858402" y="2396433"/>
            <a:ext cx="571205" cy="571205"/>
            <a:chOff x="0" y="0"/>
            <a:chExt cx="761606" cy="761606"/>
          </a:xfrm>
        </p:grpSpPr>
        <p:sp>
          <p:nvSpPr>
            <p:cNvPr name="Freeform 27" id="27"/>
            <p:cNvSpPr/>
            <p:nvPr/>
          </p:nvSpPr>
          <p:spPr>
            <a:xfrm flipH="false" flipV="false" rot="0">
              <a:off x="0" y="0"/>
              <a:ext cx="761619" cy="761619"/>
            </a:xfrm>
            <a:custGeom>
              <a:avLst/>
              <a:gdLst/>
              <a:ahLst/>
              <a:cxnLst/>
              <a:rect r="r" b="b" t="t" l="l"/>
              <a:pathLst>
                <a:path h="761619" w="761619">
                  <a:moveTo>
                    <a:pt x="0" y="380746"/>
                  </a:moveTo>
                  <a:cubicBezTo>
                    <a:pt x="0" y="170434"/>
                    <a:pt x="170434" y="0"/>
                    <a:pt x="380746" y="0"/>
                  </a:cubicBezTo>
                  <a:cubicBezTo>
                    <a:pt x="591058" y="0"/>
                    <a:pt x="761619" y="170434"/>
                    <a:pt x="761619" y="380746"/>
                  </a:cubicBezTo>
                  <a:cubicBezTo>
                    <a:pt x="761619" y="591058"/>
                    <a:pt x="591058" y="761619"/>
                    <a:pt x="380746" y="761619"/>
                  </a:cubicBezTo>
                  <a:cubicBezTo>
                    <a:pt x="170434" y="761619"/>
                    <a:pt x="0" y="591058"/>
                    <a:pt x="0" y="380746"/>
                  </a:cubicBezTo>
                  <a:close/>
                </a:path>
              </a:pathLst>
            </a:custGeom>
            <a:solidFill>
              <a:srgbClr val="1A2D7A"/>
            </a:solidFill>
          </p:spPr>
        </p:sp>
      </p:grpSp>
      <p:grpSp>
        <p:nvGrpSpPr>
          <p:cNvPr name="Group 28" id="28"/>
          <p:cNvGrpSpPr/>
          <p:nvPr/>
        </p:nvGrpSpPr>
        <p:grpSpPr>
          <a:xfrm rot="0">
            <a:off x="8801105" y="2539155"/>
            <a:ext cx="685648" cy="285598"/>
            <a:chOff x="0" y="0"/>
            <a:chExt cx="914197" cy="380797"/>
          </a:xfrm>
        </p:grpSpPr>
        <p:sp>
          <p:nvSpPr>
            <p:cNvPr name="Freeform 29" id="29"/>
            <p:cNvSpPr/>
            <p:nvPr/>
          </p:nvSpPr>
          <p:spPr>
            <a:xfrm flipH="false" flipV="false" rot="0">
              <a:off x="0" y="0"/>
              <a:ext cx="914203" cy="380803"/>
            </a:xfrm>
            <a:custGeom>
              <a:avLst/>
              <a:gdLst/>
              <a:ahLst/>
              <a:cxnLst/>
              <a:rect r="r" b="b" t="t" l="l"/>
              <a:pathLst>
                <a:path h="380803" w="914203">
                  <a:moveTo>
                    <a:pt x="0" y="0"/>
                  </a:moveTo>
                  <a:lnTo>
                    <a:pt x="914203" y="0"/>
                  </a:lnTo>
                  <a:lnTo>
                    <a:pt x="914203" y="380803"/>
                  </a:lnTo>
                  <a:lnTo>
                    <a:pt x="0" y="380803"/>
                  </a:lnTo>
                  <a:close/>
                </a:path>
              </a:pathLst>
            </a:custGeom>
            <a:blipFill>
              <a:blip r:embed="rId3">
                <a:alphaModFix amt="0"/>
              </a:blip>
              <a:stretch>
                <a:fillRect l="-3443" t="0" r="-3442" b="1"/>
              </a:stretch>
            </a:blipFill>
          </p:spPr>
        </p:sp>
        <p:sp>
          <p:nvSpPr>
            <p:cNvPr name="TextBox 30" id="30"/>
            <p:cNvSpPr txBox="true"/>
            <p:nvPr/>
          </p:nvSpPr>
          <p:spPr>
            <a:xfrm>
              <a:off x="0" y="0"/>
              <a:ext cx="914197" cy="380797"/>
            </a:xfrm>
            <a:prstGeom prst="rect">
              <a:avLst/>
            </a:prstGeom>
          </p:spPr>
          <p:txBody>
            <a:bodyPr anchor="ctr" rtlCol="false" tIns="0" lIns="0" bIns="0" rIns="0"/>
            <a:lstStyle/>
            <a:p>
              <a:pPr algn="ctr">
                <a:lnSpc>
                  <a:spcPts val="2039"/>
                </a:lnSpc>
              </a:pPr>
              <a:r>
                <a:rPr lang="en-US" sz="1700" b="true">
                  <a:solidFill>
                    <a:srgbClr val="FFFFFF"/>
                  </a:solidFill>
                  <a:latin typeface="Alexandria Bold"/>
                  <a:ea typeface="Alexandria Bold"/>
                  <a:cs typeface="Alexandria Bold"/>
                  <a:sym typeface="Alexandria Bold"/>
                </a:rPr>
                <a:t>2</a:t>
              </a:r>
            </a:p>
          </p:txBody>
        </p:sp>
      </p:grpSp>
      <p:sp>
        <p:nvSpPr>
          <p:cNvPr name="TextBox 31" id="31"/>
          <p:cNvSpPr txBox="true"/>
          <p:nvPr/>
        </p:nvSpPr>
        <p:spPr>
          <a:xfrm rot="0">
            <a:off x="7092848" y="3148460"/>
            <a:ext cx="3621434" cy="322812"/>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İdeal Gece Senaryosu</a:t>
            </a:r>
          </a:p>
        </p:txBody>
      </p:sp>
      <p:sp>
        <p:nvSpPr>
          <p:cNvPr name="TextBox 32" id="32"/>
          <p:cNvSpPr txBox="true"/>
          <p:nvPr/>
        </p:nvSpPr>
        <p:spPr>
          <a:xfrm rot="0">
            <a:off x="7092848" y="3494332"/>
            <a:ext cx="4102294" cy="585788"/>
          </a:xfrm>
          <a:prstGeom prst="rect">
            <a:avLst/>
          </a:prstGeom>
        </p:spPr>
        <p:txBody>
          <a:bodyPr anchor="t" rtlCol="false" tIns="0" lIns="0" bIns="0" rIns="0">
            <a:spAutoFit/>
          </a:bodyPr>
          <a:lstStyle/>
          <a:p>
            <a:pPr algn="l">
              <a:lnSpc>
                <a:spcPts val="1915"/>
              </a:lnSpc>
            </a:pPr>
            <a:r>
              <a:rPr lang="en-US" sz="1399">
                <a:solidFill>
                  <a:srgbClr val="3B3535"/>
                </a:solidFill>
                <a:latin typeface="Consolas"/>
                <a:ea typeface="Consolas"/>
                <a:cs typeface="Consolas"/>
                <a:sym typeface="Consolas"/>
              </a:rPr>
              <a:t>IF iç=İDEAL AND kişi=AZ AND saat=GECE</a:t>
            </a:r>
          </a:p>
          <a:p>
            <a:pPr algn="l">
              <a:lnSpc>
                <a:spcPts val="1915"/>
              </a:lnSpc>
            </a:pPr>
            <a:r>
              <a:rPr lang="en-US" sz="1399" b="true">
                <a:solidFill>
                  <a:srgbClr val="3B3535"/>
                </a:solidFill>
                <a:latin typeface="Arimo Bold"/>
                <a:ea typeface="Arimo Bold"/>
                <a:cs typeface="Arimo Bold"/>
                <a:sym typeface="Arimo Bold"/>
              </a:rPr>
              <a:t>THEN fan=KAPALI, güç=KAPALI</a:t>
            </a:r>
          </a:p>
        </p:txBody>
      </p:sp>
      <p:sp>
        <p:nvSpPr>
          <p:cNvPr name="TextBox 33" id="33"/>
          <p:cNvSpPr txBox="true"/>
          <p:nvPr/>
        </p:nvSpPr>
        <p:spPr>
          <a:xfrm rot="0">
            <a:off x="7092848" y="4112714"/>
            <a:ext cx="4102294" cy="1085850"/>
          </a:xfrm>
          <a:prstGeom prst="rect">
            <a:avLst/>
          </a:prstGeom>
        </p:spPr>
        <p:txBody>
          <a:bodyPr anchor="t" rtlCol="false" tIns="0" lIns="0" bIns="0" rIns="0">
            <a:spAutoFit/>
          </a:bodyPr>
          <a:lstStyle/>
          <a:p>
            <a:pPr algn="l">
              <a:lnSpc>
                <a:spcPts val="1915"/>
              </a:lnSpc>
            </a:pPr>
            <a:r>
              <a:rPr lang="en-US" sz="1399">
                <a:solidFill>
                  <a:srgbClr val="3B3535"/>
                </a:solidFill>
                <a:latin typeface="Arimo"/>
                <a:ea typeface="Arimo"/>
                <a:cs typeface="Arimo"/>
                <a:sym typeface="Arimo"/>
              </a:rPr>
              <a:t>Sıcaklık ideal, odada kimse yok denecek kadar az ve saat gece. Enerji tasarrufu ve sessizlik için sistem dinlenme moduna alınır.</a:t>
            </a:r>
          </a:p>
        </p:txBody>
      </p:sp>
      <p:grpSp>
        <p:nvGrpSpPr>
          <p:cNvPr name="Group 34" id="34"/>
          <p:cNvGrpSpPr/>
          <p:nvPr/>
        </p:nvGrpSpPr>
        <p:grpSpPr>
          <a:xfrm rot="0">
            <a:off x="11528822" y="2672505"/>
            <a:ext cx="4540148" cy="2744991"/>
            <a:chOff x="0" y="0"/>
            <a:chExt cx="6053531" cy="3659988"/>
          </a:xfrm>
        </p:grpSpPr>
        <p:sp>
          <p:nvSpPr>
            <p:cNvPr name="Freeform 35" id="35"/>
            <p:cNvSpPr/>
            <p:nvPr/>
          </p:nvSpPr>
          <p:spPr>
            <a:xfrm flipH="false" flipV="false" rot="0">
              <a:off x="12700" y="12700"/>
              <a:ext cx="6028182" cy="3634613"/>
            </a:xfrm>
            <a:custGeom>
              <a:avLst/>
              <a:gdLst/>
              <a:ahLst/>
              <a:cxnLst/>
              <a:rect r="r" b="b" t="t" l="l"/>
              <a:pathLst>
                <a:path h="3634613" w="6028182">
                  <a:moveTo>
                    <a:pt x="0" y="121920"/>
                  </a:moveTo>
                  <a:cubicBezTo>
                    <a:pt x="0" y="54610"/>
                    <a:pt x="54737" y="0"/>
                    <a:pt x="122301" y="0"/>
                  </a:cubicBezTo>
                  <a:lnTo>
                    <a:pt x="5905881" y="0"/>
                  </a:lnTo>
                  <a:cubicBezTo>
                    <a:pt x="5973445" y="0"/>
                    <a:pt x="6028182" y="54610"/>
                    <a:pt x="6028182" y="121920"/>
                  </a:cubicBezTo>
                  <a:lnTo>
                    <a:pt x="6028182" y="3512693"/>
                  </a:lnTo>
                  <a:cubicBezTo>
                    <a:pt x="6028182" y="3580003"/>
                    <a:pt x="5973445" y="3634613"/>
                    <a:pt x="5905881" y="3634613"/>
                  </a:cubicBezTo>
                  <a:lnTo>
                    <a:pt x="122301" y="3634613"/>
                  </a:lnTo>
                  <a:cubicBezTo>
                    <a:pt x="54737" y="3634613"/>
                    <a:pt x="0" y="3580003"/>
                    <a:pt x="0" y="3512693"/>
                  </a:cubicBezTo>
                  <a:close/>
                </a:path>
              </a:pathLst>
            </a:custGeom>
            <a:solidFill>
              <a:srgbClr val="FFFAFA"/>
            </a:solidFill>
          </p:spPr>
        </p:sp>
        <p:sp>
          <p:nvSpPr>
            <p:cNvPr name="Freeform 36" id="36"/>
            <p:cNvSpPr/>
            <p:nvPr/>
          </p:nvSpPr>
          <p:spPr>
            <a:xfrm flipH="false" flipV="false" rot="0">
              <a:off x="0" y="0"/>
              <a:ext cx="6053582" cy="3660013"/>
            </a:xfrm>
            <a:custGeom>
              <a:avLst/>
              <a:gdLst/>
              <a:ahLst/>
              <a:cxnLst/>
              <a:rect r="r" b="b" t="t" l="l"/>
              <a:pathLst>
                <a:path h="3660013" w="6053582">
                  <a:moveTo>
                    <a:pt x="0" y="134620"/>
                  </a:moveTo>
                  <a:cubicBezTo>
                    <a:pt x="0" y="60198"/>
                    <a:pt x="60452" y="0"/>
                    <a:pt x="135001" y="0"/>
                  </a:cubicBezTo>
                  <a:lnTo>
                    <a:pt x="5918581" y="0"/>
                  </a:lnTo>
                  <a:lnTo>
                    <a:pt x="5918581" y="12700"/>
                  </a:lnTo>
                  <a:lnTo>
                    <a:pt x="5918581" y="0"/>
                  </a:lnTo>
                  <a:cubicBezTo>
                    <a:pt x="5993130" y="0"/>
                    <a:pt x="6053582" y="60198"/>
                    <a:pt x="6053582" y="134620"/>
                  </a:cubicBezTo>
                  <a:lnTo>
                    <a:pt x="6040882" y="134620"/>
                  </a:lnTo>
                  <a:lnTo>
                    <a:pt x="6053582" y="134620"/>
                  </a:lnTo>
                  <a:lnTo>
                    <a:pt x="6053582" y="3525393"/>
                  </a:lnTo>
                  <a:lnTo>
                    <a:pt x="6040882" y="3525393"/>
                  </a:lnTo>
                  <a:lnTo>
                    <a:pt x="6053582" y="3525393"/>
                  </a:lnTo>
                  <a:cubicBezTo>
                    <a:pt x="6053582" y="3599815"/>
                    <a:pt x="5993130" y="3660013"/>
                    <a:pt x="5918581" y="3660013"/>
                  </a:cubicBezTo>
                  <a:lnTo>
                    <a:pt x="5918581" y="3647313"/>
                  </a:lnTo>
                  <a:lnTo>
                    <a:pt x="5918581" y="3660013"/>
                  </a:lnTo>
                  <a:lnTo>
                    <a:pt x="135001" y="3660013"/>
                  </a:lnTo>
                  <a:lnTo>
                    <a:pt x="135001" y="3647313"/>
                  </a:lnTo>
                  <a:lnTo>
                    <a:pt x="135001" y="3660013"/>
                  </a:lnTo>
                  <a:cubicBezTo>
                    <a:pt x="60452" y="3660013"/>
                    <a:pt x="0" y="3599688"/>
                    <a:pt x="0" y="3525393"/>
                  </a:cubicBezTo>
                  <a:lnTo>
                    <a:pt x="0" y="134620"/>
                  </a:lnTo>
                  <a:lnTo>
                    <a:pt x="12700" y="134620"/>
                  </a:lnTo>
                  <a:lnTo>
                    <a:pt x="0" y="134620"/>
                  </a:lnTo>
                  <a:moveTo>
                    <a:pt x="25400" y="134620"/>
                  </a:moveTo>
                  <a:lnTo>
                    <a:pt x="25400" y="3525393"/>
                  </a:lnTo>
                  <a:lnTo>
                    <a:pt x="12700" y="3525393"/>
                  </a:lnTo>
                  <a:lnTo>
                    <a:pt x="25400" y="3525393"/>
                  </a:lnTo>
                  <a:cubicBezTo>
                    <a:pt x="25400" y="3585718"/>
                    <a:pt x="74422" y="3634613"/>
                    <a:pt x="135001" y="3634613"/>
                  </a:cubicBezTo>
                  <a:lnTo>
                    <a:pt x="5918581" y="3634613"/>
                  </a:lnTo>
                  <a:cubicBezTo>
                    <a:pt x="5979160" y="3634613"/>
                    <a:pt x="6028182" y="3585718"/>
                    <a:pt x="6028182" y="3525393"/>
                  </a:cubicBezTo>
                  <a:lnTo>
                    <a:pt x="6028182" y="134620"/>
                  </a:lnTo>
                  <a:cubicBezTo>
                    <a:pt x="6028182" y="74295"/>
                    <a:pt x="5979160" y="25400"/>
                    <a:pt x="5918581" y="25400"/>
                  </a:cubicBezTo>
                  <a:lnTo>
                    <a:pt x="135001" y="25400"/>
                  </a:lnTo>
                  <a:lnTo>
                    <a:pt x="135001" y="12700"/>
                  </a:lnTo>
                  <a:lnTo>
                    <a:pt x="135001" y="25400"/>
                  </a:lnTo>
                  <a:cubicBezTo>
                    <a:pt x="74422" y="25400"/>
                    <a:pt x="25400" y="74295"/>
                    <a:pt x="25400" y="134620"/>
                  </a:cubicBezTo>
                  <a:close/>
                </a:path>
              </a:pathLst>
            </a:custGeom>
            <a:solidFill>
              <a:srgbClr val="BBC2DC"/>
            </a:solidFill>
          </p:spPr>
        </p:sp>
      </p:grpSp>
      <p:grpSp>
        <p:nvGrpSpPr>
          <p:cNvPr name="Group 37" id="37"/>
          <p:cNvGrpSpPr/>
          <p:nvPr/>
        </p:nvGrpSpPr>
        <p:grpSpPr>
          <a:xfrm rot="0">
            <a:off x="11538347" y="2662980"/>
            <a:ext cx="4521098" cy="76200"/>
            <a:chOff x="0" y="0"/>
            <a:chExt cx="6028131" cy="101600"/>
          </a:xfrm>
        </p:grpSpPr>
        <p:sp>
          <p:nvSpPr>
            <p:cNvPr name="Freeform 38" id="38"/>
            <p:cNvSpPr/>
            <p:nvPr/>
          </p:nvSpPr>
          <p:spPr>
            <a:xfrm flipH="false" flipV="false" rot="0">
              <a:off x="0" y="0"/>
              <a:ext cx="6028182" cy="101600"/>
            </a:xfrm>
            <a:custGeom>
              <a:avLst/>
              <a:gdLst/>
              <a:ahLst/>
              <a:cxnLst/>
              <a:rect r="r" b="b" t="t" l="l"/>
              <a:pathLst>
                <a:path h="101600" w="6028182">
                  <a:moveTo>
                    <a:pt x="0" y="50800"/>
                  </a:moveTo>
                  <a:cubicBezTo>
                    <a:pt x="0" y="22733"/>
                    <a:pt x="22733" y="0"/>
                    <a:pt x="50800" y="0"/>
                  </a:cubicBezTo>
                  <a:lnTo>
                    <a:pt x="5977382" y="0"/>
                  </a:lnTo>
                  <a:cubicBezTo>
                    <a:pt x="6005449" y="0"/>
                    <a:pt x="6028182" y="22733"/>
                    <a:pt x="6028182" y="50800"/>
                  </a:cubicBezTo>
                  <a:cubicBezTo>
                    <a:pt x="6028182" y="78867"/>
                    <a:pt x="6005449" y="101600"/>
                    <a:pt x="5977382" y="101600"/>
                  </a:cubicBezTo>
                  <a:lnTo>
                    <a:pt x="50800" y="101600"/>
                  </a:lnTo>
                  <a:cubicBezTo>
                    <a:pt x="22733" y="101600"/>
                    <a:pt x="0" y="78867"/>
                    <a:pt x="0" y="50800"/>
                  </a:cubicBezTo>
                  <a:close/>
                </a:path>
              </a:pathLst>
            </a:custGeom>
            <a:solidFill>
              <a:srgbClr val="1A2D7A"/>
            </a:solidFill>
          </p:spPr>
        </p:sp>
      </p:grpSp>
      <p:grpSp>
        <p:nvGrpSpPr>
          <p:cNvPr name="Group 39" id="39"/>
          <p:cNvGrpSpPr/>
          <p:nvPr/>
        </p:nvGrpSpPr>
        <p:grpSpPr>
          <a:xfrm rot="0">
            <a:off x="13513298" y="2396433"/>
            <a:ext cx="571205" cy="571205"/>
            <a:chOff x="0" y="0"/>
            <a:chExt cx="761606" cy="761606"/>
          </a:xfrm>
        </p:grpSpPr>
        <p:sp>
          <p:nvSpPr>
            <p:cNvPr name="Freeform 40" id="40"/>
            <p:cNvSpPr/>
            <p:nvPr/>
          </p:nvSpPr>
          <p:spPr>
            <a:xfrm flipH="false" flipV="false" rot="0">
              <a:off x="0" y="0"/>
              <a:ext cx="761619" cy="761619"/>
            </a:xfrm>
            <a:custGeom>
              <a:avLst/>
              <a:gdLst/>
              <a:ahLst/>
              <a:cxnLst/>
              <a:rect r="r" b="b" t="t" l="l"/>
              <a:pathLst>
                <a:path h="761619" w="761619">
                  <a:moveTo>
                    <a:pt x="0" y="380746"/>
                  </a:moveTo>
                  <a:cubicBezTo>
                    <a:pt x="0" y="170434"/>
                    <a:pt x="170434" y="0"/>
                    <a:pt x="380746" y="0"/>
                  </a:cubicBezTo>
                  <a:cubicBezTo>
                    <a:pt x="591058" y="0"/>
                    <a:pt x="761619" y="170434"/>
                    <a:pt x="761619" y="380746"/>
                  </a:cubicBezTo>
                  <a:cubicBezTo>
                    <a:pt x="761619" y="591058"/>
                    <a:pt x="591058" y="761619"/>
                    <a:pt x="380746" y="761619"/>
                  </a:cubicBezTo>
                  <a:cubicBezTo>
                    <a:pt x="170434" y="761619"/>
                    <a:pt x="0" y="591058"/>
                    <a:pt x="0" y="380746"/>
                  </a:cubicBezTo>
                  <a:close/>
                </a:path>
              </a:pathLst>
            </a:custGeom>
            <a:solidFill>
              <a:srgbClr val="1A2D7A"/>
            </a:solidFill>
          </p:spPr>
        </p:sp>
      </p:grpSp>
      <p:grpSp>
        <p:nvGrpSpPr>
          <p:cNvPr name="Group 41" id="41"/>
          <p:cNvGrpSpPr/>
          <p:nvPr/>
        </p:nvGrpSpPr>
        <p:grpSpPr>
          <a:xfrm rot="0">
            <a:off x="13461949" y="2539155"/>
            <a:ext cx="685648" cy="285598"/>
            <a:chOff x="0" y="0"/>
            <a:chExt cx="914197" cy="380797"/>
          </a:xfrm>
        </p:grpSpPr>
        <p:sp>
          <p:nvSpPr>
            <p:cNvPr name="Freeform 42" id="42"/>
            <p:cNvSpPr/>
            <p:nvPr/>
          </p:nvSpPr>
          <p:spPr>
            <a:xfrm flipH="false" flipV="false" rot="0">
              <a:off x="0" y="0"/>
              <a:ext cx="914203" cy="380803"/>
            </a:xfrm>
            <a:custGeom>
              <a:avLst/>
              <a:gdLst/>
              <a:ahLst/>
              <a:cxnLst/>
              <a:rect r="r" b="b" t="t" l="l"/>
              <a:pathLst>
                <a:path h="380803" w="914203">
                  <a:moveTo>
                    <a:pt x="0" y="0"/>
                  </a:moveTo>
                  <a:lnTo>
                    <a:pt x="914203" y="0"/>
                  </a:lnTo>
                  <a:lnTo>
                    <a:pt x="914203" y="380803"/>
                  </a:lnTo>
                  <a:lnTo>
                    <a:pt x="0" y="380803"/>
                  </a:lnTo>
                  <a:close/>
                </a:path>
              </a:pathLst>
            </a:custGeom>
            <a:blipFill>
              <a:blip r:embed="rId3">
                <a:alphaModFix amt="0"/>
              </a:blip>
              <a:stretch>
                <a:fillRect l="-3443" t="0" r="-3442" b="1"/>
              </a:stretch>
            </a:blipFill>
          </p:spPr>
        </p:sp>
        <p:sp>
          <p:nvSpPr>
            <p:cNvPr name="TextBox 43" id="43"/>
            <p:cNvSpPr txBox="true"/>
            <p:nvPr/>
          </p:nvSpPr>
          <p:spPr>
            <a:xfrm>
              <a:off x="0" y="0"/>
              <a:ext cx="914197" cy="380797"/>
            </a:xfrm>
            <a:prstGeom prst="rect">
              <a:avLst/>
            </a:prstGeom>
          </p:spPr>
          <p:txBody>
            <a:bodyPr anchor="ctr" rtlCol="false" tIns="0" lIns="0" bIns="0" rIns="0"/>
            <a:lstStyle/>
            <a:p>
              <a:pPr algn="ctr">
                <a:lnSpc>
                  <a:spcPts val="2039"/>
                </a:lnSpc>
              </a:pPr>
              <a:r>
                <a:rPr lang="en-US" sz="1700" b="true">
                  <a:solidFill>
                    <a:srgbClr val="FFFFFF"/>
                  </a:solidFill>
                  <a:latin typeface="Alexandria Bold"/>
                  <a:ea typeface="Alexandria Bold"/>
                  <a:cs typeface="Alexandria Bold"/>
                  <a:sym typeface="Alexandria Bold"/>
                </a:rPr>
                <a:t>3</a:t>
              </a:r>
            </a:p>
          </p:txBody>
        </p:sp>
      </p:grpSp>
      <p:sp>
        <p:nvSpPr>
          <p:cNvPr name="TextBox 44" id="44"/>
          <p:cNvSpPr txBox="true"/>
          <p:nvPr/>
        </p:nvSpPr>
        <p:spPr>
          <a:xfrm rot="0">
            <a:off x="11747744" y="3148460"/>
            <a:ext cx="3885600" cy="322812"/>
          </a:xfrm>
          <a:prstGeom prst="rect">
            <a:avLst/>
          </a:prstGeom>
        </p:spPr>
        <p:txBody>
          <a:bodyPr anchor="t" rtlCol="false" tIns="0" lIns="0" bIns="0" rIns="0">
            <a:spAutoFit/>
          </a:bodyPr>
          <a:lstStyle/>
          <a:p>
            <a:pPr algn="l">
              <a:lnSpc>
                <a:spcPts val="2371"/>
              </a:lnSpc>
            </a:pPr>
            <a:r>
              <a:rPr lang="en-US" sz="1900" b="true">
                <a:solidFill>
                  <a:srgbClr val="3B3535"/>
                </a:solidFill>
                <a:latin typeface="Alexandria Bold"/>
                <a:ea typeface="Alexandria Bold"/>
                <a:cs typeface="Alexandria Bold"/>
                <a:sym typeface="Alexandria Bold"/>
              </a:rPr>
              <a:t>Yüksek Nem Senaryosu</a:t>
            </a:r>
          </a:p>
        </p:txBody>
      </p:sp>
      <p:sp>
        <p:nvSpPr>
          <p:cNvPr name="TextBox 45" id="45"/>
          <p:cNvSpPr txBox="true"/>
          <p:nvPr/>
        </p:nvSpPr>
        <p:spPr>
          <a:xfrm rot="0">
            <a:off x="11747744" y="3494332"/>
            <a:ext cx="4102294" cy="585788"/>
          </a:xfrm>
          <a:prstGeom prst="rect">
            <a:avLst/>
          </a:prstGeom>
        </p:spPr>
        <p:txBody>
          <a:bodyPr anchor="t" rtlCol="false" tIns="0" lIns="0" bIns="0" rIns="0">
            <a:spAutoFit/>
          </a:bodyPr>
          <a:lstStyle/>
          <a:p>
            <a:pPr algn="l">
              <a:lnSpc>
                <a:spcPts val="1915"/>
              </a:lnSpc>
            </a:pPr>
            <a:r>
              <a:rPr lang="en-US" sz="1399">
                <a:solidFill>
                  <a:srgbClr val="3B3535"/>
                </a:solidFill>
                <a:latin typeface="Consolas"/>
                <a:ea typeface="Consolas"/>
                <a:cs typeface="Consolas"/>
                <a:sym typeface="Consolas"/>
              </a:rPr>
              <a:t>IF iç=ILIK AND nem=NEMLİ</a:t>
            </a:r>
          </a:p>
          <a:p>
            <a:pPr algn="l">
              <a:lnSpc>
                <a:spcPts val="1915"/>
              </a:lnSpc>
            </a:pPr>
            <a:r>
              <a:rPr lang="en-US" sz="1399" b="true">
                <a:solidFill>
                  <a:srgbClr val="3B3535"/>
                </a:solidFill>
                <a:latin typeface="Arimo Bold"/>
                <a:ea typeface="Arimo Bold"/>
                <a:cs typeface="Arimo Bold"/>
                <a:sym typeface="Arimo Bold"/>
              </a:rPr>
              <a:t>THEN fan=YÜKSEK, güç=SOĞUTMA</a:t>
            </a:r>
          </a:p>
        </p:txBody>
      </p:sp>
      <p:sp>
        <p:nvSpPr>
          <p:cNvPr name="TextBox 46" id="46"/>
          <p:cNvSpPr txBox="true"/>
          <p:nvPr/>
        </p:nvSpPr>
        <p:spPr>
          <a:xfrm rot="0">
            <a:off x="11747744" y="4112714"/>
            <a:ext cx="4102294" cy="826294"/>
          </a:xfrm>
          <a:prstGeom prst="rect">
            <a:avLst/>
          </a:prstGeom>
        </p:spPr>
        <p:txBody>
          <a:bodyPr anchor="t" rtlCol="false" tIns="0" lIns="0" bIns="0" rIns="0">
            <a:spAutoFit/>
          </a:bodyPr>
          <a:lstStyle/>
          <a:p>
            <a:pPr algn="l">
              <a:lnSpc>
                <a:spcPts val="1915"/>
              </a:lnSpc>
            </a:pPr>
            <a:r>
              <a:rPr lang="en-US" sz="1399">
                <a:solidFill>
                  <a:srgbClr val="3B3535"/>
                </a:solidFill>
                <a:latin typeface="Arimo"/>
                <a:ea typeface="Arimo"/>
                <a:cs typeface="Arimo"/>
                <a:sym typeface="Arimo"/>
              </a:rPr>
              <a:t>Sıcaklık yüksek olmasa da nem bunaltıcı. Ortamı konforlu hale getirmek için nemin kırılması amacıyla fan hızlandırılır.</a:t>
            </a:r>
          </a:p>
        </p:txBody>
      </p:sp>
      <p:grpSp>
        <p:nvGrpSpPr>
          <p:cNvPr name="Group 47" id="47"/>
          <p:cNvGrpSpPr/>
          <p:nvPr/>
        </p:nvGrpSpPr>
        <p:grpSpPr>
          <a:xfrm rot="0">
            <a:off x="3607298" y="5558580"/>
            <a:ext cx="11073260" cy="4155129"/>
            <a:chOff x="0" y="0"/>
            <a:chExt cx="14764347" cy="5540172"/>
          </a:xfrm>
        </p:grpSpPr>
        <p:sp>
          <p:nvSpPr>
            <p:cNvPr name="Freeform 48" id="48" descr="preencoded.png"/>
            <p:cNvSpPr/>
            <p:nvPr/>
          </p:nvSpPr>
          <p:spPr>
            <a:xfrm flipH="false" flipV="false" rot="0">
              <a:off x="0" y="0"/>
              <a:ext cx="14764386" cy="5540121"/>
            </a:xfrm>
            <a:custGeom>
              <a:avLst/>
              <a:gdLst/>
              <a:ahLst/>
              <a:cxnLst/>
              <a:rect r="r" b="b" t="t" l="l"/>
              <a:pathLst>
                <a:path h="5540121" w="14764386">
                  <a:moveTo>
                    <a:pt x="0" y="0"/>
                  </a:moveTo>
                  <a:lnTo>
                    <a:pt x="14764386" y="0"/>
                  </a:lnTo>
                  <a:lnTo>
                    <a:pt x="14764386" y="5540121"/>
                  </a:lnTo>
                  <a:lnTo>
                    <a:pt x="0" y="5540121"/>
                  </a:lnTo>
                  <a:lnTo>
                    <a:pt x="0" y="0"/>
                  </a:lnTo>
                  <a:close/>
                </a:path>
              </a:pathLst>
            </a:custGeom>
            <a:blipFill>
              <a:blip r:embed="rId4"/>
              <a:stretch>
                <a:fillRect l="-46" t="0" r="-46" b="0"/>
              </a:stretch>
            </a:blipFill>
          </p:spPr>
        </p:sp>
      </p:grpSp>
      <p:sp>
        <p:nvSpPr>
          <p:cNvPr name="Freeform 49" id="49" descr="preencoded.png"/>
          <p:cNvSpPr/>
          <p:nvPr/>
        </p:nvSpPr>
        <p:spPr>
          <a:xfrm flipH="false" flipV="false" rot="0">
            <a:off x="13063918" y="6616970"/>
            <a:ext cx="571967" cy="571967"/>
          </a:xfrm>
          <a:custGeom>
            <a:avLst/>
            <a:gdLst/>
            <a:ahLst/>
            <a:cxnLst/>
            <a:rect r="r" b="b" t="t" l="l"/>
            <a:pathLst>
              <a:path h="571967" w="571967">
                <a:moveTo>
                  <a:pt x="0" y="0"/>
                </a:moveTo>
                <a:lnTo>
                  <a:pt x="571967" y="0"/>
                </a:lnTo>
                <a:lnTo>
                  <a:pt x="571967" y="571967"/>
                </a:lnTo>
                <a:lnTo>
                  <a:pt x="0" y="571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0" id="50"/>
          <p:cNvSpPr txBox="true"/>
          <p:nvPr/>
        </p:nvSpPr>
        <p:spPr>
          <a:xfrm rot="0">
            <a:off x="12554331" y="8517646"/>
            <a:ext cx="1913501" cy="320573"/>
          </a:xfrm>
          <a:prstGeom prst="rect">
            <a:avLst/>
          </a:prstGeom>
        </p:spPr>
        <p:txBody>
          <a:bodyPr anchor="t" rtlCol="false" tIns="0" lIns="0" bIns="0" rIns="0">
            <a:spAutoFit/>
          </a:bodyPr>
          <a:lstStyle/>
          <a:p>
            <a:pPr algn="ctr">
              <a:lnSpc>
                <a:spcPts val="2620"/>
              </a:lnSpc>
            </a:pPr>
            <a:r>
              <a:rPr lang="en-US" sz="2100" b="true">
                <a:solidFill>
                  <a:srgbClr val="3B3535"/>
                </a:solidFill>
                <a:latin typeface="Alexandria Bold"/>
                <a:ea typeface="Alexandria Bold"/>
                <a:cs typeface="Alexandria Bold"/>
                <a:sym typeface="Alexandria Bold"/>
              </a:rPr>
              <a:t>Durulaştırma</a:t>
            </a:r>
          </a:p>
        </p:txBody>
      </p:sp>
      <p:sp>
        <p:nvSpPr>
          <p:cNvPr name="Freeform 51" id="51" descr="preencoded.png"/>
          <p:cNvSpPr/>
          <p:nvPr/>
        </p:nvSpPr>
        <p:spPr>
          <a:xfrm flipH="false" flipV="false" rot="0">
            <a:off x="10969971" y="6618037"/>
            <a:ext cx="571967" cy="571967"/>
          </a:xfrm>
          <a:custGeom>
            <a:avLst/>
            <a:gdLst/>
            <a:ahLst/>
            <a:cxnLst/>
            <a:rect r="r" b="b" t="t" l="l"/>
            <a:pathLst>
              <a:path h="571967" w="571967">
                <a:moveTo>
                  <a:pt x="0" y="0"/>
                </a:moveTo>
                <a:lnTo>
                  <a:pt x="571967" y="0"/>
                </a:lnTo>
                <a:lnTo>
                  <a:pt x="571967" y="571966"/>
                </a:lnTo>
                <a:lnTo>
                  <a:pt x="0" y="571966"/>
                </a:lnTo>
                <a:lnTo>
                  <a:pt x="0" y="0"/>
                </a:lnTo>
                <a:close/>
              </a:path>
            </a:pathLst>
          </a:custGeom>
          <a:blipFill>
            <a:blip r:embed="rId7">
              <a:extLst>
                <a:ext uri="{96DAC541-7B7A-43D3-8B79-37D633B846F1}">
                  <asvg:svgBlip xmlns:asvg="http://schemas.microsoft.com/office/drawing/2016/SVG/main" r:embed="rId8"/>
                </a:ext>
              </a:extLst>
            </a:blip>
            <a:stretch>
              <a:fillRect l="0" t="-7377" r="0" b="-7377"/>
            </a:stretch>
          </a:blipFill>
        </p:spPr>
      </p:sp>
      <p:sp>
        <p:nvSpPr>
          <p:cNvPr name="TextBox 52" id="52"/>
          <p:cNvSpPr txBox="true"/>
          <p:nvPr/>
        </p:nvSpPr>
        <p:spPr>
          <a:xfrm rot="0">
            <a:off x="10131466" y="8489975"/>
            <a:ext cx="2127352" cy="348244"/>
          </a:xfrm>
          <a:prstGeom prst="rect">
            <a:avLst/>
          </a:prstGeom>
        </p:spPr>
        <p:txBody>
          <a:bodyPr anchor="t" rtlCol="false" tIns="0" lIns="0" bIns="0" rIns="0">
            <a:spAutoFit/>
          </a:bodyPr>
          <a:lstStyle/>
          <a:p>
            <a:pPr algn="ctr">
              <a:lnSpc>
                <a:spcPts val="2620"/>
              </a:lnSpc>
            </a:pPr>
            <a:r>
              <a:rPr lang="en-US" sz="2100" b="true">
                <a:solidFill>
                  <a:srgbClr val="3B3535"/>
                </a:solidFill>
                <a:latin typeface="Alexandria Bold"/>
                <a:ea typeface="Alexandria Bold"/>
                <a:cs typeface="Alexandria Bold"/>
                <a:sym typeface="Alexandria Bold"/>
              </a:rPr>
              <a:t>Çıkarım</a:t>
            </a:r>
          </a:p>
        </p:txBody>
      </p:sp>
      <p:sp>
        <p:nvSpPr>
          <p:cNvPr name="Freeform 53" id="53" descr="preencoded.png"/>
          <p:cNvSpPr/>
          <p:nvPr/>
        </p:nvSpPr>
        <p:spPr>
          <a:xfrm flipH="false" flipV="false" rot="0">
            <a:off x="8876567" y="6618037"/>
            <a:ext cx="571967" cy="571967"/>
          </a:xfrm>
          <a:custGeom>
            <a:avLst/>
            <a:gdLst/>
            <a:ahLst/>
            <a:cxnLst/>
            <a:rect r="r" b="b" t="t" l="l"/>
            <a:pathLst>
              <a:path h="571967" w="571967">
                <a:moveTo>
                  <a:pt x="0" y="0"/>
                </a:moveTo>
                <a:lnTo>
                  <a:pt x="571966" y="0"/>
                </a:lnTo>
                <a:lnTo>
                  <a:pt x="571966" y="571966"/>
                </a:lnTo>
                <a:lnTo>
                  <a:pt x="0" y="5719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54" id="54"/>
          <p:cNvSpPr txBox="true"/>
          <p:nvPr/>
        </p:nvSpPr>
        <p:spPr>
          <a:xfrm rot="0">
            <a:off x="8356073" y="8517646"/>
            <a:ext cx="1670152" cy="686953"/>
          </a:xfrm>
          <a:prstGeom prst="rect">
            <a:avLst/>
          </a:prstGeom>
        </p:spPr>
        <p:txBody>
          <a:bodyPr anchor="t" rtlCol="false" tIns="0" lIns="0" bIns="0" rIns="0">
            <a:spAutoFit/>
          </a:bodyPr>
          <a:lstStyle/>
          <a:p>
            <a:pPr algn="ctr">
              <a:lnSpc>
                <a:spcPts val="2620"/>
              </a:lnSpc>
            </a:pPr>
            <a:r>
              <a:rPr lang="en-US" sz="2100" b="true">
                <a:solidFill>
                  <a:srgbClr val="3B3535"/>
                </a:solidFill>
                <a:latin typeface="Alexandria Bold"/>
                <a:ea typeface="Alexandria Bold"/>
                <a:cs typeface="Alexandria Bold"/>
                <a:sym typeface="Alexandria Bold"/>
              </a:rPr>
              <a:t>Kural Tabanı</a:t>
            </a:r>
          </a:p>
        </p:txBody>
      </p:sp>
      <p:sp>
        <p:nvSpPr>
          <p:cNvPr name="Freeform 55" id="55" descr="preencoded.png"/>
          <p:cNvSpPr/>
          <p:nvPr/>
        </p:nvSpPr>
        <p:spPr>
          <a:xfrm flipH="false" flipV="false" rot="0">
            <a:off x="6783153" y="6618037"/>
            <a:ext cx="571967" cy="571967"/>
          </a:xfrm>
          <a:custGeom>
            <a:avLst/>
            <a:gdLst/>
            <a:ahLst/>
            <a:cxnLst/>
            <a:rect r="r" b="b" t="t" l="l"/>
            <a:pathLst>
              <a:path h="571967" w="571967">
                <a:moveTo>
                  <a:pt x="0" y="0"/>
                </a:moveTo>
                <a:lnTo>
                  <a:pt x="571966" y="0"/>
                </a:lnTo>
                <a:lnTo>
                  <a:pt x="571966" y="571966"/>
                </a:lnTo>
                <a:lnTo>
                  <a:pt x="0" y="571966"/>
                </a:lnTo>
                <a:lnTo>
                  <a:pt x="0" y="0"/>
                </a:lnTo>
                <a:close/>
              </a:path>
            </a:pathLst>
          </a:custGeom>
          <a:blipFill>
            <a:blip r:embed="rId11">
              <a:extLst>
                <a:ext uri="{96DAC541-7B7A-43D3-8B79-37D633B846F1}">
                  <asvg:svgBlip xmlns:asvg="http://schemas.microsoft.com/office/drawing/2016/SVG/main" r:embed="rId12"/>
                </a:ext>
              </a:extLst>
            </a:blip>
            <a:stretch>
              <a:fillRect l="0" t="-3278" r="0" b="-3278"/>
            </a:stretch>
          </a:blipFill>
        </p:spPr>
      </p:sp>
      <p:sp>
        <p:nvSpPr>
          <p:cNvPr name="TextBox 56" id="56"/>
          <p:cNvSpPr txBox="true"/>
          <p:nvPr/>
        </p:nvSpPr>
        <p:spPr>
          <a:xfrm rot="0">
            <a:off x="5914215" y="8545225"/>
            <a:ext cx="2309841" cy="320573"/>
          </a:xfrm>
          <a:prstGeom prst="rect">
            <a:avLst/>
          </a:prstGeom>
        </p:spPr>
        <p:txBody>
          <a:bodyPr anchor="t" rtlCol="false" tIns="0" lIns="0" bIns="0" rIns="0">
            <a:spAutoFit/>
          </a:bodyPr>
          <a:lstStyle/>
          <a:p>
            <a:pPr algn="ctr">
              <a:lnSpc>
                <a:spcPts val="2620"/>
              </a:lnSpc>
            </a:pPr>
            <a:r>
              <a:rPr lang="en-US" sz="2100" b="true">
                <a:solidFill>
                  <a:srgbClr val="3B3535"/>
                </a:solidFill>
                <a:latin typeface="Alexandria Bold"/>
                <a:ea typeface="Alexandria Bold"/>
                <a:cs typeface="Alexandria Bold"/>
                <a:sym typeface="Alexandria Bold"/>
              </a:rPr>
              <a:t>Bulanıklaştırma</a:t>
            </a:r>
          </a:p>
        </p:txBody>
      </p:sp>
      <p:sp>
        <p:nvSpPr>
          <p:cNvPr name="Freeform 57" id="57" descr="preencoded.png"/>
          <p:cNvSpPr/>
          <p:nvPr/>
        </p:nvSpPr>
        <p:spPr>
          <a:xfrm flipH="false" flipV="false" rot="0">
            <a:off x="4678299" y="6618037"/>
            <a:ext cx="571967" cy="571967"/>
          </a:xfrm>
          <a:custGeom>
            <a:avLst/>
            <a:gdLst/>
            <a:ahLst/>
            <a:cxnLst/>
            <a:rect r="r" b="b" t="t" l="l"/>
            <a:pathLst>
              <a:path h="571967" w="571967">
                <a:moveTo>
                  <a:pt x="0" y="0"/>
                </a:moveTo>
                <a:lnTo>
                  <a:pt x="571967" y="0"/>
                </a:lnTo>
                <a:lnTo>
                  <a:pt x="571967" y="571966"/>
                </a:lnTo>
                <a:lnTo>
                  <a:pt x="0" y="5719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8" id="58"/>
          <p:cNvSpPr txBox="true"/>
          <p:nvPr/>
        </p:nvSpPr>
        <p:spPr>
          <a:xfrm rot="0">
            <a:off x="4123496" y="8517646"/>
            <a:ext cx="1670152" cy="686953"/>
          </a:xfrm>
          <a:prstGeom prst="rect">
            <a:avLst/>
          </a:prstGeom>
        </p:spPr>
        <p:txBody>
          <a:bodyPr anchor="t" rtlCol="false" tIns="0" lIns="0" bIns="0" rIns="0">
            <a:spAutoFit/>
          </a:bodyPr>
          <a:lstStyle/>
          <a:p>
            <a:pPr algn="ctr">
              <a:lnSpc>
                <a:spcPts val="2620"/>
              </a:lnSpc>
            </a:pPr>
            <a:r>
              <a:rPr lang="en-US" sz="2100" b="true">
                <a:solidFill>
                  <a:srgbClr val="3B3535"/>
                </a:solidFill>
                <a:latin typeface="Alexandria Bold"/>
                <a:ea typeface="Alexandria Bold"/>
                <a:cs typeface="Alexandria Bold"/>
                <a:sym typeface="Alexandria Bold"/>
              </a:rPr>
              <a:t>Giriş Değerleri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1306411" y="651567"/>
            <a:ext cx="11823802" cy="719433"/>
          </a:xfrm>
          <a:prstGeom prst="rect">
            <a:avLst/>
          </a:prstGeom>
        </p:spPr>
        <p:txBody>
          <a:bodyPr anchor="t" rtlCol="false" tIns="0" lIns="0" bIns="0" rIns="0">
            <a:spAutoFit/>
          </a:bodyPr>
          <a:lstStyle/>
          <a:p>
            <a:pPr algn="l">
              <a:lnSpc>
                <a:spcPts val="5491"/>
              </a:lnSpc>
            </a:pPr>
            <a:r>
              <a:rPr lang="en-US" sz="4400" b="true">
                <a:solidFill>
                  <a:srgbClr val="1F1E1E"/>
                </a:solidFill>
                <a:latin typeface="Alexandria Bold"/>
                <a:ea typeface="Alexandria Bold"/>
                <a:cs typeface="Alexandria Bold"/>
                <a:sym typeface="Alexandria Bold"/>
              </a:rPr>
              <a:t>7. Yazılım Mimarisi ve Arayüz Tasarımı</a:t>
            </a:r>
          </a:p>
        </p:txBody>
      </p:sp>
      <p:sp>
        <p:nvSpPr>
          <p:cNvPr name="TextBox 7" id="7"/>
          <p:cNvSpPr txBox="true"/>
          <p:nvPr/>
        </p:nvSpPr>
        <p:spPr>
          <a:xfrm rot="0">
            <a:off x="1306411" y="1657798"/>
            <a:ext cx="15675026" cy="677466"/>
          </a:xfrm>
          <a:prstGeom prst="rect">
            <a:avLst/>
          </a:prstGeom>
        </p:spPr>
        <p:txBody>
          <a:bodyPr anchor="t" rtlCol="false" tIns="0" lIns="0" bIns="0" rIns="0">
            <a:spAutoFit/>
          </a:bodyPr>
          <a:lstStyle/>
          <a:p>
            <a:pPr algn="l">
              <a:lnSpc>
                <a:spcPts val="2304"/>
              </a:lnSpc>
            </a:pPr>
            <a:r>
              <a:rPr lang="en-US" sz="1600">
                <a:solidFill>
                  <a:srgbClr val="3B3535"/>
                </a:solidFill>
                <a:latin typeface="Arimo"/>
                <a:ea typeface="Arimo"/>
                <a:cs typeface="Arimo"/>
                <a:sym typeface="Arimo"/>
              </a:rPr>
              <a:t>Sistemin teorik altyapısı, modern ve interaktif bir web arayüzü ile kullanılabilir bir prototipe dönüştürülmüştür. Projenin merkezinde </a:t>
            </a:r>
            <a:r>
              <a:rPr lang="en-US" sz="1600" b="true">
                <a:solidFill>
                  <a:srgbClr val="3B3535"/>
                </a:solidFill>
                <a:latin typeface="Arimo Bold"/>
                <a:ea typeface="Arimo Bold"/>
                <a:cs typeface="Arimo Bold"/>
                <a:sym typeface="Arimo Bold"/>
              </a:rPr>
              <a:t>modern Python ekosistemi</a:t>
            </a:r>
            <a:r>
              <a:rPr lang="en-US" sz="1600">
                <a:solidFill>
                  <a:srgbClr val="3B3535"/>
                </a:solidFill>
                <a:latin typeface="Arimo"/>
                <a:ea typeface="Arimo"/>
                <a:cs typeface="Arimo"/>
                <a:sym typeface="Arimo"/>
              </a:rPr>
              <a:t> bulunur.</a:t>
            </a:r>
          </a:p>
        </p:txBody>
      </p:sp>
      <p:grpSp>
        <p:nvGrpSpPr>
          <p:cNvPr name="Group 8" id="8"/>
          <p:cNvGrpSpPr/>
          <p:nvPr/>
        </p:nvGrpSpPr>
        <p:grpSpPr>
          <a:xfrm rot="0">
            <a:off x="1306411" y="2721921"/>
            <a:ext cx="1346006" cy="269672"/>
            <a:chOff x="0" y="0"/>
            <a:chExt cx="1794675" cy="359562"/>
          </a:xfrm>
        </p:grpSpPr>
        <p:sp>
          <p:nvSpPr>
            <p:cNvPr name="Freeform 9" id="9"/>
            <p:cNvSpPr/>
            <p:nvPr/>
          </p:nvSpPr>
          <p:spPr>
            <a:xfrm flipH="false" flipV="false" rot="0">
              <a:off x="0" y="0"/>
              <a:ext cx="1794669" cy="359568"/>
            </a:xfrm>
            <a:custGeom>
              <a:avLst/>
              <a:gdLst/>
              <a:ahLst/>
              <a:cxnLst/>
              <a:rect r="r" b="b" t="t" l="l"/>
              <a:pathLst>
                <a:path h="359568" w="1794669">
                  <a:moveTo>
                    <a:pt x="0" y="0"/>
                  </a:moveTo>
                  <a:lnTo>
                    <a:pt x="1794669" y="0"/>
                  </a:lnTo>
                  <a:lnTo>
                    <a:pt x="1794669" y="359568"/>
                  </a:lnTo>
                  <a:lnTo>
                    <a:pt x="0" y="359568"/>
                  </a:lnTo>
                  <a:close/>
                </a:path>
              </a:pathLst>
            </a:custGeom>
            <a:blipFill>
              <a:blip r:embed="rId3">
                <a:alphaModFix amt="0"/>
              </a:blip>
              <a:stretch>
                <a:fillRect l="0" t="-47254" r="0" b="-47252"/>
              </a:stretch>
            </a:blipFill>
          </p:spPr>
        </p:sp>
        <p:sp>
          <p:nvSpPr>
            <p:cNvPr name="TextBox 10" id="10"/>
            <p:cNvSpPr txBox="true"/>
            <p:nvPr/>
          </p:nvSpPr>
          <p:spPr>
            <a:xfrm>
              <a:off x="0" y="0"/>
              <a:ext cx="1794675" cy="359562"/>
            </a:xfrm>
            <a:prstGeom prst="rect">
              <a:avLst/>
            </a:prstGeom>
          </p:spPr>
          <p:txBody>
            <a:bodyPr anchor="ctr" rtlCol="false" tIns="0" lIns="0" bIns="0" rIns="0"/>
            <a:lstStyle/>
            <a:p>
              <a:pPr algn="l">
                <a:lnSpc>
                  <a:spcPts val="1920"/>
                </a:lnSpc>
              </a:pPr>
              <a:r>
                <a:rPr lang="en-US" sz="1600">
                  <a:solidFill>
                    <a:srgbClr val="3B3535"/>
                  </a:solidFill>
                  <a:latin typeface="Alexandria Light"/>
                  <a:ea typeface="Alexandria Light"/>
                  <a:cs typeface="Alexandria Light"/>
                  <a:sym typeface="Alexandria Light"/>
                </a:rPr>
                <a:t>01</a:t>
              </a:r>
            </a:p>
          </p:txBody>
        </p:sp>
      </p:grpSp>
      <p:grpSp>
        <p:nvGrpSpPr>
          <p:cNvPr name="Group 11" id="11"/>
          <p:cNvGrpSpPr/>
          <p:nvPr/>
        </p:nvGrpSpPr>
        <p:grpSpPr>
          <a:xfrm rot="0">
            <a:off x="1306411" y="3060059"/>
            <a:ext cx="5143948" cy="28575"/>
            <a:chOff x="0" y="0"/>
            <a:chExt cx="6858597" cy="38100"/>
          </a:xfrm>
        </p:grpSpPr>
        <p:sp>
          <p:nvSpPr>
            <p:cNvPr name="Freeform 12" id="12"/>
            <p:cNvSpPr/>
            <p:nvPr/>
          </p:nvSpPr>
          <p:spPr>
            <a:xfrm flipH="false" flipV="false" rot="0">
              <a:off x="0" y="0"/>
              <a:ext cx="6858635" cy="38100"/>
            </a:xfrm>
            <a:custGeom>
              <a:avLst/>
              <a:gdLst/>
              <a:ahLst/>
              <a:cxnLst/>
              <a:rect r="r" b="b" t="t" l="l"/>
              <a:pathLst>
                <a:path h="38100" w="6858635">
                  <a:moveTo>
                    <a:pt x="0" y="0"/>
                  </a:moveTo>
                  <a:lnTo>
                    <a:pt x="6858635" y="0"/>
                  </a:lnTo>
                  <a:lnTo>
                    <a:pt x="6858635" y="38100"/>
                  </a:lnTo>
                  <a:lnTo>
                    <a:pt x="0" y="38100"/>
                  </a:lnTo>
                  <a:close/>
                </a:path>
              </a:pathLst>
            </a:custGeom>
            <a:solidFill>
              <a:srgbClr val="1A2D7A"/>
            </a:solidFill>
          </p:spPr>
        </p:sp>
      </p:grpSp>
      <p:sp>
        <p:nvSpPr>
          <p:cNvPr name="TextBox 13" id="13"/>
          <p:cNvSpPr txBox="true"/>
          <p:nvPr/>
        </p:nvSpPr>
        <p:spPr>
          <a:xfrm rot="0">
            <a:off x="1306411" y="3215583"/>
            <a:ext cx="3754041" cy="364484"/>
          </a:xfrm>
          <a:prstGeom prst="rect">
            <a:avLst/>
          </a:prstGeom>
        </p:spPr>
        <p:txBody>
          <a:bodyPr anchor="t" rtlCol="false" tIns="0" lIns="0" bIns="0" rIns="0">
            <a:spAutoFit/>
          </a:bodyPr>
          <a:lstStyle/>
          <a:p>
            <a:pPr algn="l">
              <a:lnSpc>
                <a:spcPts val="2745"/>
              </a:lnSpc>
            </a:pPr>
            <a:r>
              <a:rPr lang="en-US" sz="2200" b="true">
                <a:solidFill>
                  <a:srgbClr val="3B3535"/>
                </a:solidFill>
                <a:latin typeface="Alexandria Bold"/>
                <a:ea typeface="Alexandria Bold"/>
                <a:cs typeface="Alexandria Bold"/>
                <a:sym typeface="Alexandria Bold"/>
              </a:rPr>
              <a:t>scikit-fuzzy</a:t>
            </a:r>
          </a:p>
        </p:txBody>
      </p:sp>
      <p:sp>
        <p:nvSpPr>
          <p:cNvPr name="TextBox 14" id="14"/>
          <p:cNvSpPr txBox="true"/>
          <p:nvPr/>
        </p:nvSpPr>
        <p:spPr>
          <a:xfrm rot="0">
            <a:off x="1306411" y="3694805"/>
            <a:ext cx="5143948" cy="1297781"/>
          </a:xfrm>
          <a:prstGeom prst="rect">
            <a:avLst/>
          </a:prstGeom>
        </p:spPr>
        <p:txBody>
          <a:bodyPr anchor="t" rtlCol="false" tIns="0" lIns="0" bIns="0" rIns="0">
            <a:spAutoFit/>
          </a:bodyPr>
          <a:lstStyle/>
          <a:p>
            <a:pPr algn="l">
              <a:lnSpc>
                <a:spcPts val="2304"/>
              </a:lnSpc>
            </a:pPr>
            <a:r>
              <a:rPr lang="en-US" sz="1600">
                <a:solidFill>
                  <a:srgbClr val="3B3535"/>
                </a:solidFill>
                <a:latin typeface="Arimo"/>
                <a:ea typeface="Arimo"/>
                <a:cs typeface="Arimo"/>
                <a:sym typeface="Arimo"/>
              </a:rPr>
              <a:t>Matematiksel bulanık mantık motorunun çalıştırılması, üyelik dereceleri hesapları ve centroid durulaştırma işlemleri için temel kütüphane.</a:t>
            </a:r>
          </a:p>
        </p:txBody>
      </p:sp>
      <p:grpSp>
        <p:nvGrpSpPr>
          <p:cNvPr name="Group 15" id="15"/>
          <p:cNvGrpSpPr/>
          <p:nvPr/>
        </p:nvGrpSpPr>
        <p:grpSpPr>
          <a:xfrm rot="0">
            <a:off x="1306411" y="5326256"/>
            <a:ext cx="1346006" cy="269672"/>
            <a:chOff x="0" y="0"/>
            <a:chExt cx="1794675" cy="359562"/>
          </a:xfrm>
        </p:grpSpPr>
        <p:sp>
          <p:nvSpPr>
            <p:cNvPr name="Freeform 16" id="16"/>
            <p:cNvSpPr/>
            <p:nvPr/>
          </p:nvSpPr>
          <p:spPr>
            <a:xfrm flipH="false" flipV="false" rot="0">
              <a:off x="0" y="0"/>
              <a:ext cx="1794669" cy="359568"/>
            </a:xfrm>
            <a:custGeom>
              <a:avLst/>
              <a:gdLst/>
              <a:ahLst/>
              <a:cxnLst/>
              <a:rect r="r" b="b" t="t" l="l"/>
              <a:pathLst>
                <a:path h="359568" w="1794669">
                  <a:moveTo>
                    <a:pt x="0" y="0"/>
                  </a:moveTo>
                  <a:lnTo>
                    <a:pt x="1794669" y="0"/>
                  </a:lnTo>
                  <a:lnTo>
                    <a:pt x="1794669" y="359568"/>
                  </a:lnTo>
                  <a:lnTo>
                    <a:pt x="0" y="359568"/>
                  </a:lnTo>
                  <a:close/>
                </a:path>
              </a:pathLst>
            </a:custGeom>
            <a:blipFill>
              <a:blip r:embed="rId3">
                <a:alphaModFix amt="0"/>
              </a:blip>
              <a:stretch>
                <a:fillRect l="0" t="-47254" r="0" b="-47252"/>
              </a:stretch>
            </a:blipFill>
          </p:spPr>
        </p:sp>
        <p:sp>
          <p:nvSpPr>
            <p:cNvPr name="TextBox 17" id="17"/>
            <p:cNvSpPr txBox="true"/>
            <p:nvPr/>
          </p:nvSpPr>
          <p:spPr>
            <a:xfrm>
              <a:off x="0" y="0"/>
              <a:ext cx="1794675" cy="359562"/>
            </a:xfrm>
            <a:prstGeom prst="rect">
              <a:avLst/>
            </a:prstGeom>
          </p:spPr>
          <p:txBody>
            <a:bodyPr anchor="ctr" rtlCol="false" tIns="0" lIns="0" bIns="0" rIns="0"/>
            <a:lstStyle/>
            <a:p>
              <a:pPr algn="l">
                <a:lnSpc>
                  <a:spcPts val="1920"/>
                </a:lnSpc>
              </a:pPr>
              <a:r>
                <a:rPr lang="en-US" sz="1600">
                  <a:solidFill>
                    <a:srgbClr val="3B3535"/>
                  </a:solidFill>
                  <a:latin typeface="Alexandria Light"/>
                  <a:ea typeface="Alexandria Light"/>
                  <a:cs typeface="Alexandria Light"/>
                  <a:sym typeface="Alexandria Light"/>
                </a:rPr>
                <a:t>02</a:t>
              </a:r>
            </a:p>
          </p:txBody>
        </p:sp>
      </p:grpSp>
      <p:grpSp>
        <p:nvGrpSpPr>
          <p:cNvPr name="Group 18" id="18"/>
          <p:cNvGrpSpPr/>
          <p:nvPr/>
        </p:nvGrpSpPr>
        <p:grpSpPr>
          <a:xfrm rot="0">
            <a:off x="1306411" y="5664394"/>
            <a:ext cx="5143948" cy="28575"/>
            <a:chOff x="0" y="0"/>
            <a:chExt cx="6858597" cy="38100"/>
          </a:xfrm>
        </p:grpSpPr>
        <p:sp>
          <p:nvSpPr>
            <p:cNvPr name="Freeform 19" id="19"/>
            <p:cNvSpPr/>
            <p:nvPr/>
          </p:nvSpPr>
          <p:spPr>
            <a:xfrm flipH="false" flipV="false" rot="0">
              <a:off x="0" y="0"/>
              <a:ext cx="6858635" cy="38100"/>
            </a:xfrm>
            <a:custGeom>
              <a:avLst/>
              <a:gdLst/>
              <a:ahLst/>
              <a:cxnLst/>
              <a:rect r="r" b="b" t="t" l="l"/>
              <a:pathLst>
                <a:path h="38100" w="6858635">
                  <a:moveTo>
                    <a:pt x="0" y="0"/>
                  </a:moveTo>
                  <a:lnTo>
                    <a:pt x="6858635" y="0"/>
                  </a:lnTo>
                  <a:lnTo>
                    <a:pt x="6858635" y="38100"/>
                  </a:lnTo>
                  <a:lnTo>
                    <a:pt x="0" y="38100"/>
                  </a:lnTo>
                  <a:close/>
                </a:path>
              </a:pathLst>
            </a:custGeom>
            <a:solidFill>
              <a:srgbClr val="1A2D7A"/>
            </a:solidFill>
          </p:spPr>
        </p:sp>
      </p:grpSp>
      <p:sp>
        <p:nvSpPr>
          <p:cNvPr name="TextBox 20" id="20"/>
          <p:cNvSpPr txBox="true"/>
          <p:nvPr/>
        </p:nvSpPr>
        <p:spPr>
          <a:xfrm rot="0">
            <a:off x="1306411" y="5819927"/>
            <a:ext cx="3754041" cy="364484"/>
          </a:xfrm>
          <a:prstGeom prst="rect">
            <a:avLst/>
          </a:prstGeom>
        </p:spPr>
        <p:txBody>
          <a:bodyPr anchor="t" rtlCol="false" tIns="0" lIns="0" bIns="0" rIns="0">
            <a:spAutoFit/>
          </a:bodyPr>
          <a:lstStyle/>
          <a:p>
            <a:pPr algn="l">
              <a:lnSpc>
                <a:spcPts val="2745"/>
              </a:lnSpc>
            </a:pPr>
            <a:r>
              <a:rPr lang="en-US" sz="2200" b="true">
                <a:solidFill>
                  <a:srgbClr val="3B3535"/>
                </a:solidFill>
                <a:latin typeface="Alexandria Bold"/>
                <a:ea typeface="Alexandria Bold"/>
                <a:cs typeface="Alexandria Bold"/>
                <a:sym typeface="Alexandria Bold"/>
              </a:rPr>
              <a:t>Streamlit</a:t>
            </a:r>
          </a:p>
        </p:txBody>
      </p:sp>
      <p:sp>
        <p:nvSpPr>
          <p:cNvPr name="TextBox 21" id="21"/>
          <p:cNvSpPr txBox="true"/>
          <p:nvPr/>
        </p:nvSpPr>
        <p:spPr>
          <a:xfrm rot="0">
            <a:off x="1306411" y="6299149"/>
            <a:ext cx="5143948" cy="677466"/>
          </a:xfrm>
          <a:prstGeom prst="rect">
            <a:avLst/>
          </a:prstGeom>
        </p:spPr>
        <p:txBody>
          <a:bodyPr anchor="t" rtlCol="false" tIns="0" lIns="0" bIns="0" rIns="0">
            <a:spAutoFit/>
          </a:bodyPr>
          <a:lstStyle/>
          <a:p>
            <a:pPr algn="l">
              <a:lnSpc>
                <a:spcPts val="2304"/>
              </a:lnSpc>
            </a:pPr>
            <a:r>
              <a:rPr lang="en-US" sz="1600">
                <a:solidFill>
                  <a:srgbClr val="3B3535"/>
                </a:solidFill>
                <a:latin typeface="Arimo"/>
                <a:ea typeface="Arimo"/>
                <a:cs typeface="Arimo"/>
                <a:sym typeface="Arimo"/>
              </a:rPr>
              <a:t>Gerçek zamanlı, dinamik veri görselleştirmesi sağlayan profesyonel arayüz çerçevesi.</a:t>
            </a:r>
          </a:p>
        </p:txBody>
      </p:sp>
      <p:grpSp>
        <p:nvGrpSpPr>
          <p:cNvPr name="Group 22" id="22"/>
          <p:cNvGrpSpPr/>
          <p:nvPr/>
        </p:nvGrpSpPr>
        <p:grpSpPr>
          <a:xfrm rot="0">
            <a:off x="1306411" y="7310285"/>
            <a:ext cx="1346006" cy="269672"/>
            <a:chOff x="0" y="0"/>
            <a:chExt cx="1794675" cy="359562"/>
          </a:xfrm>
        </p:grpSpPr>
        <p:sp>
          <p:nvSpPr>
            <p:cNvPr name="Freeform 23" id="23"/>
            <p:cNvSpPr/>
            <p:nvPr/>
          </p:nvSpPr>
          <p:spPr>
            <a:xfrm flipH="false" flipV="false" rot="0">
              <a:off x="0" y="0"/>
              <a:ext cx="1794669" cy="359568"/>
            </a:xfrm>
            <a:custGeom>
              <a:avLst/>
              <a:gdLst/>
              <a:ahLst/>
              <a:cxnLst/>
              <a:rect r="r" b="b" t="t" l="l"/>
              <a:pathLst>
                <a:path h="359568" w="1794669">
                  <a:moveTo>
                    <a:pt x="0" y="0"/>
                  </a:moveTo>
                  <a:lnTo>
                    <a:pt x="1794669" y="0"/>
                  </a:lnTo>
                  <a:lnTo>
                    <a:pt x="1794669" y="359568"/>
                  </a:lnTo>
                  <a:lnTo>
                    <a:pt x="0" y="359568"/>
                  </a:lnTo>
                  <a:close/>
                </a:path>
              </a:pathLst>
            </a:custGeom>
            <a:blipFill>
              <a:blip r:embed="rId3">
                <a:alphaModFix amt="0"/>
              </a:blip>
              <a:stretch>
                <a:fillRect l="0" t="-47254" r="0" b="-47252"/>
              </a:stretch>
            </a:blipFill>
          </p:spPr>
        </p:sp>
        <p:sp>
          <p:nvSpPr>
            <p:cNvPr name="TextBox 24" id="24"/>
            <p:cNvSpPr txBox="true"/>
            <p:nvPr/>
          </p:nvSpPr>
          <p:spPr>
            <a:xfrm>
              <a:off x="0" y="0"/>
              <a:ext cx="1794675" cy="359562"/>
            </a:xfrm>
            <a:prstGeom prst="rect">
              <a:avLst/>
            </a:prstGeom>
          </p:spPr>
          <p:txBody>
            <a:bodyPr anchor="ctr" rtlCol="false" tIns="0" lIns="0" bIns="0" rIns="0"/>
            <a:lstStyle/>
            <a:p>
              <a:pPr algn="l">
                <a:lnSpc>
                  <a:spcPts val="1920"/>
                </a:lnSpc>
              </a:pPr>
              <a:r>
                <a:rPr lang="en-US" sz="1600">
                  <a:solidFill>
                    <a:srgbClr val="3B3535"/>
                  </a:solidFill>
                  <a:latin typeface="Alexandria Light"/>
                  <a:ea typeface="Alexandria Light"/>
                  <a:cs typeface="Alexandria Light"/>
                  <a:sym typeface="Alexandria Light"/>
                </a:rPr>
                <a:t>03</a:t>
              </a:r>
            </a:p>
          </p:txBody>
        </p:sp>
      </p:grpSp>
      <p:grpSp>
        <p:nvGrpSpPr>
          <p:cNvPr name="Group 25" id="25"/>
          <p:cNvGrpSpPr/>
          <p:nvPr/>
        </p:nvGrpSpPr>
        <p:grpSpPr>
          <a:xfrm rot="0">
            <a:off x="1306411" y="7648423"/>
            <a:ext cx="5143948" cy="28575"/>
            <a:chOff x="0" y="0"/>
            <a:chExt cx="6858597" cy="38100"/>
          </a:xfrm>
        </p:grpSpPr>
        <p:sp>
          <p:nvSpPr>
            <p:cNvPr name="Freeform 26" id="26"/>
            <p:cNvSpPr/>
            <p:nvPr/>
          </p:nvSpPr>
          <p:spPr>
            <a:xfrm flipH="false" flipV="false" rot="0">
              <a:off x="0" y="0"/>
              <a:ext cx="6858635" cy="38100"/>
            </a:xfrm>
            <a:custGeom>
              <a:avLst/>
              <a:gdLst/>
              <a:ahLst/>
              <a:cxnLst/>
              <a:rect r="r" b="b" t="t" l="l"/>
              <a:pathLst>
                <a:path h="38100" w="6858635">
                  <a:moveTo>
                    <a:pt x="0" y="0"/>
                  </a:moveTo>
                  <a:lnTo>
                    <a:pt x="6858635" y="0"/>
                  </a:lnTo>
                  <a:lnTo>
                    <a:pt x="6858635" y="38100"/>
                  </a:lnTo>
                  <a:lnTo>
                    <a:pt x="0" y="38100"/>
                  </a:lnTo>
                  <a:close/>
                </a:path>
              </a:pathLst>
            </a:custGeom>
            <a:solidFill>
              <a:srgbClr val="1A2D7A"/>
            </a:solidFill>
          </p:spPr>
        </p:sp>
      </p:grpSp>
      <p:sp>
        <p:nvSpPr>
          <p:cNvPr name="TextBox 27" id="27"/>
          <p:cNvSpPr txBox="true"/>
          <p:nvPr/>
        </p:nvSpPr>
        <p:spPr>
          <a:xfrm rot="0">
            <a:off x="1306411" y="7803947"/>
            <a:ext cx="3826078" cy="364484"/>
          </a:xfrm>
          <a:prstGeom prst="rect">
            <a:avLst/>
          </a:prstGeom>
        </p:spPr>
        <p:txBody>
          <a:bodyPr anchor="t" rtlCol="false" tIns="0" lIns="0" bIns="0" rIns="0">
            <a:spAutoFit/>
          </a:bodyPr>
          <a:lstStyle/>
          <a:p>
            <a:pPr algn="l">
              <a:lnSpc>
                <a:spcPts val="2745"/>
              </a:lnSpc>
            </a:pPr>
            <a:r>
              <a:rPr lang="en-US" sz="2200" b="true">
                <a:solidFill>
                  <a:srgbClr val="3B3535"/>
                </a:solidFill>
                <a:latin typeface="Alexandria Bold"/>
                <a:ea typeface="Alexandria Bold"/>
                <a:cs typeface="Alexandria Bold"/>
                <a:sym typeface="Alexandria Bold"/>
              </a:rPr>
              <a:t>Matplotlib &amp; Pandas</a:t>
            </a:r>
          </a:p>
        </p:txBody>
      </p:sp>
      <p:sp>
        <p:nvSpPr>
          <p:cNvPr name="TextBox 28" id="28"/>
          <p:cNvSpPr txBox="true"/>
          <p:nvPr/>
        </p:nvSpPr>
        <p:spPr>
          <a:xfrm rot="0">
            <a:off x="1306411" y="8283178"/>
            <a:ext cx="5143948" cy="987628"/>
          </a:xfrm>
          <a:prstGeom prst="rect">
            <a:avLst/>
          </a:prstGeom>
        </p:spPr>
        <p:txBody>
          <a:bodyPr anchor="t" rtlCol="false" tIns="0" lIns="0" bIns="0" rIns="0">
            <a:spAutoFit/>
          </a:bodyPr>
          <a:lstStyle/>
          <a:p>
            <a:pPr algn="l">
              <a:lnSpc>
                <a:spcPts val="2304"/>
              </a:lnSpc>
            </a:pPr>
            <a:r>
              <a:rPr lang="en-US" sz="1600">
                <a:solidFill>
                  <a:srgbClr val="3B3535"/>
                </a:solidFill>
                <a:latin typeface="Arimo"/>
                <a:ea typeface="Arimo"/>
                <a:cs typeface="Arimo"/>
                <a:sym typeface="Arimo"/>
              </a:rPr>
              <a:t>Üyelik fonksiyonlarının, hesaplanan bulanık alanların grafiksel çizimi ve kural tablolarının gösterimi için kullanılır.</a:t>
            </a:r>
          </a:p>
        </p:txBody>
      </p:sp>
      <p:sp>
        <p:nvSpPr>
          <p:cNvPr name="TextBox 29" id="29"/>
          <p:cNvSpPr txBox="true"/>
          <p:nvPr/>
        </p:nvSpPr>
        <p:spPr>
          <a:xfrm rot="0">
            <a:off x="6986435" y="3754488"/>
            <a:ext cx="4427191" cy="364484"/>
          </a:xfrm>
          <a:prstGeom prst="rect">
            <a:avLst/>
          </a:prstGeom>
        </p:spPr>
        <p:txBody>
          <a:bodyPr anchor="t" rtlCol="false" tIns="0" lIns="0" bIns="0" rIns="0">
            <a:spAutoFit/>
          </a:bodyPr>
          <a:lstStyle/>
          <a:p>
            <a:pPr algn="l">
              <a:lnSpc>
                <a:spcPts val="2745"/>
              </a:lnSpc>
            </a:pPr>
            <a:r>
              <a:rPr lang="en-US" sz="2200" b="true">
                <a:solidFill>
                  <a:srgbClr val="1F1E1E"/>
                </a:solidFill>
                <a:latin typeface="Alexandria Bold"/>
                <a:ea typeface="Alexandria Bold"/>
                <a:cs typeface="Alexandria Bold"/>
                <a:sym typeface="Alexandria Bold"/>
              </a:rPr>
              <a:t>Arayüz Ekran Görüntüsü</a:t>
            </a:r>
          </a:p>
        </p:txBody>
      </p:sp>
      <p:grpSp>
        <p:nvGrpSpPr>
          <p:cNvPr name="Group 30" id="30"/>
          <p:cNvGrpSpPr/>
          <p:nvPr/>
        </p:nvGrpSpPr>
        <p:grpSpPr>
          <a:xfrm rot="0">
            <a:off x="6986435" y="4312291"/>
            <a:ext cx="10004374" cy="2134495"/>
            <a:chOff x="0" y="0"/>
            <a:chExt cx="13339166" cy="2845994"/>
          </a:xfrm>
        </p:grpSpPr>
        <p:sp>
          <p:nvSpPr>
            <p:cNvPr name="Freeform 31" id="31" descr="preencoded.png"/>
            <p:cNvSpPr/>
            <p:nvPr/>
          </p:nvSpPr>
          <p:spPr>
            <a:xfrm flipH="false" flipV="false" rot="0">
              <a:off x="0" y="0"/>
              <a:ext cx="13339190" cy="2845943"/>
            </a:xfrm>
            <a:custGeom>
              <a:avLst/>
              <a:gdLst/>
              <a:ahLst/>
              <a:cxnLst/>
              <a:rect r="r" b="b" t="t" l="l"/>
              <a:pathLst>
                <a:path h="2845943" w="13339190">
                  <a:moveTo>
                    <a:pt x="0" y="0"/>
                  </a:moveTo>
                  <a:lnTo>
                    <a:pt x="13339190" y="0"/>
                  </a:lnTo>
                  <a:lnTo>
                    <a:pt x="13339190" y="2845943"/>
                  </a:lnTo>
                  <a:lnTo>
                    <a:pt x="0" y="2845943"/>
                  </a:lnTo>
                  <a:lnTo>
                    <a:pt x="0" y="0"/>
                  </a:lnTo>
                  <a:close/>
                </a:path>
              </a:pathLst>
            </a:custGeom>
            <a:blipFill>
              <a:blip r:embed="rId4"/>
              <a:stretch>
                <a:fillRect l="-5" t="0" r="-5" b="-1"/>
              </a:stretch>
            </a:blipFill>
          </p:spPr>
        </p:sp>
      </p:grpSp>
      <p:grpSp>
        <p:nvGrpSpPr>
          <p:cNvPr name="Group 32" id="32"/>
          <p:cNvGrpSpPr/>
          <p:nvPr/>
        </p:nvGrpSpPr>
        <p:grpSpPr>
          <a:xfrm rot="0">
            <a:off x="6986435" y="6640116"/>
            <a:ext cx="10004374" cy="1728940"/>
            <a:chOff x="0" y="0"/>
            <a:chExt cx="13339166" cy="2305253"/>
          </a:xfrm>
        </p:grpSpPr>
        <p:sp>
          <p:nvSpPr>
            <p:cNvPr name="Freeform 33" id="33"/>
            <p:cNvSpPr/>
            <p:nvPr/>
          </p:nvSpPr>
          <p:spPr>
            <a:xfrm flipH="false" flipV="false" rot="0">
              <a:off x="0" y="0"/>
              <a:ext cx="13339192" cy="2305304"/>
            </a:xfrm>
            <a:custGeom>
              <a:avLst/>
              <a:gdLst/>
              <a:ahLst/>
              <a:cxnLst/>
              <a:rect r="r" b="b" t="t" l="l"/>
              <a:pathLst>
                <a:path h="2305304" w="13339192">
                  <a:moveTo>
                    <a:pt x="0" y="120904"/>
                  </a:moveTo>
                  <a:cubicBezTo>
                    <a:pt x="0" y="54102"/>
                    <a:pt x="54102" y="0"/>
                    <a:pt x="120904" y="0"/>
                  </a:cubicBezTo>
                  <a:lnTo>
                    <a:pt x="13218288" y="0"/>
                  </a:lnTo>
                  <a:cubicBezTo>
                    <a:pt x="13285090" y="0"/>
                    <a:pt x="13339192" y="54102"/>
                    <a:pt x="13339192" y="120904"/>
                  </a:cubicBezTo>
                  <a:lnTo>
                    <a:pt x="13339192" y="2184400"/>
                  </a:lnTo>
                  <a:cubicBezTo>
                    <a:pt x="13339192" y="2251202"/>
                    <a:pt x="13285090" y="2305304"/>
                    <a:pt x="13218288" y="2305304"/>
                  </a:cubicBezTo>
                  <a:lnTo>
                    <a:pt x="120904" y="2305304"/>
                  </a:lnTo>
                  <a:cubicBezTo>
                    <a:pt x="54102" y="2305304"/>
                    <a:pt x="0" y="2251075"/>
                    <a:pt x="0" y="2184400"/>
                  </a:cubicBezTo>
                  <a:close/>
                </a:path>
              </a:pathLst>
            </a:custGeom>
            <a:solidFill>
              <a:srgbClr val="B6FCB8"/>
            </a:solidFill>
          </p:spPr>
        </p:sp>
      </p:grpSp>
      <p:grpSp>
        <p:nvGrpSpPr>
          <p:cNvPr name="Group 34" id="34"/>
          <p:cNvGrpSpPr/>
          <p:nvPr/>
        </p:nvGrpSpPr>
        <p:grpSpPr>
          <a:xfrm rot="0">
            <a:off x="7202243" y="6940001"/>
            <a:ext cx="269672" cy="215798"/>
            <a:chOff x="0" y="0"/>
            <a:chExt cx="359562" cy="287731"/>
          </a:xfrm>
        </p:grpSpPr>
        <p:sp>
          <p:nvSpPr>
            <p:cNvPr name="Freeform 35" id="35" descr="preencoded.png"/>
            <p:cNvSpPr/>
            <p:nvPr/>
          </p:nvSpPr>
          <p:spPr>
            <a:xfrm flipH="false" flipV="false" rot="0">
              <a:off x="0" y="0"/>
              <a:ext cx="359537" cy="287782"/>
            </a:xfrm>
            <a:custGeom>
              <a:avLst/>
              <a:gdLst/>
              <a:ahLst/>
              <a:cxnLst/>
              <a:rect r="r" b="b" t="t" l="l"/>
              <a:pathLst>
                <a:path h="287782" w="359537">
                  <a:moveTo>
                    <a:pt x="0" y="0"/>
                  </a:moveTo>
                  <a:lnTo>
                    <a:pt x="359537" y="0"/>
                  </a:lnTo>
                  <a:lnTo>
                    <a:pt x="359537" y="287782"/>
                  </a:lnTo>
                  <a:lnTo>
                    <a:pt x="0" y="287782"/>
                  </a:lnTo>
                  <a:lnTo>
                    <a:pt x="0" y="0"/>
                  </a:lnTo>
                  <a:close/>
                </a:path>
              </a:pathLst>
            </a:custGeom>
            <a:blipFill>
              <a:blip r:embed="rId5"/>
              <a:stretch>
                <a:fillRect l="0" t="-1323" r="-7" b="-1310"/>
              </a:stretch>
            </a:blipFill>
          </p:spPr>
        </p:sp>
      </p:grpSp>
      <p:sp>
        <p:nvSpPr>
          <p:cNvPr name="TextBox 36" id="36"/>
          <p:cNvSpPr txBox="true"/>
          <p:nvPr/>
        </p:nvSpPr>
        <p:spPr>
          <a:xfrm rot="0">
            <a:off x="7687713" y="6808737"/>
            <a:ext cx="9087298" cy="1297781"/>
          </a:xfrm>
          <a:prstGeom prst="rect">
            <a:avLst/>
          </a:prstGeom>
        </p:spPr>
        <p:txBody>
          <a:bodyPr anchor="t" rtlCol="false" tIns="0" lIns="0" bIns="0" rIns="0">
            <a:spAutoFit/>
          </a:bodyPr>
          <a:lstStyle/>
          <a:p>
            <a:pPr algn="l">
              <a:lnSpc>
                <a:spcPts val="2304"/>
              </a:lnSpc>
            </a:pPr>
            <a:r>
              <a:rPr lang="en-US" sz="1600">
                <a:solidFill>
                  <a:srgbClr val="000000"/>
                </a:solidFill>
                <a:latin typeface="Arimo"/>
                <a:ea typeface="Arimo"/>
                <a:cs typeface="Arimo"/>
                <a:sym typeface="Arimo"/>
              </a:rPr>
              <a:t>Geliştirilen arayüz tam bir </a:t>
            </a:r>
            <a:r>
              <a:rPr lang="en-US" sz="1600" b="true">
                <a:solidFill>
                  <a:srgbClr val="000000"/>
                </a:solidFill>
                <a:latin typeface="Arimo Bold"/>
                <a:ea typeface="Arimo Bold"/>
                <a:cs typeface="Arimo Bold"/>
                <a:sym typeface="Arimo Bold"/>
              </a:rPr>
              <a:t>"Şeffaf Kutu" (White-box)</a:t>
            </a:r>
            <a:r>
              <a:rPr lang="en-US" sz="1600">
                <a:solidFill>
                  <a:srgbClr val="000000"/>
                </a:solidFill>
                <a:latin typeface="Arimo"/>
                <a:ea typeface="Arimo"/>
                <a:cs typeface="Arimo"/>
                <a:sym typeface="Arimo"/>
              </a:rPr>
              <a:t> yaklaşımı sunar. Sol menüden giriş sürgüleri oynatıldığında sistem saniyenin altında bir hızda hesaplama yapar. Aktifleşen kurallar, hangi şiddetle ateşlendikleri ve tüm istatistikler panelde canlı olarak raporlanır.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47890" y="1331119"/>
            <a:ext cx="13850093" cy="909933"/>
          </a:xfrm>
          <a:prstGeom prst="rect">
            <a:avLst/>
          </a:prstGeom>
        </p:spPr>
        <p:txBody>
          <a:bodyPr anchor="t" rtlCol="false" tIns="0" lIns="0" bIns="0" rIns="0">
            <a:spAutoFit/>
          </a:bodyPr>
          <a:lstStyle/>
          <a:p>
            <a:pPr algn="l">
              <a:lnSpc>
                <a:spcPts val="6988"/>
              </a:lnSpc>
            </a:pPr>
            <a:r>
              <a:rPr lang="en-US" sz="5599" b="true">
                <a:solidFill>
                  <a:srgbClr val="1F1E1E"/>
                </a:solidFill>
                <a:latin typeface="Alexandria Bold"/>
                <a:ea typeface="Alexandria Bold"/>
                <a:cs typeface="Alexandria Bold"/>
                <a:sym typeface="Alexandria Bold"/>
              </a:rPr>
              <a:t>8. Test Sonuçları ve Kapsamlı Analiz</a:t>
            </a:r>
          </a:p>
        </p:txBody>
      </p:sp>
      <p:sp>
        <p:nvSpPr>
          <p:cNvPr name="TextBox 7" id="7"/>
          <p:cNvSpPr txBox="true"/>
          <p:nvPr/>
        </p:nvSpPr>
        <p:spPr>
          <a:xfrm rot="0">
            <a:off x="947890" y="2696918"/>
            <a:ext cx="16392230" cy="952500"/>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Sistem, gerçek hayatta karşılaşılabilecek birbirinden tamamen farklı </a:t>
            </a:r>
            <a:r>
              <a:rPr lang="en-US" sz="2100" b="true">
                <a:solidFill>
                  <a:srgbClr val="3B3535"/>
                </a:solidFill>
                <a:latin typeface="Arimo Bold"/>
                <a:ea typeface="Arimo Bold"/>
                <a:cs typeface="Arimo Bold"/>
                <a:sym typeface="Arimo Bold"/>
              </a:rPr>
              <a:t>10 ayrı uç senaryo</a:t>
            </a:r>
            <a:r>
              <a:rPr lang="en-US" sz="2100">
                <a:solidFill>
                  <a:srgbClr val="3B3535"/>
                </a:solidFill>
                <a:latin typeface="Arimo"/>
                <a:ea typeface="Arimo"/>
                <a:cs typeface="Arimo"/>
                <a:sym typeface="Arimo"/>
              </a:rPr>
              <a:t> (Yaz öğleni kalabalık parti, Kış gecesi boş ev, Bahar sabahı ideal ofis vb.) üzerinden simüle edilerek sınır testlerinden başarıyla geçmiştir.</a:t>
            </a:r>
          </a:p>
        </p:txBody>
      </p:sp>
      <p:grpSp>
        <p:nvGrpSpPr>
          <p:cNvPr name="Group 8" id="8"/>
          <p:cNvGrpSpPr/>
          <p:nvPr/>
        </p:nvGrpSpPr>
        <p:grpSpPr>
          <a:xfrm rot="0">
            <a:off x="947890" y="3954066"/>
            <a:ext cx="2304898" cy="1424435"/>
            <a:chOff x="0" y="0"/>
            <a:chExt cx="3073197" cy="1899247"/>
          </a:xfrm>
        </p:grpSpPr>
        <p:sp>
          <p:nvSpPr>
            <p:cNvPr name="Freeform 9" id="9" descr="preencoded.png"/>
            <p:cNvSpPr/>
            <p:nvPr/>
          </p:nvSpPr>
          <p:spPr>
            <a:xfrm flipH="false" flipV="false" rot="0">
              <a:off x="0" y="0"/>
              <a:ext cx="3073146" cy="1899285"/>
            </a:xfrm>
            <a:custGeom>
              <a:avLst/>
              <a:gdLst/>
              <a:ahLst/>
              <a:cxnLst/>
              <a:rect r="r" b="b" t="t" l="l"/>
              <a:pathLst>
                <a:path h="1899285" w="3073146">
                  <a:moveTo>
                    <a:pt x="0" y="0"/>
                  </a:moveTo>
                  <a:lnTo>
                    <a:pt x="3073146" y="0"/>
                  </a:lnTo>
                  <a:lnTo>
                    <a:pt x="3073146" y="1899285"/>
                  </a:lnTo>
                  <a:lnTo>
                    <a:pt x="0" y="1899285"/>
                  </a:lnTo>
                  <a:lnTo>
                    <a:pt x="0" y="0"/>
                  </a:lnTo>
                  <a:close/>
                </a:path>
              </a:pathLst>
            </a:custGeom>
            <a:blipFill>
              <a:blip r:embed="rId3"/>
              <a:stretch>
                <a:fillRect l="0" t="-148" r="-1" b="-145"/>
              </a:stretch>
            </a:blipFill>
          </p:spPr>
        </p:sp>
      </p:grpSp>
      <p:sp>
        <p:nvSpPr>
          <p:cNvPr name="TextBox 10" id="10"/>
          <p:cNvSpPr txBox="true"/>
          <p:nvPr/>
        </p:nvSpPr>
        <p:spPr>
          <a:xfrm rot="0">
            <a:off x="947890" y="5716934"/>
            <a:ext cx="6094962" cy="445294"/>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Orantılı ve Yumuşak Kararlar</a:t>
            </a:r>
          </a:p>
        </p:txBody>
      </p:sp>
      <p:sp>
        <p:nvSpPr>
          <p:cNvPr name="TextBox 11" id="11"/>
          <p:cNvSpPr txBox="true"/>
          <p:nvPr/>
        </p:nvSpPr>
        <p:spPr>
          <a:xfrm rot="0">
            <a:off x="947890" y="6238875"/>
            <a:ext cx="5238455" cy="1819275"/>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22°C'den 26°C'ye doğru çıkılırken fan aniden %100'e fırlamak yerine, sırasıyla </a:t>
            </a:r>
            <a:r>
              <a:rPr lang="en-US" sz="2100" b="true">
                <a:solidFill>
                  <a:srgbClr val="3B3535"/>
                </a:solidFill>
                <a:latin typeface="Arimo Bold"/>
                <a:ea typeface="Arimo Bold"/>
                <a:cs typeface="Arimo Bold"/>
                <a:sym typeface="Arimo Bold"/>
              </a:rPr>
              <a:t>%26, %45, %70</a:t>
            </a:r>
            <a:r>
              <a:rPr lang="en-US" sz="2100">
                <a:solidFill>
                  <a:srgbClr val="3B3535"/>
                </a:solidFill>
                <a:latin typeface="Arimo"/>
                <a:ea typeface="Arimo"/>
                <a:cs typeface="Arimo"/>
                <a:sym typeface="Arimo"/>
              </a:rPr>
              <a:t> oranında yumuşak ve kademeli artış sergilemiştir.</a:t>
            </a:r>
          </a:p>
        </p:txBody>
      </p:sp>
      <p:grpSp>
        <p:nvGrpSpPr>
          <p:cNvPr name="Group 12" id="12"/>
          <p:cNvGrpSpPr/>
          <p:nvPr/>
        </p:nvGrpSpPr>
        <p:grpSpPr>
          <a:xfrm rot="0">
            <a:off x="6524777" y="3954066"/>
            <a:ext cx="2304898" cy="1424435"/>
            <a:chOff x="0" y="0"/>
            <a:chExt cx="3073197" cy="1899247"/>
          </a:xfrm>
        </p:grpSpPr>
        <p:sp>
          <p:nvSpPr>
            <p:cNvPr name="Freeform 13" id="13" descr="preencoded.png"/>
            <p:cNvSpPr/>
            <p:nvPr/>
          </p:nvSpPr>
          <p:spPr>
            <a:xfrm flipH="false" flipV="false" rot="0">
              <a:off x="0" y="0"/>
              <a:ext cx="3073146" cy="1899285"/>
            </a:xfrm>
            <a:custGeom>
              <a:avLst/>
              <a:gdLst/>
              <a:ahLst/>
              <a:cxnLst/>
              <a:rect r="r" b="b" t="t" l="l"/>
              <a:pathLst>
                <a:path h="1899285" w="3073146">
                  <a:moveTo>
                    <a:pt x="0" y="0"/>
                  </a:moveTo>
                  <a:lnTo>
                    <a:pt x="3073146" y="0"/>
                  </a:lnTo>
                  <a:lnTo>
                    <a:pt x="3073146" y="1899285"/>
                  </a:lnTo>
                  <a:lnTo>
                    <a:pt x="0" y="1899285"/>
                  </a:lnTo>
                  <a:lnTo>
                    <a:pt x="0" y="0"/>
                  </a:lnTo>
                  <a:close/>
                </a:path>
              </a:pathLst>
            </a:custGeom>
            <a:blipFill>
              <a:blip r:embed="rId4"/>
              <a:stretch>
                <a:fillRect l="0" t="-148" r="-1" b="-145"/>
              </a:stretch>
            </a:blipFill>
          </p:spPr>
        </p:sp>
      </p:grpSp>
      <p:sp>
        <p:nvSpPr>
          <p:cNvPr name="TextBox 14" id="14"/>
          <p:cNvSpPr txBox="true"/>
          <p:nvPr/>
        </p:nvSpPr>
        <p:spPr>
          <a:xfrm rot="0">
            <a:off x="6524777" y="5716934"/>
            <a:ext cx="5238455" cy="890588"/>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Bağlamsal Algı ve Agresif Müdahale</a:t>
            </a:r>
          </a:p>
        </p:txBody>
      </p:sp>
      <p:sp>
        <p:nvSpPr>
          <p:cNvPr name="TextBox 15" id="15"/>
          <p:cNvSpPr txBox="true"/>
          <p:nvPr/>
        </p:nvSpPr>
        <p:spPr>
          <a:xfrm rot="0">
            <a:off x="6524777" y="6684169"/>
            <a:ext cx="5238455" cy="2252663"/>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Dışarısı -8 °C iken oda ısısının hızla 10 °C'ye düştüğü simülasyonda sistem, tehlikeyi fark ederek ısıtma gücünü maksimum sınıra dayamış </a:t>
            </a:r>
            <a:r>
              <a:rPr lang="en-US" sz="2100" b="true">
                <a:solidFill>
                  <a:srgbClr val="3B3535"/>
                </a:solidFill>
                <a:latin typeface="Arimo Bold"/>
                <a:ea typeface="Arimo Bold"/>
                <a:cs typeface="Arimo Bold"/>
                <a:sym typeface="Arimo Bold"/>
              </a:rPr>
              <a:t>(+80 birim)</a:t>
            </a:r>
            <a:r>
              <a:rPr lang="en-US" sz="2100">
                <a:solidFill>
                  <a:srgbClr val="3B3535"/>
                </a:solidFill>
                <a:latin typeface="Arimo"/>
                <a:ea typeface="Arimo"/>
                <a:cs typeface="Arimo"/>
                <a:sym typeface="Arimo"/>
              </a:rPr>
              <a:t> ve ortamı kurtarma moduna girmiştir.</a:t>
            </a:r>
          </a:p>
        </p:txBody>
      </p:sp>
      <p:grpSp>
        <p:nvGrpSpPr>
          <p:cNvPr name="Group 16" id="16"/>
          <p:cNvGrpSpPr/>
          <p:nvPr/>
        </p:nvGrpSpPr>
        <p:grpSpPr>
          <a:xfrm rot="0">
            <a:off x="12101665" y="3954066"/>
            <a:ext cx="2304898" cy="1424435"/>
            <a:chOff x="0" y="0"/>
            <a:chExt cx="3073197" cy="1899247"/>
          </a:xfrm>
        </p:grpSpPr>
        <p:sp>
          <p:nvSpPr>
            <p:cNvPr name="Freeform 17" id="17" descr="preencoded.png"/>
            <p:cNvSpPr/>
            <p:nvPr/>
          </p:nvSpPr>
          <p:spPr>
            <a:xfrm flipH="false" flipV="false" rot="0">
              <a:off x="0" y="0"/>
              <a:ext cx="3073146" cy="1899285"/>
            </a:xfrm>
            <a:custGeom>
              <a:avLst/>
              <a:gdLst/>
              <a:ahLst/>
              <a:cxnLst/>
              <a:rect r="r" b="b" t="t" l="l"/>
              <a:pathLst>
                <a:path h="1899285" w="3073146">
                  <a:moveTo>
                    <a:pt x="0" y="0"/>
                  </a:moveTo>
                  <a:lnTo>
                    <a:pt x="3073146" y="0"/>
                  </a:lnTo>
                  <a:lnTo>
                    <a:pt x="3073146" y="1899285"/>
                  </a:lnTo>
                  <a:lnTo>
                    <a:pt x="0" y="1899285"/>
                  </a:lnTo>
                  <a:lnTo>
                    <a:pt x="0" y="0"/>
                  </a:lnTo>
                  <a:close/>
                </a:path>
              </a:pathLst>
            </a:custGeom>
            <a:blipFill>
              <a:blip r:embed="rId5"/>
              <a:stretch>
                <a:fillRect l="0" t="-148" r="-1" b="-145"/>
              </a:stretch>
            </a:blipFill>
          </p:spPr>
        </p:sp>
      </p:grpSp>
      <p:sp>
        <p:nvSpPr>
          <p:cNvPr name="TextBox 18" id="18"/>
          <p:cNvSpPr txBox="true"/>
          <p:nvPr/>
        </p:nvSpPr>
        <p:spPr>
          <a:xfrm rot="0">
            <a:off x="12101665" y="5716934"/>
            <a:ext cx="5238455" cy="890588"/>
          </a:xfrm>
          <a:prstGeom prst="rect">
            <a:avLst/>
          </a:prstGeom>
        </p:spPr>
        <p:txBody>
          <a:bodyPr anchor="t" rtlCol="false" tIns="0" lIns="0" bIns="0" rIns="0">
            <a:spAutoFit/>
          </a:bodyPr>
          <a:lstStyle/>
          <a:p>
            <a:pPr algn="l">
              <a:lnSpc>
                <a:spcPts val="3494"/>
              </a:lnSpc>
            </a:pPr>
            <a:r>
              <a:rPr lang="en-US" sz="2799" b="true">
                <a:solidFill>
                  <a:srgbClr val="3B3535"/>
                </a:solidFill>
                <a:latin typeface="Alexandria Bold"/>
                <a:ea typeface="Alexandria Bold"/>
                <a:cs typeface="Alexandria Bold"/>
                <a:sym typeface="Alexandria Bold"/>
              </a:rPr>
              <a:t>Gece ve Uyku Konforu Farkındalığı</a:t>
            </a:r>
          </a:p>
        </p:txBody>
      </p:sp>
      <p:sp>
        <p:nvSpPr>
          <p:cNvPr name="TextBox 19" id="19"/>
          <p:cNvSpPr txBox="true"/>
          <p:nvPr/>
        </p:nvSpPr>
        <p:spPr>
          <a:xfrm rot="0">
            <a:off x="12101665" y="6684169"/>
            <a:ext cx="5238455" cy="1819275"/>
          </a:xfrm>
          <a:prstGeom prst="rect">
            <a:avLst/>
          </a:prstGeom>
        </p:spPr>
        <p:txBody>
          <a:bodyPr anchor="t" rtlCol="false" tIns="0" lIns="0" bIns="0" rIns="0">
            <a:spAutoFit/>
          </a:bodyPr>
          <a:lstStyle/>
          <a:p>
            <a:pPr algn="l">
              <a:lnSpc>
                <a:spcPts val="3351"/>
              </a:lnSpc>
            </a:pPr>
            <a:r>
              <a:rPr lang="en-US" sz="2100">
                <a:solidFill>
                  <a:srgbClr val="3B3535"/>
                </a:solidFill>
                <a:latin typeface="Arimo"/>
                <a:ea typeface="Arimo"/>
                <a:cs typeface="Arimo"/>
                <a:sym typeface="Arimo"/>
              </a:rPr>
              <a:t>Saat gece 03:00'e alındığında; sistem fan devrini otomatik olarak ortalama </a:t>
            </a:r>
            <a:r>
              <a:rPr lang="en-US" sz="2100" b="true">
                <a:solidFill>
                  <a:srgbClr val="3B3535"/>
                </a:solidFill>
                <a:latin typeface="Arimo Bold"/>
                <a:ea typeface="Arimo Bold"/>
                <a:cs typeface="Arimo Bold"/>
                <a:sym typeface="Arimo Bold"/>
              </a:rPr>
              <a:t>%15 aşağı çekerek</a:t>
            </a:r>
            <a:r>
              <a:rPr lang="en-US" sz="2100">
                <a:solidFill>
                  <a:srgbClr val="3B3535"/>
                </a:solidFill>
                <a:latin typeface="Arimo"/>
                <a:ea typeface="Arimo"/>
                <a:cs typeface="Arimo"/>
                <a:sym typeface="Arimo"/>
              </a:rPr>
              <a:t> uyku için gereken sessizlik şartını yerine getirmiştir.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858888" y="775392"/>
            <a:ext cx="15429309" cy="826446"/>
          </a:xfrm>
          <a:prstGeom prst="rect">
            <a:avLst/>
          </a:prstGeom>
        </p:spPr>
        <p:txBody>
          <a:bodyPr anchor="t" rtlCol="false" tIns="0" lIns="0" bIns="0" rIns="0">
            <a:spAutoFit/>
          </a:bodyPr>
          <a:lstStyle/>
          <a:p>
            <a:pPr algn="l">
              <a:lnSpc>
                <a:spcPts val="6239"/>
              </a:lnSpc>
            </a:pPr>
            <a:r>
              <a:rPr lang="en-US" sz="4999" b="true">
                <a:solidFill>
                  <a:srgbClr val="1F1E1E"/>
                </a:solidFill>
                <a:latin typeface="Alexandria Bold"/>
                <a:ea typeface="Alexandria Bold"/>
                <a:cs typeface="Alexandria Bold"/>
                <a:sym typeface="Alexandria Bold"/>
              </a:rPr>
              <a:t>9. Sonuç, Değerlendirme ve Gelecek Vizyonu</a:t>
            </a:r>
          </a:p>
        </p:txBody>
      </p:sp>
      <p:sp>
        <p:nvSpPr>
          <p:cNvPr name="TextBox 7" id="7"/>
          <p:cNvSpPr txBox="true"/>
          <p:nvPr/>
        </p:nvSpPr>
        <p:spPr>
          <a:xfrm rot="0">
            <a:off x="1226944" y="2230193"/>
            <a:ext cx="16202177" cy="814988"/>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Bu proje; HVAC kontrolü gibi insan konforunun son derece öznel, çok boyutlu ve dış çevresel şartlara bağlı olduğu alanlarda Bulanık Mantığın (Fuzzy Logic) tartışmasız gücünü ve doğruluğunu kanıtlamaktadır.</a:t>
            </a:r>
          </a:p>
        </p:txBody>
      </p:sp>
      <p:grpSp>
        <p:nvGrpSpPr>
          <p:cNvPr name="Group 8" id="8"/>
          <p:cNvGrpSpPr/>
          <p:nvPr/>
        </p:nvGrpSpPr>
        <p:grpSpPr>
          <a:xfrm rot="0">
            <a:off x="858888" y="2046684"/>
            <a:ext cx="28575" cy="1248670"/>
            <a:chOff x="0" y="0"/>
            <a:chExt cx="38100" cy="1664894"/>
          </a:xfrm>
        </p:grpSpPr>
        <p:sp>
          <p:nvSpPr>
            <p:cNvPr name="Freeform 9" id="9"/>
            <p:cNvSpPr/>
            <p:nvPr/>
          </p:nvSpPr>
          <p:spPr>
            <a:xfrm flipH="false" flipV="false" rot="0">
              <a:off x="0" y="0"/>
              <a:ext cx="38100" cy="1664843"/>
            </a:xfrm>
            <a:custGeom>
              <a:avLst/>
              <a:gdLst/>
              <a:ahLst/>
              <a:cxnLst/>
              <a:rect r="r" b="b" t="t" l="l"/>
              <a:pathLst>
                <a:path h="1664843" w="38100">
                  <a:moveTo>
                    <a:pt x="0" y="0"/>
                  </a:moveTo>
                  <a:lnTo>
                    <a:pt x="38100" y="0"/>
                  </a:lnTo>
                  <a:lnTo>
                    <a:pt x="38100" y="1664843"/>
                  </a:lnTo>
                  <a:lnTo>
                    <a:pt x="0" y="1664843"/>
                  </a:lnTo>
                  <a:close/>
                </a:path>
              </a:pathLst>
            </a:custGeom>
            <a:solidFill>
              <a:srgbClr val="1A2D7A"/>
            </a:solidFill>
          </p:spPr>
        </p:sp>
      </p:grpSp>
      <p:sp>
        <p:nvSpPr>
          <p:cNvPr name="TextBox 10" id="10"/>
          <p:cNvSpPr txBox="true"/>
          <p:nvPr/>
        </p:nvSpPr>
        <p:spPr>
          <a:xfrm rot="0">
            <a:off x="858888" y="3478854"/>
            <a:ext cx="16570223" cy="814988"/>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Karmaşık ve maliyetli diferansiyel denklemlere ihtiyaç duymadan, doğrudan insan tecrübesiyle şekillenen, esnek, şeffaf ve enerji tasarruflu bir akıllı sistem başarıyla inşa edilmiştir.</a:t>
            </a:r>
          </a:p>
        </p:txBody>
      </p:sp>
      <p:grpSp>
        <p:nvGrpSpPr>
          <p:cNvPr name="Group 11" id="11"/>
          <p:cNvGrpSpPr/>
          <p:nvPr/>
        </p:nvGrpSpPr>
        <p:grpSpPr>
          <a:xfrm rot="0">
            <a:off x="682228" y="4544016"/>
            <a:ext cx="8339138" cy="4948390"/>
            <a:chOff x="0" y="0"/>
            <a:chExt cx="11118850" cy="6597853"/>
          </a:xfrm>
        </p:grpSpPr>
        <p:sp>
          <p:nvSpPr>
            <p:cNvPr name="Freeform 12" id="12"/>
            <p:cNvSpPr/>
            <p:nvPr/>
          </p:nvSpPr>
          <p:spPr>
            <a:xfrm flipH="false" flipV="false" rot="0">
              <a:off x="0" y="0"/>
              <a:ext cx="11118850" cy="6597777"/>
            </a:xfrm>
            <a:custGeom>
              <a:avLst/>
              <a:gdLst/>
              <a:ahLst/>
              <a:cxnLst/>
              <a:rect r="r" b="b" t="t" l="l"/>
              <a:pathLst>
                <a:path h="6597777" w="11118850">
                  <a:moveTo>
                    <a:pt x="0" y="235585"/>
                  </a:moveTo>
                  <a:cubicBezTo>
                    <a:pt x="0" y="105537"/>
                    <a:pt x="105537" y="0"/>
                    <a:pt x="235585" y="0"/>
                  </a:cubicBezTo>
                  <a:lnTo>
                    <a:pt x="10883265" y="0"/>
                  </a:lnTo>
                  <a:cubicBezTo>
                    <a:pt x="11013440" y="0"/>
                    <a:pt x="11118850" y="105537"/>
                    <a:pt x="11118850" y="235585"/>
                  </a:cubicBezTo>
                  <a:lnTo>
                    <a:pt x="11118850" y="6362192"/>
                  </a:lnTo>
                  <a:cubicBezTo>
                    <a:pt x="11118850" y="6492367"/>
                    <a:pt x="11013313" y="6597777"/>
                    <a:pt x="10883265" y="6597777"/>
                  </a:cubicBezTo>
                  <a:lnTo>
                    <a:pt x="235585" y="6597777"/>
                  </a:lnTo>
                  <a:cubicBezTo>
                    <a:pt x="105537" y="6597904"/>
                    <a:pt x="0" y="6492367"/>
                    <a:pt x="0" y="6362192"/>
                  </a:cubicBezTo>
                  <a:close/>
                </a:path>
              </a:pathLst>
            </a:custGeom>
            <a:solidFill>
              <a:srgbClr val="1A2D7A"/>
            </a:solidFill>
          </p:spPr>
        </p:sp>
      </p:grpSp>
      <p:sp>
        <p:nvSpPr>
          <p:cNvPr name="TextBox 13" id="13"/>
          <p:cNvSpPr txBox="true"/>
          <p:nvPr/>
        </p:nvSpPr>
        <p:spPr>
          <a:xfrm rot="0">
            <a:off x="927649" y="4756842"/>
            <a:ext cx="6618237" cy="413147"/>
          </a:xfrm>
          <a:prstGeom prst="rect">
            <a:avLst/>
          </a:prstGeom>
        </p:spPr>
        <p:txBody>
          <a:bodyPr anchor="t" rtlCol="false" tIns="0" lIns="0" bIns="0" rIns="0">
            <a:spAutoFit/>
          </a:bodyPr>
          <a:lstStyle/>
          <a:p>
            <a:pPr algn="l">
              <a:lnSpc>
                <a:spcPts val="3119"/>
              </a:lnSpc>
            </a:pPr>
            <a:r>
              <a:rPr lang="en-US" sz="2499" b="true">
                <a:solidFill>
                  <a:srgbClr val="FFFFFF"/>
                </a:solidFill>
                <a:latin typeface="Alexandria Bold"/>
                <a:ea typeface="Alexandria Bold"/>
                <a:cs typeface="Alexandria Bold"/>
                <a:sym typeface="Alexandria Bold"/>
              </a:rPr>
              <a:t>Adaptif Makine Öğrenmesi (ANFIS)</a:t>
            </a:r>
          </a:p>
        </p:txBody>
      </p:sp>
      <p:sp>
        <p:nvSpPr>
          <p:cNvPr name="TextBox 14" id="14"/>
          <p:cNvSpPr txBox="true"/>
          <p:nvPr/>
        </p:nvSpPr>
        <p:spPr>
          <a:xfrm rot="0">
            <a:off x="927649" y="5325666"/>
            <a:ext cx="7848305" cy="1937442"/>
          </a:xfrm>
          <a:prstGeom prst="rect">
            <a:avLst/>
          </a:prstGeom>
        </p:spPr>
        <p:txBody>
          <a:bodyPr anchor="t" rtlCol="false" tIns="0" lIns="0" bIns="0" rIns="0">
            <a:spAutoFit/>
          </a:bodyPr>
          <a:lstStyle/>
          <a:p>
            <a:pPr algn="l">
              <a:lnSpc>
                <a:spcPts val="2895"/>
              </a:lnSpc>
            </a:pPr>
            <a:r>
              <a:rPr lang="en-US" sz="1900">
                <a:solidFill>
                  <a:srgbClr val="FFFFFF"/>
                </a:solidFill>
                <a:latin typeface="Arimo"/>
                <a:ea typeface="Arimo"/>
                <a:cs typeface="Arimo"/>
                <a:sym typeface="Arimo"/>
              </a:rPr>
              <a:t>Sistemin mevcut kısıtlaması, kuralların sabit ve manuel tasarlanmış olmasıdır. Gelecek evrede </a:t>
            </a:r>
            <a:r>
              <a:rPr lang="en-US" sz="1900" b="true">
                <a:solidFill>
                  <a:srgbClr val="FFFFFF"/>
                </a:solidFill>
                <a:latin typeface="Arimo Bold"/>
                <a:ea typeface="Arimo Bold"/>
                <a:cs typeface="Arimo Bold"/>
                <a:sym typeface="Arimo Bold"/>
              </a:rPr>
              <a:t>ANFIS (Adaptive Neuro-Fuzzy Inference System)</a:t>
            </a:r>
            <a:r>
              <a:rPr lang="en-US" sz="1900">
                <a:solidFill>
                  <a:srgbClr val="FFFFFF"/>
                </a:solidFill>
                <a:latin typeface="Arimo"/>
                <a:ea typeface="Arimo"/>
                <a:cs typeface="Arimo"/>
                <a:sym typeface="Arimo"/>
              </a:rPr>
              <a:t> kullanılarak, ev sakinlerinin yaşam alışkanlıklarına göre kuralların sistem tarafından otomatik öğrenilmesi ve evrimleşmesi hedeflenmektedir.</a:t>
            </a:r>
          </a:p>
        </p:txBody>
      </p:sp>
      <p:sp>
        <p:nvSpPr>
          <p:cNvPr name="TextBox 15" id="15"/>
          <p:cNvSpPr txBox="true"/>
          <p:nvPr/>
        </p:nvSpPr>
        <p:spPr>
          <a:xfrm rot="0">
            <a:off x="9452820" y="4756842"/>
            <a:ext cx="6401248" cy="413147"/>
          </a:xfrm>
          <a:prstGeom prst="rect">
            <a:avLst/>
          </a:prstGeom>
        </p:spPr>
        <p:txBody>
          <a:bodyPr anchor="t" rtlCol="false" tIns="0" lIns="0" bIns="0" rIns="0">
            <a:spAutoFit/>
          </a:bodyPr>
          <a:lstStyle/>
          <a:p>
            <a:pPr algn="l">
              <a:lnSpc>
                <a:spcPts val="3119"/>
              </a:lnSpc>
            </a:pPr>
            <a:r>
              <a:rPr lang="en-US" sz="2499" b="true">
                <a:solidFill>
                  <a:srgbClr val="1F1E1E"/>
                </a:solidFill>
                <a:latin typeface="Alexandria Bold"/>
                <a:ea typeface="Alexandria Bold"/>
                <a:cs typeface="Alexandria Bold"/>
                <a:sym typeface="Alexandria Bold"/>
              </a:rPr>
              <a:t>Gerçek Zamanlı IoT Entegrasyonu</a:t>
            </a:r>
          </a:p>
        </p:txBody>
      </p:sp>
      <p:sp>
        <p:nvSpPr>
          <p:cNvPr name="TextBox 16" id="16"/>
          <p:cNvSpPr txBox="true"/>
          <p:nvPr/>
        </p:nvSpPr>
        <p:spPr>
          <a:xfrm rot="0">
            <a:off x="9452820" y="5325666"/>
            <a:ext cx="7985817" cy="1563291"/>
          </a:xfrm>
          <a:prstGeom prst="rect">
            <a:avLst/>
          </a:prstGeom>
        </p:spPr>
        <p:txBody>
          <a:bodyPr anchor="t" rtlCol="false" tIns="0" lIns="0" bIns="0" rIns="0">
            <a:spAutoFit/>
          </a:bodyPr>
          <a:lstStyle/>
          <a:p>
            <a:pPr algn="l">
              <a:lnSpc>
                <a:spcPts val="2895"/>
              </a:lnSpc>
            </a:pPr>
            <a:r>
              <a:rPr lang="en-US" sz="1900">
                <a:solidFill>
                  <a:srgbClr val="3B3535"/>
                </a:solidFill>
                <a:latin typeface="Arimo"/>
                <a:ea typeface="Arimo"/>
                <a:cs typeface="Arimo"/>
                <a:sym typeface="Arimo"/>
              </a:rPr>
              <a:t>Sistemin fiziksel sensörler (</a:t>
            </a:r>
            <a:r>
              <a:rPr lang="en-US" sz="1900" b="true">
                <a:solidFill>
                  <a:srgbClr val="3B3535"/>
                </a:solidFill>
                <a:latin typeface="Arimo Bold"/>
                <a:ea typeface="Arimo Bold"/>
                <a:cs typeface="Arimo Bold"/>
                <a:sym typeface="Arimo Bold"/>
              </a:rPr>
              <a:t>DHT22, BMP280, PIR hareket sensörleri</a:t>
            </a:r>
            <a:r>
              <a:rPr lang="en-US" sz="1900">
                <a:solidFill>
                  <a:srgbClr val="3B3535"/>
                </a:solidFill>
                <a:latin typeface="Arimo"/>
                <a:ea typeface="Arimo"/>
                <a:cs typeface="Arimo"/>
                <a:sym typeface="Arimo"/>
              </a:rPr>
              <a:t>) ve bir </a:t>
            </a:r>
            <a:r>
              <a:rPr lang="en-US" sz="1900" b="true">
                <a:solidFill>
                  <a:srgbClr val="3B3535"/>
                </a:solidFill>
                <a:latin typeface="Arimo Bold"/>
                <a:ea typeface="Arimo Bold"/>
                <a:cs typeface="Arimo Bold"/>
                <a:sym typeface="Arimo Bold"/>
              </a:rPr>
              <a:t>Raspberry Pi</a:t>
            </a:r>
            <a:r>
              <a:rPr lang="en-US" sz="1900">
                <a:solidFill>
                  <a:srgbClr val="3B3535"/>
                </a:solidFill>
                <a:latin typeface="Arimo"/>
                <a:ea typeface="Arimo"/>
                <a:cs typeface="Arimo"/>
                <a:sym typeface="Arimo"/>
              </a:rPr>
              <a:t> mikrodenetleyicisi ile bağlanarak laboratuvar ortamından çıkarılıp fiziksel bir prototipe dönüştürülmesi planlanmaktadır.</a:t>
            </a:r>
          </a:p>
        </p:txBody>
      </p:sp>
      <p:grpSp>
        <p:nvGrpSpPr>
          <p:cNvPr name="Group 17" id="17"/>
          <p:cNvGrpSpPr/>
          <p:nvPr/>
        </p:nvGrpSpPr>
        <p:grpSpPr>
          <a:xfrm rot="0">
            <a:off x="9452820" y="7139140"/>
            <a:ext cx="7985817" cy="2103091"/>
            <a:chOff x="0" y="0"/>
            <a:chExt cx="10647756" cy="2804122"/>
          </a:xfrm>
        </p:grpSpPr>
        <p:sp>
          <p:nvSpPr>
            <p:cNvPr name="Freeform 18" id="18"/>
            <p:cNvSpPr/>
            <p:nvPr/>
          </p:nvSpPr>
          <p:spPr>
            <a:xfrm flipH="false" flipV="false" rot="0">
              <a:off x="0" y="0"/>
              <a:ext cx="10647680" cy="2804033"/>
            </a:xfrm>
            <a:custGeom>
              <a:avLst/>
              <a:gdLst/>
              <a:ahLst/>
              <a:cxnLst/>
              <a:rect r="r" b="b" t="t" l="l"/>
              <a:pathLst>
                <a:path h="2804033" w="10647680">
                  <a:moveTo>
                    <a:pt x="0" y="137414"/>
                  </a:moveTo>
                  <a:cubicBezTo>
                    <a:pt x="0" y="61595"/>
                    <a:pt x="61595" y="0"/>
                    <a:pt x="137414" y="0"/>
                  </a:cubicBezTo>
                  <a:lnTo>
                    <a:pt x="10510266" y="0"/>
                  </a:lnTo>
                  <a:cubicBezTo>
                    <a:pt x="10586212" y="0"/>
                    <a:pt x="10647680" y="61595"/>
                    <a:pt x="10647680" y="137414"/>
                  </a:cubicBezTo>
                  <a:lnTo>
                    <a:pt x="10647680" y="2666619"/>
                  </a:lnTo>
                  <a:cubicBezTo>
                    <a:pt x="10647680" y="2742565"/>
                    <a:pt x="10586085" y="2804033"/>
                    <a:pt x="10510266" y="2804033"/>
                  </a:cubicBezTo>
                  <a:lnTo>
                    <a:pt x="137414" y="2804033"/>
                  </a:lnTo>
                  <a:cubicBezTo>
                    <a:pt x="61595" y="2804160"/>
                    <a:pt x="0" y="2742565"/>
                    <a:pt x="0" y="2666619"/>
                  </a:cubicBezTo>
                  <a:close/>
                </a:path>
              </a:pathLst>
            </a:custGeom>
            <a:solidFill>
              <a:srgbClr val="B6FCB8"/>
            </a:solidFill>
          </p:spPr>
        </p:sp>
      </p:grpSp>
      <p:grpSp>
        <p:nvGrpSpPr>
          <p:cNvPr name="Group 19" id="19"/>
          <p:cNvGrpSpPr/>
          <p:nvPr/>
        </p:nvGrpSpPr>
        <p:grpSpPr>
          <a:xfrm rot="0">
            <a:off x="9698241" y="7497813"/>
            <a:ext cx="306734" cy="245421"/>
            <a:chOff x="0" y="0"/>
            <a:chExt cx="408978" cy="327228"/>
          </a:xfrm>
        </p:grpSpPr>
        <p:sp>
          <p:nvSpPr>
            <p:cNvPr name="Freeform 20" id="20" descr="preencoded.png"/>
            <p:cNvSpPr/>
            <p:nvPr/>
          </p:nvSpPr>
          <p:spPr>
            <a:xfrm flipH="false" flipV="false" rot="0">
              <a:off x="0" y="0"/>
              <a:ext cx="408940" cy="327279"/>
            </a:xfrm>
            <a:custGeom>
              <a:avLst/>
              <a:gdLst/>
              <a:ahLst/>
              <a:cxnLst/>
              <a:rect r="r" b="b" t="t" l="l"/>
              <a:pathLst>
                <a:path h="327279" w="408940">
                  <a:moveTo>
                    <a:pt x="0" y="0"/>
                  </a:moveTo>
                  <a:lnTo>
                    <a:pt x="408940" y="0"/>
                  </a:lnTo>
                  <a:lnTo>
                    <a:pt x="408940" y="327279"/>
                  </a:lnTo>
                  <a:lnTo>
                    <a:pt x="0" y="327279"/>
                  </a:lnTo>
                  <a:lnTo>
                    <a:pt x="0" y="0"/>
                  </a:lnTo>
                  <a:close/>
                </a:path>
              </a:pathLst>
            </a:custGeom>
            <a:blipFill>
              <a:blip r:embed="rId3"/>
              <a:stretch>
                <a:fillRect l="0" t="-776" r="-9" b="-756"/>
              </a:stretch>
            </a:blipFill>
          </p:spPr>
        </p:sp>
      </p:grpSp>
      <p:sp>
        <p:nvSpPr>
          <p:cNvPr name="TextBox 21" id="21"/>
          <p:cNvSpPr txBox="true"/>
          <p:nvPr/>
        </p:nvSpPr>
        <p:spPr>
          <a:xfrm rot="0">
            <a:off x="10250386" y="7356129"/>
            <a:ext cx="6942830" cy="1563291"/>
          </a:xfrm>
          <a:prstGeom prst="rect">
            <a:avLst/>
          </a:prstGeom>
        </p:spPr>
        <p:txBody>
          <a:bodyPr anchor="t" rtlCol="false" tIns="0" lIns="0" bIns="0" rIns="0">
            <a:spAutoFit/>
          </a:bodyPr>
          <a:lstStyle/>
          <a:p>
            <a:pPr algn="l">
              <a:lnSpc>
                <a:spcPts val="2895"/>
              </a:lnSpc>
            </a:pPr>
            <a:r>
              <a:rPr lang="en-US" sz="1900">
                <a:solidFill>
                  <a:srgbClr val="000000"/>
                </a:solidFill>
                <a:latin typeface="Arimo"/>
                <a:ea typeface="Arimo"/>
                <a:cs typeface="Arimo"/>
                <a:sym typeface="Arimo"/>
              </a:rPr>
              <a:t>Proje, enerji verimliliği ve insan konforu arasındaki dengeyi bulanık mantık ile başarıyla kurmaktadır. Gelecek çalışmalar bu sistemi gerçek dünyaya taşıyacaktır.</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47890" y="1212504"/>
            <a:ext cx="8041329" cy="909933"/>
          </a:xfrm>
          <a:prstGeom prst="rect">
            <a:avLst/>
          </a:prstGeom>
        </p:spPr>
        <p:txBody>
          <a:bodyPr anchor="t" rtlCol="false" tIns="0" lIns="0" bIns="0" rIns="0">
            <a:spAutoFit/>
          </a:bodyPr>
          <a:lstStyle/>
          <a:p>
            <a:pPr algn="l">
              <a:lnSpc>
                <a:spcPts val="6988"/>
              </a:lnSpc>
            </a:pPr>
            <a:r>
              <a:rPr lang="en-US" sz="5599" b="true">
                <a:solidFill>
                  <a:srgbClr val="1F1E1E"/>
                </a:solidFill>
                <a:latin typeface="Alexandria Bold"/>
                <a:ea typeface="Alexandria Bold"/>
                <a:cs typeface="Alexandria Bold"/>
                <a:sym typeface="Alexandria Bold"/>
              </a:rPr>
              <a:t>10. Kaynakça</a:t>
            </a:r>
          </a:p>
        </p:txBody>
      </p:sp>
      <p:sp>
        <p:nvSpPr>
          <p:cNvPr name="TextBox 7" id="7"/>
          <p:cNvSpPr txBox="true"/>
          <p:nvPr/>
        </p:nvSpPr>
        <p:spPr>
          <a:xfrm rot="0">
            <a:off x="947890" y="2578303"/>
            <a:ext cx="16392230" cy="6477000"/>
          </a:xfrm>
          <a:prstGeom prst="rect">
            <a:avLst/>
          </a:prstGeom>
        </p:spPr>
        <p:txBody>
          <a:bodyPr anchor="t" rtlCol="false" tIns="0" lIns="0" bIns="0" rIns="0">
            <a:spAutoFit/>
          </a:bodyPr>
          <a:lstStyle/>
          <a:p>
            <a:pPr algn="l" marL="506730" indent="-253365" lvl="1">
              <a:lnSpc>
                <a:spcPts val="3351"/>
              </a:lnSpc>
              <a:buAutoNum type="arabicPeriod" startAt="1"/>
            </a:pPr>
            <a:r>
              <a:rPr lang="en-US" sz="2100">
                <a:solidFill>
                  <a:srgbClr val="3B3535"/>
                </a:solidFill>
                <a:latin typeface="Arimo"/>
                <a:ea typeface="Arimo"/>
                <a:cs typeface="Arimo"/>
                <a:sym typeface="Arimo"/>
              </a:rPr>
              <a:t>Zadeh, L. A. (1965). Fuzzy sets. Information and Control, 8(3), 338–353.</a:t>
            </a:r>
          </a:p>
          <a:p>
            <a:pPr algn="l" marL="506730" indent="-253365" lvl="1">
              <a:lnSpc>
                <a:spcPts val="3351"/>
              </a:lnSpc>
              <a:buAutoNum type="arabicPeriod" startAt="1"/>
            </a:pPr>
            <a:r>
              <a:rPr lang="en-US" sz="2100">
                <a:solidFill>
                  <a:srgbClr val="3B3535"/>
                </a:solidFill>
                <a:latin typeface="Arimo"/>
                <a:ea typeface="Arimo"/>
                <a:cs typeface="Arimo"/>
                <a:sym typeface="Arimo"/>
              </a:rPr>
              <a:t>Mamdani, E. H., &amp; Assilian, S. (1975). An experiment in linguistic synthesis with a fuzzy logic controller. International Journal of Man-Machine Studies.</a:t>
            </a:r>
          </a:p>
          <a:p>
            <a:pPr algn="l" marL="506730" indent="-253365" lvl="1">
              <a:lnSpc>
                <a:spcPts val="3351"/>
              </a:lnSpc>
              <a:buAutoNum type="arabicPeriod" startAt="1"/>
            </a:pPr>
            <a:r>
              <a:rPr lang="en-US" sz="2100">
                <a:solidFill>
                  <a:srgbClr val="3B3535"/>
                </a:solidFill>
                <a:latin typeface="Arimo"/>
                <a:ea typeface="Arimo"/>
                <a:cs typeface="Arimo"/>
                <a:sym typeface="Arimo"/>
              </a:rPr>
              <a:t>Ross, T. J. (2010). Fuzzy Logic with Engineering Applications (3rd ed.). Wiley.</a:t>
            </a:r>
          </a:p>
          <a:p>
            <a:pPr algn="l" marL="506730" indent="-253365" lvl="1">
              <a:lnSpc>
                <a:spcPts val="3351"/>
              </a:lnSpc>
              <a:buAutoNum type="arabicPeriod" startAt="1"/>
            </a:pPr>
            <a:r>
              <a:rPr lang="en-US" sz="2100">
                <a:solidFill>
                  <a:srgbClr val="3B3535"/>
                </a:solidFill>
                <a:latin typeface="Arimo"/>
                <a:ea typeface="Arimo"/>
                <a:cs typeface="Arimo"/>
                <a:sym typeface="Arimo"/>
              </a:rPr>
              <a:t>Klir, G. J., &amp; Yuan, B. (1995). Fuzzy Sets and Fuzzy Logic: Theory and Applications. Prentice Hall.</a:t>
            </a:r>
          </a:p>
          <a:p>
            <a:pPr algn="l" marL="506730" indent="-253365" lvl="1">
              <a:lnSpc>
                <a:spcPts val="3351"/>
              </a:lnSpc>
              <a:buAutoNum type="arabicPeriod" startAt="1"/>
            </a:pPr>
            <a:r>
              <a:rPr lang="en-US" sz="2100">
                <a:solidFill>
                  <a:srgbClr val="3B3535"/>
                </a:solidFill>
                <a:latin typeface="Arimo"/>
                <a:ea typeface="Arimo"/>
                <a:cs typeface="Arimo"/>
                <a:sym typeface="Arimo"/>
              </a:rPr>
              <a:t>Warner, J., et al. (2024). scikit-fuzzy documentation.</a:t>
            </a:r>
          </a:p>
          <a:p>
            <a:pPr algn="l" marL="506730" indent="-253365" lvl="1">
              <a:lnSpc>
                <a:spcPts val="3351"/>
              </a:lnSpc>
              <a:buAutoNum type="arabicPeriod" startAt="1"/>
            </a:pPr>
            <a:r>
              <a:rPr lang="en-US" sz="2100">
                <a:solidFill>
                  <a:srgbClr val="3B3535"/>
                </a:solidFill>
                <a:latin typeface="Arimo"/>
                <a:ea typeface="Arimo"/>
                <a:cs typeface="Arimo"/>
                <a:sym typeface="Arimo"/>
              </a:rPr>
              <a:t>Streamlit Inc. (2025). Streamlit Documentation.</a:t>
            </a:r>
          </a:p>
          <a:p>
            <a:pPr algn="l" marL="506730" indent="-253365" lvl="1">
              <a:lnSpc>
                <a:spcPts val="3351"/>
              </a:lnSpc>
              <a:buAutoNum type="arabicPeriod" startAt="1"/>
            </a:pPr>
            <a:r>
              <a:rPr lang="en-US" sz="2100">
                <a:solidFill>
                  <a:srgbClr val="3B3535"/>
                </a:solidFill>
                <a:latin typeface="Arimo"/>
                <a:ea typeface="Arimo"/>
                <a:cs typeface="Arimo"/>
                <a:sym typeface="Arimo"/>
              </a:rPr>
              <a:t>Soyguder, S., &amp; Alli, H. (2009). An expert system for the humidity and temperature control in HVAC systems using ANFIS. Energy and Buildings.</a:t>
            </a:r>
          </a:p>
          <a:p>
            <a:pPr algn="l" marL="506730" indent="-253365" lvl="1">
              <a:lnSpc>
                <a:spcPts val="3351"/>
              </a:lnSpc>
              <a:buAutoNum type="arabicPeriod" startAt="1"/>
            </a:pPr>
            <a:r>
              <a:rPr lang="en-US" sz="2100">
                <a:solidFill>
                  <a:srgbClr val="3B3535"/>
                </a:solidFill>
                <a:latin typeface="Arimo"/>
                <a:ea typeface="Arimo"/>
                <a:cs typeface="Arimo"/>
                <a:sym typeface="Arimo"/>
              </a:rPr>
              <a:t>Kolokotsa, D. (2003). Comparison of the performance of fuzzy controllers for the management of the indoor environment. Building and Environment.</a:t>
            </a:r>
          </a:p>
          <a:p>
            <a:pPr algn="l" marL="506730" indent="-253365" lvl="1">
              <a:lnSpc>
                <a:spcPts val="3351"/>
              </a:lnSpc>
              <a:buAutoNum type="arabicPeriod" startAt="1"/>
            </a:pPr>
            <a:r>
              <a:rPr lang="en-US" sz="2100">
                <a:solidFill>
                  <a:srgbClr val="3B3535"/>
                </a:solidFill>
                <a:latin typeface="Arimo"/>
                <a:ea typeface="Arimo"/>
                <a:cs typeface="Arimo"/>
                <a:sym typeface="Arimo"/>
              </a:rPr>
              <a:t>Jang, J.-S. R. (1993). ANFIS: Adaptive-Network-Based Fuzzy Inference System. IEEE Trans. on Systems, Man, and Cybernetics.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DAHJ2FrGoNg</dc:identifier>
  <dcterms:modified xsi:type="dcterms:W3CDTF">2011-08-01T06:04:30Z</dcterms:modified>
  <cp:revision>1</cp:revision>
  <dc:title>Akilli-Ev-HVAC-Sistemi.pptx</dc:title>
</cp:coreProperties>
</file>